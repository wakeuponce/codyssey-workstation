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제4장은 3장에서 배운 천간과 지지를 짝지어 쓰는 방법입니다. 천간과 지지가 만나면 육십갑자가 되고, 천간이 지지에 뿌리를 내리는 통근, 천간의 에너지가 지지를 따라 오르내리는 12운성이 생깁니다. 분량은 짧지만 5장 공식 풀이의 직접적인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꼭지로 진행합니다.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꼭지, 육십갑자입니다.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천간 10개와 지지 12개를 차례로 짝지으면, 양간은 양지와만, 음간은 음지와만 만나게 되어 120개가 아닌 60개가 나옵니다. 책이 강조하는 점은 육십갑자가 단순한 달력 번호가 아니라는 것입니다. 서양식 날짜는 시간 정보만 있지만, 육십갑자는 그 순간 하늘과 땅의 기운이라는 공간 정보까지 담고 있다고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60개의 간지를 10개씩 6줄로 배열했습니다. 색은 천간의 오행입니다. 첫 줄 甲子에서 시작해 마지막 癸亥에서 끝나고, 다시 甲子로 돌아갑니다. 각 줄의 첫 글자가 甲子·甲戌·甲申·甲午·甲辰·甲寅인 것을 보면, 천간이 한 바퀴 돌 때 지지는 두 칸씩 밀린다는 것을 알 수 있습니다. 자신의 생년 간지를 찾아보는 것으로 시작하면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꼭지, 통근입니다.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통근은 천간이 지지와 통해서, 나무가 뿌리를 내리듯 지지에 뿌리를 두는 것입니다. 뿌리를 내린 천간은 제 성질을 발휘하고, 뿌리가 없으면 부평초처럼 떠돌며 힘을 쓰지 못합니다. 그래서 나에게 필요한 천간은 통근하는 편이 좋고, 불필요한 천간은 통근하지 않는 편이 낫습니다. 뿌리의 강도는 세 단계입니다. 같은 오행이면 강, 나를 생하는 오행이면 중강, 지장간에 같은 오행을 품고 있으면 미약입니다. 3장의 지장간 표가 여기서 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쌍의 천간별로 통근하는 지지를 정리했습니다. 甲木을 예로 들면, 寅·卯에 강하게, 亥·子에 중간으로, 乙을 품은 辰·未에 미약하게 통근합니다. 반대로 甲木은 金의 지지 申·酉, 기운을 빼앗는 火의 지지 巳·午, 자기가 극하는 土의 지지(辰·未 제외)에는 통근하지 못합니다. 통근의 방향은 원칙적으로 같은 기둥의 천간과 지지 사이이지만, 일간만은 다른 기둥의 지지에도 뿌리를 내릴 수 있습니다. 특히 일간이 월지에 통근하면 성정이 매우 강하다고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꼭지, 12운성입니다.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12운성은 천간이 12지지를 차례로 만나면서 에너지의 크기가 12단계로 바뀌는 것입니다. 甲木을 예로 들면, 亥에서 태어나(장생) 子에서 목욕하고 丑에서 관대를 두르고, 寅에서 녹을 받고(건록), 卯에서 절정(제왕)에 이릅니다. 그 뒤 辰에서 쇠하고 巳에서 병들고 午에서 죽고 未에서 무덤에 들어가며, 申에서 끊어졌다가(절) 酉에서 다시 잉태되고(태) 戌에서 자랍니다(양). 막대 높이는 이해를 돕기 위해 에너지의 오르내림을 대략 그린 것입니다. 양간은 순행, 음간은 역행합니다. 乙은 午에서 장생하는데, 책은 12운성이 자연계의 기운이므로 상생상극을 대입해서는 안 된다고 설명합니다. 戊·己는 丙·丁을 따릅니다. 절(絶)은 끝과 시작이 함께 있는 자리로, "0과 1이 맞닿아 있는 것"에 비유합니다.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꼭지, 12운성으로 보는 성품입니다.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12운성별 성품의 앞 여섯 단계입니다. 장생부터 제왕까지는 기운이 오르는 시기라 적극적이고 자존심이 강한 성품이, 쇠부터는 차분하고 소극적인 성품이 나타납니다. 목욕은 일명 패(敗)라고도 하며, 사춘기처럼 불안정한 기질로 봅니다. 생일의 천간과 지지를 12운성 표에 대입해 보면 자신의 성품을 짐작해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뒤의 여섯 단계입니다. 병·사·묘는 소멸의 단계, 절·태·양은 다시 태어나는 단계입니다. 절은 끝과 시작이 맞닿은 자리라 격정과 소심함이 함께 나타난다고 봅니다. 12운성의 성품은 참고 사항일 뿐, 5장에서 여덟 글자 전체의 균형을 봐야 제대로 된 판단이 된다는 점을 기억해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책의 마지막 부록은 60갑자 각각의 성격을 풀어 놓은 부분입니다. 원리는 1장 개요의 오색물감 비유와 같습니다. 생일의 간지가 그 사람의 인격과 운명의 바탕이 된다는 것입니다. 이번 자료를 만들 때 쓴 PDF 텍스트 추출본은 부록의 첫 항목 甲子 중간에서 끊겨 있어서, 나머지 항목은 원본 책으로 직접 확인해야 합니다. 각자 자신의 생일 간지 항목을 읽어 오는 것을 과제로 내면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다섯 줄입니다. 다음 장에서 드디어 의명학 공식을 직접 세워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토론 질문입니다. 네 번째 질문은 다음 시간 전에 과제로 내도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6583680" y="182880"/>
            <a:ext cx="5486400" cy="6400800"/>
          </a:xfrm>
          <a:prstGeom prst="rect">
            <a:avLst/>
          </a:prstGeom>
          <a:noFill/>
          <a:ln/>
        </p:spPr>
        <p:txBody>
          <a:bodyPr wrap="square" lIns="0" tIns="0" rIns="0" bIns="0" rtlCol="0" anchor="ctr"/>
          <a:lstStyle/>
          <a:p>
            <a:pPr algn="ctr" indent="0" marL="0">
              <a:buNone/>
            </a:pPr>
            <a:r>
              <a:rPr lang="en-US" sz="38000" b="1" dirty="0">
                <a:solidFill>
                  <a:srgbClr val="2B2933"/>
                </a:solidFill>
                <a:latin typeface="Malgun Gothic" pitchFamily="34" charset="0"/>
                <a:ea typeface="Malgun Gothic" pitchFamily="34" charset="-122"/>
                <a:cs typeface="Malgun Gothic" pitchFamily="34" charset="-120"/>
              </a:rPr>
              <a:t>甲</a:t>
            </a:r>
            <a:endParaRPr lang="en-US" sz="38000" dirty="0"/>
          </a:p>
        </p:txBody>
      </p:sp>
      <p:sp>
        <p:nvSpPr>
          <p:cNvPr id="3" name="Shape 1"/>
          <p:cNvSpPr/>
          <p:nvPr/>
        </p:nvSpPr>
        <p:spPr>
          <a:xfrm>
            <a:off x="548640" y="1280160"/>
            <a:ext cx="1005840" cy="1005840"/>
          </a:xfrm>
          <a:prstGeom prst="ellipse">
            <a:avLst/>
          </a:prstGeom>
          <a:solidFill>
            <a:srgbClr val="B23A2E"/>
          </a:solidFill>
          <a:ln w="12700">
            <a:solidFill>
              <a:srgbClr val="B23A2E"/>
            </a:solidFill>
            <a:prstDash val="solid"/>
          </a:ln>
        </p:spPr>
      </p:sp>
      <p:sp>
        <p:nvSpPr>
          <p:cNvPr id="4" name="Text 2"/>
          <p:cNvSpPr txBox="1"/>
          <p:nvPr/>
        </p:nvSpPr>
        <p:spPr>
          <a:xfrm>
            <a:off x="548640" y="1280160"/>
            <a:ext cx="100584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제4장</a:t>
            </a:r>
            <a:endParaRPr lang="en-US" sz="1800" dirty="0"/>
          </a:p>
        </p:txBody>
      </p:sp>
      <p:sp>
        <p:nvSpPr>
          <p:cNvPr id="5" name="Text 3"/>
          <p:cNvSpPr txBox="1"/>
          <p:nvPr/>
        </p:nvSpPr>
        <p:spPr>
          <a:xfrm>
            <a:off x="548640" y="2560320"/>
            <a:ext cx="7772400" cy="1188720"/>
          </a:xfrm>
          <a:prstGeom prst="rect">
            <a:avLst/>
          </a:prstGeom>
          <a:noFill/>
          <a:ln/>
        </p:spPr>
        <p:txBody>
          <a:bodyPr wrap="square" lIns="0" tIns="0" rIns="0" bIns="0" rtlCol="0" anchor="ctr"/>
          <a:lstStyle/>
          <a:p>
            <a:pPr indent="0" marL="0">
              <a:buNone/>
            </a:pPr>
            <a:r>
              <a:rPr lang="en-US" sz="4800" b="1" dirty="0">
                <a:solidFill>
                  <a:srgbClr val="F4F1EA"/>
                </a:solidFill>
                <a:latin typeface="Malgun Gothic" pitchFamily="34" charset="0"/>
                <a:ea typeface="Malgun Gothic" pitchFamily="34" charset="-122"/>
                <a:cs typeface="Malgun Gothic" pitchFamily="34" charset="-120"/>
              </a:rPr>
              <a:t>천간과 지지의 결합</a:t>
            </a:r>
            <a:endParaRPr lang="en-US" sz="4800" dirty="0"/>
          </a:p>
        </p:txBody>
      </p:sp>
      <p:sp>
        <p:nvSpPr>
          <p:cNvPr id="6" name="Text 4"/>
          <p:cNvSpPr txBox="1"/>
          <p:nvPr/>
        </p:nvSpPr>
        <p:spPr>
          <a:xfrm>
            <a:off x="548640" y="3749040"/>
            <a:ext cx="7772400" cy="548640"/>
          </a:xfrm>
          <a:prstGeom prst="rect">
            <a:avLst/>
          </a:prstGeom>
          <a:noFill/>
          <a:ln/>
        </p:spPr>
        <p:txBody>
          <a:bodyPr wrap="square" lIns="0" tIns="0" rIns="0" bIns="0" rtlCol="0" anchor="ctr"/>
          <a:lstStyle/>
          <a:p>
            <a:pPr indent="0" marL="0">
              <a:buNone/>
            </a:pPr>
            <a:r>
              <a:rPr lang="en-US" sz="2200" dirty="0">
                <a:solidFill>
                  <a:srgbClr val="A9A4B5"/>
                </a:solidFill>
                <a:latin typeface="Malgun Gothic" pitchFamily="34" charset="0"/>
                <a:ea typeface="Malgun Gothic" pitchFamily="34" charset="-122"/>
                <a:cs typeface="Malgun Gothic" pitchFamily="34" charset="-120"/>
              </a:rPr>
              <a:t>天干과 地支의 結合</a:t>
            </a:r>
            <a:endParaRPr lang="en-US" sz="2200" dirty="0"/>
          </a:p>
        </p:txBody>
      </p:sp>
      <p:sp>
        <p:nvSpPr>
          <p:cNvPr id="7" name="Text 5"/>
          <p:cNvSpPr txBox="1"/>
          <p:nvPr/>
        </p:nvSpPr>
        <p:spPr>
          <a:xfrm>
            <a:off x="548640" y="4846320"/>
            <a:ext cx="7315200" cy="731520"/>
          </a:xfrm>
          <a:prstGeom prst="rect">
            <a:avLst/>
          </a:prstGeom>
          <a:noFill/>
          <a:ln/>
        </p:spPr>
        <p:txBody>
          <a:bodyPr wrap="square" lIns="0" tIns="0" rIns="0" bIns="0" rtlCol="0" anchor="ctr"/>
          <a:lstStyle/>
          <a:p>
            <a:pPr indent="0" marL="0">
              <a:buNone/>
            </a:pPr>
            <a:r>
              <a:rPr lang="en-US" sz="1400" dirty="0">
                <a:solidFill>
                  <a:srgbClr val="A9A4B5"/>
                </a:solidFill>
                <a:latin typeface="Malgun Gothic" pitchFamily="34" charset="0"/>
                <a:ea typeface="Malgun Gothic" pitchFamily="34" charset="-122"/>
                <a:cs typeface="Malgun Gothic" pitchFamily="34" charset="-120"/>
              </a:rPr>
              <a:t>의명보감 1 기초편 스터디 · 육십갑자 · 통근 · 12운성</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목차</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오늘 공부할 내용</a:t>
            </a:r>
            <a:endParaRPr lang="en-US" sz="3000" dirty="0"/>
          </a:p>
        </p:txBody>
      </p:sp>
      <p:sp>
        <p:nvSpPr>
          <p:cNvPr id="4" name="Shape 2"/>
          <p:cNvSpPr/>
          <p:nvPr/>
        </p:nvSpPr>
        <p:spPr>
          <a:xfrm>
            <a:off x="548640" y="1673352"/>
            <a:ext cx="502920" cy="502920"/>
          </a:xfrm>
          <a:prstGeom prst="ellipse">
            <a:avLst/>
          </a:prstGeom>
          <a:solidFill>
            <a:srgbClr val="B23A2E"/>
          </a:solidFill>
          <a:ln w="12700">
            <a:solidFill>
              <a:srgbClr val="B23A2E"/>
            </a:solidFill>
            <a:prstDash val="solid"/>
          </a:ln>
        </p:spPr>
      </p:sp>
      <p:sp>
        <p:nvSpPr>
          <p:cNvPr id="5" name="Text 3"/>
          <p:cNvSpPr txBox="1"/>
          <p:nvPr/>
        </p:nvSpPr>
        <p:spPr>
          <a:xfrm>
            <a:off x="548640" y="16733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6" name="Text 4"/>
          <p:cNvSpPr txBox="1"/>
          <p:nvPr/>
        </p:nvSpPr>
        <p:spPr>
          <a:xfrm>
            <a:off x="1234440" y="1600200"/>
            <a:ext cx="10362895"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육십갑자(六十甲子)</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천간 10 × 지지 12, 짝을 지으면 60</a:t>
            </a:r>
            <a:endParaRPr lang="en-US" sz="1700" dirty="0"/>
          </a:p>
        </p:txBody>
      </p:sp>
      <p:sp>
        <p:nvSpPr>
          <p:cNvPr id="7" name="Shape 5"/>
          <p:cNvSpPr/>
          <p:nvPr/>
        </p:nvSpPr>
        <p:spPr>
          <a:xfrm>
            <a:off x="548640" y="2542032"/>
            <a:ext cx="502920" cy="502920"/>
          </a:xfrm>
          <a:prstGeom prst="ellipse">
            <a:avLst/>
          </a:prstGeom>
          <a:solidFill>
            <a:srgbClr val="B23A2E"/>
          </a:solidFill>
          <a:ln w="12700">
            <a:solidFill>
              <a:srgbClr val="B23A2E"/>
            </a:solidFill>
            <a:prstDash val="solid"/>
          </a:ln>
        </p:spPr>
      </p:sp>
      <p:sp>
        <p:nvSpPr>
          <p:cNvPr id="8" name="Text 6"/>
          <p:cNvSpPr txBox="1"/>
          <p:nvPr/>
        </p:nvSpPr>
        <p:spPr>
          <a:xfrm>
            <a:off x="548640" y="25420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9" name="Text 7"/>
          <p:cNvSpPr txBox="1"/>
          <p:nvPr/>
        </p:nvSpPr>
        <p:spPr>
          <a:xfrm>
            <a:off x="1234440" y="2468880"/>
            <a:ext cx="10362895"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통근(通根)</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천간이 지지에 뿌리를 내리다</a:t>
            </a:r>
            <a:endParaRPr lang="en-US" sz="1700" dirty="0"/>
          </a:p>
        </p:txBody>
      </p:sp>
      <p:sp>
        <p:nvSpPr>
          <p:cNvPr id="10" name="Shape 8"/>
          <p:cNvSpPr/>
          <p:nvPr/>
        </p:nvSpPr>
        <p:spPr>
          <a:xfrm>
            <a:off x="548640" y="3410712"/>
            <a:ext cx="502920" cy="502920"/>
          </a:xfrm>
          <a:prstGeom prst="ellipse">
            <a:avLst/>
          </a:prstGeom>
          <a:solidFill>
            <a:srgbClr val="B23A2E"/>
          </a:solidFill>
          <a:ln w="12700">
            <a:solidFill>
              <a:srgbClr val="B23A2E"/>
            </a:solidFill>
            <a:prstDash val="solid"/>
          </a:ln>
        </p:spPr>
      </p:sp>
      <p:sp>
        <p:nvSpPr>
          <p:cNvPr id="11" name="Text 9"/>
          <p:cNvSpPr txBox="1"/>
          <p:nvPr/>
        </p:nvSpPr>
        <p:spPr>
          <a:xfrm>
            <a:off x="548640" y="34107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12" name="Text 10"/>
          <p:cNvSpPr txBox="1"/>
          <p:nvPr/>
        </p:nvSpPr>
        <p:spPr>
          <a:xfrm>
            <a:off x="1234440" y="3337560"/>
            <a:ext cx="10362895"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12운성(十二運星)</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천간 에너지의 12단계 곡선</a:t>
            </a:r>
            <a:endParaRPr lang="en-US" sz="1700" dirty="0"/>
          </a:p>
        </p:txBody>
      </p:sp>
      <p:sp>
        <p:nvSpPr>
          <p:cNvPr id="13" name="Shape 11"/>
          <p:cNvSpPr/>
          <p:nvPr/>
        </p:nvSpPr>
        <p:spPr>
          <a:xfrm>
            <a:off x="548640" y="4279392"/>
            <a:ext cx="502920" cy="502920"/>
          </a:xfrm>
          <a:prstGeom prst="ellipse">
            <a:avLst/>
          </a:prstGeom>
          <a:solidFill>
            <a:srgbClr val="B23A2E"/>
          </a:solidFill>
          <a:ln w="12700">
            <a:solidFill>
              <a:srgbClr val="B23A2E"/>
            </a:solidFill>
            <a:prstDash val="solid"/>
          </a:ln>
        </p:spPr>
      </p:sp>
      <p:sp>
        <p:nvSpPr>
          <p:cNvPr id="14" name="Text 12"/>
          <p:cNvSpPr txBox="1"/>
          <p:nvPr/>
        </p:nvSpPr>
        <p:spPr>
          <a:xfrm>
            <a:off x="548640" y="42793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15" name="Text 13"/>
          <p:cNvSpPr txBox="1"/>
          <p:nvPr/>
        </p:nvSpPr>
        <p:spPr>
          <a:xfrm>
            <a:off x="1234440" y="4206240"/>
            <a:ext cx="10362895"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12운성과 인간의 성품</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생일 간지로 보는 기질</a:t>
            </a:r>
            <a:endParaRPr lang="en-US" sz="1700" dirty="0"/>
          </a:p>
        </p:txBody>
      </p:sp>
      <p:sp>
        <p:nvSpPr>
          <p:cNvPr id="16" name="Text 14"/>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17" name="Text 1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01</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육십갑자</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천간과 지지의 결합</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01 육십갑자</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육십갑자는 어떻게 만들어지나</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만드는 법</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천간 10개와 지지 12개를 양은 양끼리, 음은 음끼리 순서대로 짝짓는다. 甲子 → 乙丑 → 丙寅 … → 癸亥, 모두 60개.</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환갑(還甲)</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한 바퀴를 돌아 태어난 해의 간지를 다시 만나는 해. 만 60세.</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시간 + 공간의 기록</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"2000년 1월 1일 1시"는 시간만 담지만, "甲子년 甲子월 甲子일 甲子시"는 그때의 천지 기운까지 담는다.</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예: 甲子일생</a:t>
            </a:r>
            <a:endParaRPr lang="en-US" sz="1900" dirty="0"/>
          </a:p>
          <a:p>
            <a:pPr indent="0" marL="0">
              <a:lnSpc>
                <a:spcPct val="115000"/>
              </a:lnSpc>
              <a:buNone/>
            </a:pPr>
            <a:r>
              <a:rPr lang="en-US" sz="1700" dirty="0">
                <a:solidFill>
                  <a:srgbClr val="6B6778"/>
                </a:solidFill>
                <a:latin typeface="Malgun Gothic" pitchFamily="34" charset="0"/>
                <a:ea typeface="Malgun Gothic" pitchFamily="34" charset="-122"/>
                <a:cs typeface="Malgun Gothic" pitchFamily="34" charset="-120"/>
              </a:rPr>
              <a:t>껍질을 터뜨리는 甲과 양기를 잉태한 子가 만난 날에 태어난 사람은 甲子의 기운 아래 놓인다.</a:t>
            </a:r>
            <a:endParaRPr lang="en-US" sz="19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3F7D4E"/>
          </a:solidFill>
          <a:ln w="12700">
            <a:solidFill>
              <a:srgbClr val="3F7D4E"/>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4800" b="1" dirty="0">
                <a:solidFill>
                  <a:srgbClr val="FFFFFF"/>
                </a:solidFill>
                <a:latin typeface="Malgun Gothic" pitchFamily="34" charset="0"/>
                <a:ea typeface="Malgun Gothic" pitchFamily="34" charset="-122"/>
                <a:cs typeface="Malgun Gothic" pitchFamily="34" charset="-120"/>
              </a:rPr>
              <a:t>甲子</a:t>
            </a:r>
            <a:endParaRPr lang="en-US" sz="48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천간 10 · 지지 12</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최소공배수 60</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01 육십갑자</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육십갑자표</a:t>
            </a:r>
            <a:endParaRPr lang="en-US" sz="3000" dirty="0"/>
          </a:p>
        </p:txBody>
      </p:sp>
      <p:sp>
        <p:nvSpPr>
          <p:cNvPr id="4" name="Shape 2"/>
          <p:cNvSpPr/>
          <p:nvPr/>
        </p:nvSpPr>
        <p:spPr>
          <a:xfrm>
            <a:off x="594360" y="1645920"/>
            <a:ext cx="1018002" cy="640080"/>
          </a:xfrm>
          <a:prstGeom prst="roundRect">
            <a:avLst>
              <a:gd name="adj" fmla="val 11429"/>
            </a:avLst>
          </a:prstGeom>
          <a:solidFill>
            <a:srgbClr val="3F7D4E"/>
          </a:solidFill>
          <a:ln w="12700">
            <a:solidFill>
              <a:srgbClr val="3F7D4E"/>
            </a:solidFill>
            <a:prstDash val="solid"/>
          </a:ln>
        </p:spPr>
      </p:sp>
      <p:sp>
        <p:nvSpPr>
          <p:cNvPr id="5" name="Text 3"/>
          <p:cNvSpPr txBox="1"/>
          <p:nvPr/>
        </p:nvSpPr>
        <p:spPr>
          <a:xfrm>
            <a:off x="594360" y="16459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甲子</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6" name="Shape 4"/>
          <p:cNvSpPr/>
          <p:nvPr/>
        </p:nvSpPr>
        <p:spPr>
          <a:xfrm>
            <a:off x="1703802" y="1645920"/>
            <a:ext cx="1018002" cy="640080"/>
          </a:xfrm>
          <a:prstGeom prst="roundRect">
            <a:avLst>
              <a:gd name="adj" fmla="val 11429"/>
            </a:avLst>
          </a:prstGeom>
          <a:solidFill>
            <a:srgbClr val="3F7D4E"/>
          </a:solidFill>
          <a:ln w="12700">
            <a:solidFill>
              <a:srgbClr val="3F7D4E"/>
            </a:solidFill>
            <a:prstDash val="solid"/>
          </a:ln>
        </p:spPr>
      </p:sp>
      <p:sp>
        <p:nvSpPr>
          <p:cNvPr id="7" name="Text 5"/>
          <p:cNvSpPr txBox="1"/>
          <p:nvPr/>
        </p:nvSpPr>
        <p:spPr>
          <a:xfrm>
            <a:off x="1703802" y="16459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乙丑</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8" name="Shape 6"/>
          <p:cNvSpPr/>
          <p:nvPr/>
        </p:nvSpPr>
        <p:spPr>
          <a:xfrm>
            <a:off x="2813243" y="1645920"/>
            <a:ext cx="1018002" cy="640080"/>
          </a:xfrm>
          <a:prstGeom prst="roundRect">
            <a:avLst>
              <a:gd name="adj" fmla="val 11429"/>
            </a:avLst>
          </a:prstGeom>
          <a:solidFill>
            <a:srgbClr val="C0392B"/>
          </a:solidFill>
          <a:ln w="12700">
            <a:solidFill>
              <a:srgbClr val="C0392B"/>
            </a:solidFill>
            <a:prstDash val="solid"/>
          </a:ln>
        </p:spPr>
      </p:sp>
      <p:sp>
        <p:nvSpPr>
          <p:cNvPr id="9" name="Text 7"/>
          <p:cNvSpPr txBox="1"/>
          <p:nvPr/>
        </p:nvSpPr>
        <p:spPr>
          <a:xfrm>
            <a:off x="2813243" y="16459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丙寅</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10" name="Shape 8"/>
          <p:cNvSpPr/>
          <p:nvPr/>
        </p:nvSpPr>
        <p:spPr>
          <a:xfrm>
            <a:off x="3922685" y="1645920"/>
            <a:ext cx="1018002" cy="640080"/>
          </a:xfrm>
          <a:prstGeom prst="roundRect">
            <a:avLst>
              <a:gd name="adj" fmla="val 11429"/>
            </a:avLst>
          </a:prstGeom>
          <a:solidFill>
            <a:srgbClr val="C0392B"/>
          </a:solidFill>
          <a:ln w="12700">
            <a:solidFill>
              <a:srgbClr val="C0392B"/>
            </a:solidFill>
            <a:prstDash val="solid"/>
          </a:ln>
        </p:spPr>
      </p:sp>
      <p:sp>
        <p:nvSpPr>
          <p:cNvPr id="11" name="Text 9"/>
          <p:cNvSpPr txBox="1"/>
          <p:nvPr/>
        </p:nvSpPr>
        <p:spPr>
          <a:xfrm>
            <a:off x="3922685" y="16459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丁卯</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4</a:t>
            </a:r>
            <a:endParaRPr lang="en-US" sz="1800" dirty="0"/>
          </a:p>
        </p:txBody>
      </p:sp>
      <p:sp>
        <p:nvSpPr>
          <p:cNvPr id="12" name="Shape 10"/>
          <p:cNvSpPr/>
          <p:nvPr/>
        </p:nvSpPr>
        <p:spPr>
          <a:xfrm>
            <a:off x="5032126" y="1645920"/>
            <a:ext cx="1018002" cy="640080"/>
          </a:xfrm>
          <a:prstGeom prst="roundRect">
            <a:avLst>
              <a:gd name="adj" fmla="val 11429"/>
            </a:avLst>
          </a:prstGeom>
          <a:solidFill>
            <a:srgbClr val="B8892A"/>
          </a:solidFill>
          <a:ln w="12700">
            <a:solidFill>
              <a:srgbClr val="B8892A"/>
            </a:solidFill>
            <a:prstDash val="solid"/>
          </a:ln>
        </p:spPr>
      </p:sp>
      <p:sp>
        <p:nvSpPr>
          <p:cNvPr id="13" name="Text 11"/>
          <p:cNvSpPr txBox="1"/>
          <p:nvPr/>
        </p:nvSpPr>
        <p:spPr>
          <a:xfrm>
            <a:off x="5032126" y="16459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戊辰</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5</a:t>
            </a:r>
            <a:endParaRPr lang="en-US" sz="1800" dirty="0"/>
          </a:p>
        </p:txBody>
      </p:sp>
      <p:sp>
        <p:nvSpPr>
          <p:cNvPr id="14" name="Shape 12"/>
          <p:cNvSpPr/>
          <p:nvPr/>
        </p:nvSpPr>
        <p:spPr>
          <a:xfrm>
            <a:off x="6141568" y="1645920"/>
            <a:ext cx="1018002" cy="640080"/>
          </a:xfrm>
          <a:prstGeom prst="roundRect">
            <a:avLst>
              <a:gd name="adj" fmla="val 11429"/>
            </a:avLst>
          </a:prstGeom>
          <a:solidFill>
            <a:srgbClr val="B8892A"/>
          </a:solidFill>
          <a:ln w="12700">
            <a:solidFill>
              <a:srgbClr val="B8892A"/>
            </a:solidFill>
            <a:prstDash val="solid"/>
          </a:ln>
        </p:spPr>
      </p:sp>
      <p:sp>
        <p:nvSpPr>
          <p:cNvPr id="15" name="Text 13"/>
          <p:cNvSpPr txBox="1"/>
          <p:nvPr/>
        </p:nvSpPr>
        <p:spPr>
          <a:xfrm>
            <a:off x="6141568" y="16459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己巳</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6</a:t>
            </a:r>
            <a:endParaRPr lang="en-US" sz="1800" dirty="0"/>
          </a:p>
        </p:txBody>
      </p:sp>
      <p:sp>
        <p:nvSpPr>
          <p:cNvPr id="16" name="Shape 14"/>
          <p:cNvSpPr/>
          <p:nvPr/>
        </p:nvSpPr>
        <p:spPr>
          <a:xfrm>
            <a:off x="7251009" y="1645920"/>
            <a:ext cx="1018002" cy="640080"/>
          </a:xfrm>
          <a:prstGeom prst="roundRect">
            <a:avLst>
              <a:gd name="adj" fmla="val 11429"/>
            </a:avLst>
          </a:prstGeom>
          <a:solidFill>
            <a:srgbClr val="6E737B"/>
          </a:solidFill>
          <a:ln w="12700">
            <a:solidFill>
              <a:srgbClr val="6E737B"/>
            </a:solidFill>
            <a:prstDash val="solid"/>
          </a:ln>
        </p:spPr>
      </p:sp>
      <p:sp>
        <p:nvSpPr>
          <p:cNvPr id="17" name="Text 15"/>
          <p:cNvSpPr txBox="1"/>
          <p:nvPr/>
        </p:nvSpPr>
        <p:spPr>
          <a:xfrm>
            <a:off x="7251009" y="16459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庚午</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7</a:t>
            </a:r>
            <a:endParaRPr lang="en-US" sz="1800" dirty="0"/>
          </a:p>
        </p:txBody>
      </p:sp>
      <p:sp>
        <p:nvSpPr>
          <p:cNvPr id="18" name="Shape 16"/>
          <p:cNvSpPr/>
          <p:nvPr/>
        </p:nvSpPr>
        <p:spPr>
          <a:xfrm>
            <a:off x="8360451" y="1645920"/>
            <a:ext cx="1018002" cy="640080"/>
          </a:xfrm>
          <a:prstGeom prst="roundRect">
            <a:avLst>
              <a:gd name="adj" fmla="val 11429"/>
            </a:avLst>
          </a:prstGeom>
          <a:solidFill>
            <a:srgbClr val="6E737B"/>
          </a:solidFill>
          <a:ln w="12700">
            <a:solidFill>
              <a:srgbClr val="6E737B"/>
            </a:solidFill>
            <a:prstDash val="solid"/>
          </a:ln>
        </p:spPr>
      </p:sp>
      <p:sp>
        <p:nvSpPr>
          <p:cNvPr id="19" name="Text 17"/>
          <p:cNvSpPr txBox="1"/>
          <p:nvPr/>
        </p:nvSpPr>
        <p:spPr>
          <a:xfrm>
            <a:off x="8360451" y="16459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辛未</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8</a:t>
            </a:r>
            <a:endParaRPr lang="en-US" sz="1800" dirty="0"/>
          </a:p>
        </p:txBody>
      </p:sp>
      <p:sp>
        <p:nvSpPr>
          <p:cNvPr id="20" name="Shape 18"/>
          <p:cNvSpPr/>
          <p:nvPr/>
        </p:nvSpPr>
        <p:spPr>
          <a:xfrm>
            <a:off x="9469892" y="1645920"/>
            <a:ext cx="1018002" cy="640080"/>
          </a:xfrm>
          <a:prstGeom prst="roundRect">
            <a:avLst>
              <a:gd name="adj" fmla="val 11429"/>
            </a:avLst>
          </a:prstGeom>
          <a:solidFill>
            <a:srgbClr val="22406E"/>
          </a:solidFill>
          <a:ln w="12700">
            <a:solidFill>
              <a:srgbClr val="22406E"/>
            </a:solidFill>
            <a:prstDash val="solid"/>
          </a:ln>
        </p:spPr>
      </p:sp>
      <p:sp>
        <p:nvSpPr>
          <p:cNvPr id="21" name="Text 19"/>
          <p:cNvSpPr txBox="1"/>
          <p:nvPr/>
        </p:nvSpPr>
        <p:spPr>
          <a:xfrm>
            <a:off x="9469892" y="16459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壬申</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9</a:t>
            </a:r>
            <a:endParaRPr lang="en-US" sz="1800" dirty="0"/>
          </a:p>
        </p:txBody>
      </p:sp>
      <p:sp>
        <p:nvSpPr>
          <p:cNvPr id="22" name="Shape 20"/>
          <p:cNvSpPr/>
          <p:nvPr/>
        </p:nvSpPr>
        <p:spPr>
          <a:xfrm>
            <a:off x="10579334" y="1645920"/>
            <a:ext cx="1018002" cy="640080"/>
          </a:xfrm>
          <a:prstGeom prst="roundRect">
            <a:avLst>
              <a:gd name="adj" fmla="val 11429"/>
            </a:avLst>
          </a:prstGeom>
          <a:solidFill>
            <a:srgbClr val="22406E"/>
          </a:solidFill>
          <a:ln w="12700">
            <a:solidFill>
              <a:srgbClr val="22406E"/>
            </a:solidFill>
            <a:prstDash val="solid"/>
          </a:ln>
        </p:spPr>
      </p:sp>
      <p:sp>
        <p:nvSpPr>
          <p:cNvPr id="23" name="Text 21"/>
          <p:cNvSpPr txBox="1"/>
          <p:nvPr/>
        </p:nvSpPr>
        <p:spPr>
          <a:xfrm>
            <a:off x="10579334" y="16459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癸酉</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10</a:t>
            </a:r>
            <a:endParaRPr lang="en-US" sz="1800" dirty="0"/>
          </a:p>
        </p:txBody>
      </p:sp>
      <p:sp>
        <p:nvSpPr>
          <p:cNvPr id="24" name="Shape 22"/>
          <p:cNvSpPr/>
          <p:nvPr/>
        </p:nvSpPr>
        <p:spPr>
          <a:xfrm>
            <a:off x="594360" y="2377440"/>
            <a:ext cx="1018002" cy="640080"/>
          </a:xfrm>
          <a:prstGeom prst="roundRect">
            <a:avLst>
              <a:gd name="adj" fmla="val 11429"/>
            </a:avLst>
          </a:prstGeom>
          <a:solidFill>
            <a:srgbClr val="3F7D4E"/>
          </a:solidFill>
          <a:ln w="12700">
            <a:solidFill>
              <a:srgbClr val="3F7D4E"/>
            </a:solidFill>
            <a:prstDash val="solid"/>
          </a:ln>
        </p:spPr>
      </p:sp>
      <p:sp>
        <p:nvSpPr>
          <p:cNvPr id="25" name="Text 23"/>
          <p:cNvSpPr txBox="1"/>
          <p:nvPr/>
        </p:nvSpPr>
        <p:spPr>
          <a:xfrm>
            <a:off x="594360" y="237744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甲戌</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11</a:t>
            </a:r>
            <a:endParaRPr lang="en-US" sz="1800" dirty="0"/>
          </a:p>
        </p:txBody>
      </p:sp>
      <p:sp>
        <p:nvSpPr>
          <p:cNvPr id="26" name="Shape 24"/>
          <p:cNvSpPr/>
          <p:nvPr/>
        </p:nvSpPr>
        <p:spPr>
          <a:xfrm>
            <a:off x="1703802" y="2377440"/>
            <a:ext cx="1018002" cy="640080"/>
          </a:xfrm>
          <a:prstGeom prst="roundRect">
            <a:avLst>
              <a:gd name="adj" fmla="val 11429"/>
            </a:avLst>
          </a:prstGeom>
          <a:solidFill>
            <a:srgbClr val="3F7D4E"/>
          </a:solidFill>
          <a:ln w="12700">
            <a:solidFill>
              <a:srgbClr val="3F7D4E"/>
            </a:solidFill>
            <a:prstDash val="solid"/>
          </a:ln>
        </p:spPr>
      </p:sp>
      <p:sp>
        <p:nvSpPr>
          <p:cNvPr id="27" name="Text 25"/>
          <p:cNvSpPr txBox="1"/>
          <p:nvPr/>
        </p:nvSpPr>
        <p:spPr>
          <a:xfrm>
            <a:off x="1703802" y="237744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乙亥</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12</a:t>
            </a:r>
            <a:endParaRPr lang="en-US" sz="1800" dirty="0"/>
          </a:p>
        </p:txBody>
      </p:sp>
      <p:sp>
        <p:nvSpPr>
          <p:cNvPr id="28" name="Shape 26"/>
          <p:cNvSpPr/>
          <p:nvPr/>
        </p:nvSpPr>
        <p:spPr>
          <a:xfrm>
            <a:off x="2813243" y="2377440"/>
            <a:ext cx="1018002" cy="640080"/>
          </a:xfrm>
          <a:prstGeom prst="roundRect">
            <a:avLst>
              <a:gd name="adj" fmla="val 11429"/>
            </a:avLst>
          </a:prstGeom>
          <a:solidFill>
            <a:srgbClr val="C0392B"/>
          </a:solidFill>
          <a:ln w="12700">
            <a:solidFill>
              <a:srgbClr val="C0392B"/>
            </a:solidFill>
            <a:prstDash val="solid"/>
          </a:ln>
        </p:spPr>
      </p:sp>
      <p:sp>
        <p:nvSpPr>
          <p:cNvPr id="29" name="Text 27"/>
          <p:cNvSpPr txBox="1"/>
          <p:nvPr/>
        </p:nvSpPr>
        <p:spPr>
          <a:xfrm>
            <a:off x="2813243" y="237744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丙子</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13</a:t>
            </a:r>
            <a:endParaRPr lang="en-US" sz="1800" dirty="0"/>
          </a:p>
        </p:txBody>
      </p:sp>
      <p:sp>
        <p:nvSpPr>
          <p:cNvPr id="30" name="Shape 28"/>
          <p:cNvSpPr/>
          <p:nvPr/>
        </p:nvSpPr>
        <p:spPr>
          <a:xfrm>
            <a:off x="3922685" y="2377440"/>
            <a:ext cx="1018002" cy="640080"/>
          </a:xfrm>
          <a:prstGeom prst="roundRect">
            <a:avLst>
              <a:gd name="adj" fmla="val 11429"/>
            </a:avLst>
          </a:prstGeom>
          <a:solidFill>
            <a:srgbClr val="C0392B"/>
          </a:solidFill>
          <a:ln w="12700">
            <a:solidFill>
              <a:srgbClr val="C0392B"/>
            </a:solidFill>
            <a:prstDash val="solid"/>
          </a:ln>
        </p:spPr>
      </p:sp>
      <p:sp>
        <p:nvSpPr>
          <p:cNvPr id="31" name="Text 29"/>
          <p:cNvSpPr txBox="1"/>
          <p:nvPr/>
        </p:nvSpPr>
        <p:spPr>
          <a:xfrm>
            <a:off x="3922685" y="237744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丁丑</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14</a:t>
            </a:r>
            <a:endParaRPr lang="en-US" sz="1800" dirty="0"/>
          </a:p>
        </p:txBody>
      </p:sp>
      <p:sp>
        <p:nvSpPr>
          <p:cNvPr id="32" name="Shape 30"/>
          <p:cNvSpPr/>
          <p:nvPr/>
        </p:nvSpPr>
        <p:spPr>
          <a:xfrm>
            <a:off x="5032126" y="2377440"/>
            <a:ext cx="1018002" cy="640080"/>
          </a:xfrm>
          <a:prstGeom prst="roundRect">
            <a:avLst>
              <a:gd name="adj" fmla="val 11429"/>
            </a:avLst>
          </a:prstGeom>
          <a:solidFill>
            <a:srgbClr val="B8892A"/>
          </a:solidFill>
          <a:ln w="12700">
            <a:solidFill>
              <a:srgbClr val="B8892A"/>
            </a:solidFill>
            <a:prstDash val="solid"/>
          </a:ln>
        </p:spPr>
      </p:sp>
      <p:sp>
        <p:nvSpPr>
          <p:cNvPr id="33" name="Text 31"/>
          <p:cNvSpPr txBox="1"/>
          <p:nvPr/>
        </p:nvSpPr>
        <p:spPr>
          <a:xfrm>
            <a:off x="5032126" y="237744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戊寅</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15</a:t>
            </a:r>
            <a:endParaRPr lang="en-US" sz="1800" dirty="0"/>
          </a:p>
        </p:txBody>
      </p:sp>
      <p:sp>
        <p:nvSpPr>
          <p:cNvPr id="34" name="Shape 32"/>
          <p:cNvSpPr/>
          <p:nvPr/>
        </p:nvSpPr>
        <p:spPr>
          <a:xfrm>
            <a:off x="6141568" y="2377440"/>
            <a:ext cx="1018002" cy="640080"/>
          </a:xfrm>
          <a:prstGeom prst="roundRect">
            <a:avLst>
              <a:gd name="adj" fmla="val 11429"/>
            </a:avLst>
          </a:prstGeom>
          <a:solidFill>
            <a:srgbClr val="B8892A"/>
          </a:solidFill>
          <a:ln w="12700">
            <a:solidFill>
              <a:srgbClr val="B8892A"/>
            </a:solidFill>
            <a:prstDash val="solid"/>
          </a:ln>
        </p:spPr>
      </p:sp>
      <p:sp>
        <p:nvSpPr>
          <p:cNvPr id="35" name="Text 33"/>
          <p:cNvSpPr txBox="1"/>
          <p:nvPr/>
        </p:nvSpPr>
        <p:spPr>
          <a:xfrm>
            <a:off x="6141568" y="237744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己卯</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16</a:t>
            </a:r>
            <a:endParaRPr lang="en-US" sz="1800" dirty="0"/>
          </a:p>
        </p:txBody>
      </p:sp>
      <p:sp>
        <p:nvSpPr>
          <p:cNvPr id="36" name="Shape 34"/>
          <p:cNvSpPr/>
          <p:nvPr/>
        </p:nvSpPr>
        <p:spPr>
          <a:xfrm>
            <a:off x="7251009" y="2377440"/>
            <a:ext cx="1018002" cy="640080"/>
          </a:xfrm>
          <a:prstGeom prst="roundRect">
            <a:avLst>
              <a:gd name="adj" fmla="val 11429"/>
            </a:avLst>
          </a:prstGeom>
          <a:solidFill>
            <a:srgbClr val="6E737B"/>
          </a:solidFill>
          <a:ln w="12700">
            <a:solidFill>
              <a:srgbClr val="6E737B"/>
            </a:solidFill>
            <a:prstDash val="solid"/>
          </a:ln>
        </p:spPr>
      </p:sp>
      <p:sp>
        <p:nvSpPr>
          <p:cNvPr id="37" name="Text 35"/>
          <p:cNvSpPr txBox="1"/>
          <p:nvPr/>
        </p:nvSpPr>
        <p:spPr>
          <a:xfrm>
            <a:off x="7251009" y="237744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庚辰</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17</a:t>
            </a:r>
            <a:endParaRPr lang="en-US" sz="1800" dirty="0"/>
          </a:p>
        </p:txBody>
      </p:sp>
      <p:sp>
        <p:nvSpPr>
          <p:cNvPr id="38" name="Shape 36"/>
          <p:cNvSpPr/>
          <p:nvPr/>
        </p:nvSpPr>
        <p:spPr>
          <a:xfrm>
            <a:off x="8360451" y="2377440"/>
            <a:ext cx="1018002" cy="640080"/>
          </a:xfrm>
          <a:prstGeom prst="roundRect">
            <a:avLst>
              <a:gd name="adj" fmla="val 11429"/>
            </a:avLst>
          </a:prstGeom>
          <a:solidFill>
            <a:srgbClr val="6E737B"/>
          </a:solidFill>
          <a:ln w="12700">
            <a:solidFill>
              <a:srgbClr val="6E737B"/>
            </a:solidFill>
            <a:prstDash val="solid"/>
          </a:ln>
        </p:spPr>
      </p:sp>
      <p:sp>
        <p:nvSpPr>
          <p:cNvPr id="39" name="Text 37"/>
          <p:cNvSpPr txBox="1"/>
          <p:nvPr/>
        </p:nvSpPr>
        <p:spPr>
          <a:xfrm>
            <a:off x="8360451" y="237744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辛巳</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18</a:t>
            </a:r>
            <a:endParaRPr lang="en-US" sz="1800" dirty="0"/>
          </a:p>
        </p:txBody>
      </p:sp>
      <p:sp>
        <p:nvSpPr>
          <p:cNvPr id="40" name="Shape 38"/>
          <p:cNvSpPr/>
          <p:nvPr/>
        </p:nvSpPr>
        <p:spPr>
          <a:xfrm>
            <a:off x="9469892" y="2377440"/>
            <a:ext cx="1018002" cy="640080"/>
          </a:xfrm>
          <a:prstGeom prst="roundRect">
            <a:avLst>
              <a:gd name="adj" fmla="val 11429"/>
            </a:avLst>
          </a:prstGeom>
          <a:solidFill>
            <a:srgbClr val="22406E"/>
          </a:solidFill>
          <a:ln w="12700">
            <a:solidFill>
              <a:srgbClr val="22406E"/>
            </a:solidFill>
            <a:prstDash val="solid"/>
          </a:ln>
        </p:spPr>
      </p:sp>
      <p:sp>
        <p:nvSpPr>
          <p:cNvPr id="41" name="Text 39"/>
          <p:cNvSpPr txBox="1"/>
          <p:nvPr/>
        </p:nvSpPr>
        <p:spPr>
          <a:xfrm>
            <a:off x="9469892" y="237744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壬午</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19</a:t>
            </a:r>
            <a:endParaRPr lang="en-US" sz="1800" dirty="0"/>
          </a:p>
        </p:txBody>
      </p:sp>
      <p:sp>
        <p:nvSpPr>
          <p:cNvPr id="42" name="Shape 40"/>
          <p:cNvSpPr/>
          <p:nvPr/>
        </p:nvSpPr>
        <p:spPr>
          <a:xfrm>
            <a:off x="10579334" y="2377440"/>
            <a:ext cx="1018002" cy="640080"/>
          </a:xfrm>
          <a:prstGeom prst="roundRect">
            <a:avLst>
              <a:gd name="adj" fmla="val 11429"/>
            </a:avLst>
          </a:prstGeom>
          <a:solidFill>
            <a:srgbClr val="22406E"/>
          </a:solidFill>
          <a:ln w="12700">
            <a:solidFill>
              <a:srgbClr val="22406E"/>
            </a:solidFill>
            <a:prstDash val="solid"/>
          </a:ln>
        </p:spPr>
      </p:sp>
      <p:sp>
        <p:nvSpPr>
          <p:cNvPr id="43" name="Text 41"/>
          <p:cNvSpPr txBox="1"/>
          <p:nvPr/>
        </p:nvSpPr>
        <p:spPr>
          <a:xfrm>
            <a:off x="10579334" y="237744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癸未</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20</a:t>
            </a:r>
            <a:endParaRPr lang="en-US" sz="1800" dirty="0"/>
          </a:p>
        </p:txBody>
      </p:sp>
      <p:sp>
        <p:nvSpPr>
          <p:cNvPr id="44" name="Shape 42"/>
          <p:cNvSpPr/>
          <p:nvPr/>
        </p:nvSpPr>
        <p:spPr>
          <a:xfrm>
            <a:off x="594360" y="3108960"/>
            <a:ext cx="1018002" cy="640080"/>
          </a:xfrm>
          <a:prstGeom prst="roundRect">
            <a:avLst>
              <a:gd name="adj" fmla="val 11429"/>
            </a:avLst>
          </a:prstGeom>
          <a:solidFill>
            <a:srgbClr val="3F7D4E"/>
          </a:solidFill>
          <a:ln w="12700">
            <a:solidFill>
              <a:srgbClr val="3F7D4E"/>
            </a:solidFill>
            <a:prstDash val="solid"/>
          </a:ln>
        </p:spPr>
      </p:sp>
      <p:sp>
        <p:nvSpPr>
          <p:cNvPr id="45" name="Text 43"/>
          <p:cNvSpPr txBox="1"/>
          <p:nvPr/>
        </p:nvSpPr>
        <p:spPr>
          <a:xfrm>
            <a:off x="594360" y="310896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甲申</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21</a:t>
            </a:r>
            <a:endParaRPr lang="en-US" sz="1800" dirty="0"/>
          </a:p>
        </p:txBody>
      </p:sp>
      <p:sp>
        <p:nvSpPr>
          <p:cNvPr id="46" name="Shape 44"/>
          <p:cNvSpPr/>
          <p:nvPr/>
        </p:nvSpPr>
        <p:spPr>
          <a:xfrm>
            <a:off x="1703802" y="3108960"/>
            <a:ext cx="1018002" cy="640080"/>
          </a:xfrm>
          <a:prstGeom prst="roundRect">
            <a:avLst>
              <a:gd name="adj" fmla="val 11429"/>
            </a:avLst>
          </a:prstGeom>
          <a:solidFill>
            <a:srgbClr val="3F7D4E"/>
          </a:solidFill>
          <a:ln w="12700">
            <a:solidFill>
              <a:srgbClr val="3F7D4E"/>
            </a:solidFill>
            <a:prstDash val="solid"/>
          </a:ln>
        </p:spPr>
      </p:sp>
      <p:sp>
        <p:nvSpPr>
          <p:cNvPr id="47" name="Text 45"/>
          <p:cNvSpPr txBox="1"/>
          <p:nvPr/>
        </p:nvSpPr>
        <p:spPr>
          <a:xfrm>
            <a:off x="1703802" y="310896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乙酉</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22</a:t>
            </a:r>
            <a:endParaRPr lang="en-US" sz="1800" dirty="0"/>
          </a:p>
        </p:txBody>
      </p:sp>
      <p:sp>
        <p:nvSpPr>
          <p:cNvPr id="48" name="Shape 46"/>
          <p:cNvSpPr/>
          <p:nvPr/>
        </p:nvSpPr>
        <p:spPr>
          <a:xfrm>
            <a:off x="2813243" y="3108960"/>
            <a:ext cx="1018002" cy="640080"/>
          </a:xfrm>
          <a:prstGeom prst="roundRect">
            <a:avLst>
              <a:gd name="adj" fmla="val 11429"/>
            </a:avLst>
          </a:prstGeom>
          <a:solidFill>
            <a:srgbClr val="C0392B"/>
          </a:solidFill>
          <a:ln w="12700">
            <a:solidFill>
              <a:srgbClr val="C0392B"/>
            </a:solidFill>
            <a:prstDash val="solid"/>
          </a:ln>
        </p:spPr>
      </p:sp>
      <p:sp>
        <p:nvSpPr>
          <p:cNvPr id="49" name="Text 47"/>
          <p:cNvSpPr txBox="1"/>
          <p:nvPr/>
        </p:nvSpPr>
        <p:spPr>
          <a:xfrm>
            <a:off x="2813243" y="310896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丙戌</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23</a:t>
            </a:r>
            <a:endParaRPr lang="en-US" sz="1800" dirty="0"/>
          </a:p>
        </p:txBody>
      </p:sp>
      <p:sp>
        <p:nvSpPr>
          <p:cNvPr id="50" name="Shape 48"/>
          <p:cNvSpPr/>
          <p:nvPr/>
        </p:nvSpPr>
        <p:spPr>
          <a:xfrm>
            <a:off x="3922685" y="3108960"/>
            <a:ext cx="1018002" cy="640080"/>
          </a:xfrm>
          <a:prstGeom prst="roundRect">
            <a:avLst>
              <a:gd name="adj" fmla="val 11429"/>
            </a:avLst>
          </a:prstGeom>
          <a:solidFill>
            <a:srgbClr val="C0392B"/>
          </a:solidFill>
          <a:ln w="12700">
            <a:solidFill>
              <a:srgbClr val="C0392B"/>
            </a:solidFill>
            <a:prstDash val="solid"/>
          </a:ln>
        </p:spPr>
      </p:sp>
      <p:sp>
        <p:nvSpPr>
          <p:cNvPr id="51" name="Text 49"/>
          <p:cNvSpPr txBox="1"/>
          <p:nvPr/>
        </p:nvSpPr>
        <p:spPr>
          <a:xfrm>
            <a:off x="3922685" y="310896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丁亥</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24</a:t>
            </a:r>
            <a:endParaRPr lang="en-US" sz="1800" dirty="0"/>
          </a:p>
        </p:txBody>
      </p:sp>
      <p:sp>
        <p:nvSpPr>
          <p:cNvPr id="52" name="Shape 50"/>
          <p:cNvSpPr/>
          <p:nvPr/>
        </p:nvSpPr>
        <p:spPr>
          <a:xfrm>
            <a:off x="5032126" y="3108960"/>
            <a:ext cx="1018002" cy="640080"/>
          </a:xfrm>
          <a:prstGeom prst="roundRect">
            <a:avLst>
              <a:gd name="adj" fmla="val 11429"/>
            </a:avLst>
          </a:prstGeom>
          <a:solidFill>
            <a:srgbClr val="B8892A"/>
          </a:solidFill>
          <a:ln w="12700">
            <a:solidFill>
              <a:srgbClr val="B8892A"/>
            </a:solidFill>
            <a:prstDash val="solid"/>
          </a:ln>
        </p:spPr>
      </p:sp>
      <p:sp>
        <p:nvSpPr>
          <p:cNvPr id="53" name="Text 51"/>
          <p:cNvSpPr txBox="1"/>
          <p:nvPr/>
        </p:nvSpPr>
        <p:spPr>
          <a:xfrm>
            <a:off x="5032126" y="310896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戊子</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25</a:t>
            </a:r>
            <a:endParaRPr lang="en-US" sz="1800" dirty="0"/>
          </a:p>
        </p:txBody>
      </p:sp>
      <p:sp>
        <p:nvSpPr>
          <p:cNvPr id="54" name="Shape 52"/>
          <p:cNvSpPr/>
          <p:nvPr/>
        </p:nvSpPr>
        <p:spPr>
          <a:xfrm>
            <a:off x="6141568" y="3108960"/>
            <a:ext cx="1018002" cy="640080"/>
          </a:xfrm>
          <a:prstGeom prst="roundRect">
            <a:avLst>
              <a:gd name="adj" fmla="val 11429"/>
            </a:avLst>
          </a:prstGeom>
          <a:solidFill>
            <a:srgbClr val="B8892A"/>
          </a:solidFill>
          <a:ln w="12700">
            <a:solidFill>
              <a:srgbClr val="B8892A"/>
            </a:solidFill>
            <a:prstDash val="solid"/>
          </a:ln>
        </p:spPr>
      </p:sp>
      <p:sp>
        <p:nvSpPr>
          <p:cNvPr id="55" name="Text 53"/>
          <p:cNvSpPr txBox="1"/>
          <p:nvPr/>
        </p:nvSpPr>
        <p:spPr>
          <a:xfrm>
            <a:off x="6141568" y="310896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己丑</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26</a:t>
            </a:r>
            <a:endParaRPr lang="en-US" sz="1800" dirty="0"/>
          </a:p>
        </p:txBody>
      </p:sp>
      <p:sp>
        <p:nvSpPr>
          <p:cNvPr id="56" name="Shape 54"/>
          <p:cNvSpPr/>
          <p:nvPr/>
        </p:nvSpPr>
        <p:spPr>
          <a:xfrm>
            <a:off x="7251009" y="3108960"/>
            <a:ext cx="1018002" cy="640080"/>
          </a:xfrm>
          <a:prstGeom prst="roundRect">
            <a:avLst>
              <a:gd name="adj" fmla="val 11429"/>
            </a:avLst>
          </a:prstGeom>
          <a:solidFill>
            <a:srgbClr val="6E737B"/>
          </a:solidFill>
          <a:ln w="12700">
            <a:solidFill>
              <a:srgbClr val="6E737B"/>
            </a:solidFill>
            <a:prstDash val="solid"/>
          </a:ln>
        </p:spPr>
      </p:sp>
      <p:sp>
        <p:nvSpPr>
          <p:cNvPr id="57" name="Text 55"/>
          <p:cNvSpPr txBox="1"/>
          <p:nvPr/>
        </p:nvSpPr>
        <p:spPr>
          <a:xfrm>
            <a:off x="7251009" y="310896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庚寅</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27</a:t>
            </a:r>
            <a:endParaRPr lang="en-US" sz="1800" dirty="0"/>
          </a:p>
        </p:txBody>
      </p:sp>
      <p:sp>
        <p:nvSpPr>
          <p:cNvPr id="58" name="Shape 56"/>
          <p:cNvSpPr/>
          <p:nvPr/>
        </p:nvSpPr>
        <p:spPr>
          <a:xfrm>
            <a:off x="8360451" y="3108960"/>
            <a:ext cx="1018002" cy="640080"/>
          </a:xfrm>
          <a:prstGeom prst="roundRect">
            <a:avLst>
              <a:gd name="adj" fmla="val 11429"/>
            </a:avLst>
          </a:prstGeom>
          <a:solidFill>
            <a:srgbClr val="6E737B"/>
          </a:solidFill>
          <a:ln w="12700">
            <a:solidFill>
              <a:srgbClr val="6E737B"/>
            </a:solidFill>
            <a:prstDash val="solid"/>
          </a:ln>
        </p:spPr>
      </p:sp>
      <p:sp>
        <p:nvSpPr>
          <p:cNvPr id="59" name="Text 57"/>
          <p:cNvSpPr txBox="1"/>
          <p:nvPr/>
        </p:nvSpPr>
        <p:spPr>
          <a:xfrm>
            <a:off x="8360451" y="310896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辛卯</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28</a:t>
            </a:r>
            <a:endParaRPr lang="en-US" sz="1800" dirty="0"/>
          </a:p>
        </p:txBody>
      </p:sp>
      <p:sp>
        <p:nvSpPr>
          <p:cNvPr id="60" name="Shape 58"/>
          <p:cNvSpPr/>
          <p:nvPr/>
        </p:nvSpPr>
        <p:spPr>
          <a:xfrm>
            <a:off x="9469892" y="3108960"/>
            <a:ext cx="1018002" cy="640080"/>
          </a:xfrm>
          <a:prstGeom prst="roundRect">
            <a:avLst>
              <a:gd name="adj" fmla="val 11429"/>
            </a:avLst>
          </a:prstGeom>
          <a:solidFill>
            <a:srgbClr val="22406E"/>
          </a:solidFill>
          <a:ln w="12700">
            <a:solidFill>
              <a:srgbClr val="22406E"/>
            </a:solidFill>
            <a:prstDash val="solid"/>
          </a:ln>
        </p:spPr>
      </p:sp>
      <p:sp>
        <p:nvSpPr>
          <p:cNvPr id="61" name="Text 59"/>
          <p:cNvSpPr txBox="1"/>
          <p:nvPr/>
        </p:nvSpPr>
        <p:spPr>
          <a:xfrm>
            <a:off x="9469892" y="310896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壬辰</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29</a:t>
            </a:r>
            <a:endParaRPr lang="en-US" sz="1800" dirty="0"/>
          </a:p>
        </p:txBody>
      </p:sp>
      <p:sp>
        <p:nvSpPr>
          <p:cNvPr id="62" name="Shape 60"/>
          <p:cNvSpPr/>
          <p:nvPr/>
        </p:nvSpPr>
        <p:spPr>
          <a:xfrm>
            <a:off x="10579334" y="3108960"/>
            <a:ext cx="1018002" cy="640080"/>
          </a:xfrm>
          <a:prstGeom prst="roundRect">
            <a:avLst>
              <a:gd name="adj" fmla="val 11429"/>
            </a:avLst>
          </a:prstGeom>
          <a:solidFill>
            <a:srgbClr val="22406E"/>
          </a:solidFill>
          <a:ln w="12700">
            <a:solidFill>
              <a:srgbClr val="22406E"/>
            </a:solidFill>
            <a:prstDash val="solid"/>
          </a:ln>
        </p:spPr>
      </p:sp>
      <p:sp>
        <p:nvSpPr>
          <p:cNvPr id="63" name="Text 61"/>
          <p:cNvSpPr txBox="1"/>
          <p:nvPr/>
        </p:nvSpPr>
        <p:spPr>
          <a:xfrm>
            <a:off x="10579334" y="310896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癸巳</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30</a:t>
            </a:r>
            <a:endParaRPr lang="en-US" sz="1800" dirty="0"/>
          </a:p>
        </p:txBody>
      </p:sp>
      <p:sp>
        <p:nvSpPr>
          <p:cNvPr id="64" name="Shape 62"/>
          <p:cNvSpPr/>
          <p:nvPr/>
        </p:nvSpPr>
        <p:spPr>
          <a:xfrm>
            <a:off x="594360" y="3840480"/>
            <a:ext cx="1018002" cy="640080"/>
          </a:xfrm>
          <a:prstGeom prst="roundRect">
            <a:avLst>
              <a:gd name="adj" fmla="val 11429"/>
            </a:avLst>
          </a:prstGeom>
          <a:solidFill>
            <a:srgbClr val="3F7D4E"/>
          </a:solidFill>
          <a:ln w="12700">
            <a:solidFill>
              <a:srgbClr val="3F7D4E"/>
            </a:solidFill>
            <a:prstDash val="solid"/>
          </a:ln>
        </p:spPr>
      </p:sp>
      <p:sp>
        <p:nvSpPr>
          <p:cNvPr id="65" name="Text 63"/>
          <p:cNvSpPr txBox="1"/>
          <p:nvPr/>
        </p:nvSpPr>
        <p:spPr>
          <a:xfrm>
            <a:off x="594360" y="384048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甲午</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31</a:t>
            </a:r>
            <a:endParaRPr lang="en-US" sz="1800" dirty="0"/>
          </a:p>
        </p:txBody>
      </p:sp>
      <p:sp>
        <p:nvSpPr>
          <p:cNvPr id="66" name="Shape 64"/>
          <p:cNvSpPr/>
          <p:nvPr/>
        </p:nvSpPr>
        <p:spPr>
          <a:xfrm>
            <a:off x="1703802" y="3840480"/>
            <a:ext cx="1018002" cy="640080"/>
          </a:xfrm>
          <a:prstGeom prst="roundRect">
            <a:avLst>
              <a:gd name="adj" fmla="val 11429"/>
            </a:avLst>
          </a:prstGeom>
          <a:solidFill>
            <a:srgbClr val="3F7D4E"/>
          </a:solidFill>
          <a:ln w="12700">
            <a:solidFill>
              <a:srgbClr val="3F7D4E"/>
            </a:solidFill>
            <a:prstDash val="solid"/>
          </a:ln>
        </p:spPr>
      </p:sp>
      <p:sp>
        <p:nvSpPr>
          <p:cNvPr id="67" name="Text 65"/>
          <p:cNvSpPr txBox="1"/>
          <p:nvPr/>
        </p:nvSpPr>
        <p:spPr>
          <a:xfrm>
            <a:off x="1703802" y="384048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乙未</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32</a:t>
            </a:r>
            <a:endParaRPr lang="en-US" sz="1800" dirty="0"/>
          </a:p>
        </p:txBody>
      </p:sp>
      <p:sp>
        <p:nvSpPr>
          <p:cNvPr id="68" name="Shape 66"/>
          <p:cNvSpPr/>
          <p:nvPr/>
        </p:nvSpPr>
        <p:spPr>
          <a:xfrm>
            <a:off x="2813243" y="3840480"/>
            <a:ext cx="1018002" cy="640080"/>
          </a:xfrm>
          <a:prstGeom prst="roundRect">
            <a:avLst>
              <a:gd name="adj" fmla="val 11429"/>
            </a:avLst>
          </a:prstGeom>
          <a:solidFill>
            <a:srgbClr val="C0392B"/>
          </a:solidFill>
          <a:ln w="12700">
            <a:solidFill>
              <a:srgbClr val="C0392B"/>
            </a:solidFill>
            <a:prstDash val="solid"/>
          </a:ln>
        </p:spPr>
      </p:sp>
      <p:sp>
        <p:nvSpPr>
          <p:cNvPr id="69" name="Text 67"/>
          <p:cNvSpPr txBox="1"/>
          <p:nvPr/>
        </p:nvSpPr>
        <p:spPr>
          <a:xfrm>
            <a:off x="2813243" y="384048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丙申</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33</a:t>
            </a:r>
            <a:endParaRPr lang="en-US" sz="1800" dirty="0"/>
          </a:p>
        </p:txBody>
      </p:sp>
      <p:sp>
        <p:nvSpPr>
          <p:cNvPr id="70" name="Shape 68"/>
          <p:cNvSpPr/>
          <p:nvPr/>
        </p:nvSpPr>
        <p:spPr>
          <a:xfrm>
            <a:off x="3922685" y="3840480"/>
            <a:ext cx="1018002" cy="640080"/>
          </a:xfrm>
          <a:prstGeom prst="roundRect">
            <a:avLst>
              <a:gd name="adj" fmla="val 11429"/>
            </a:avLst>
          </a:prstGeom>
          <a:solidFill>
            <a:srgbClr val="C0392B"/>
          </a:solidFill>
          <a:ln w="12700">
            <a:solidFill>
              <a:srgbClr val="C0392B"/>
            </a:solidFill>
            <a:prstDash val="solid"/>
          </a:ln>
        </p:spPr>
      </p:sp>
      <p:sp>
        <p:nvSpPr>
          <p:cNvPr id="71" name="Text 69"/>
          <p:cNvSpPr txBox="1"/>
          <p:nvPr/>
        </p:nvSpPr>
        <p:spPr>
          <a:xfrm>
            <a:off x="3922685" y="384048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丁酉</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34</a:t>
            </a:r>
            <a:endParaRPr lang="en-US" sz="1800" dirty="0"/>
          </a:p>
        </p:txBody>
      </p:sp>
      <p:sp>
        <p:nvSpPr>
          <p:cNvPr id="72" name="Shape 70"/>
          <p:cNvSpPr/>
          <p:nvPr/>
        </p:nvSpPr>
        <p:spPr>
          <a:xfrm>
            <a:off x="5032126" y="3840480"/>
            <a:ext cx="1018002" cy="640080"/>
          </a:xfrm>
          <a:prstGeom prst="roundRect">
            <a:avLst>
              <a:gd name="adj" fmla="val 11429"/>
            </a:avLst>
          </a:prstGeom>
          <a:solidFill>
            <a:srgbClr val="B8892A"/>
          </a:solidFill>
          <a:ln w="12700">
            <a:solidFill>
              <a:srgbClr val="B8892A"/>
            </a:solidFill>
            <a:prstDash val="solid"/>
          </a:ln>
        </p:spPr>
      </p:sp>
      <p:sp>
        <p:nvSpPr>
          <p:cNvPr id="73" name="Text 71"/>
          <p:cNvSpPr txBox="1"/>
          <p:nvPr/>
        </p:nvSpPr>
        <p:spPr>
          <a:xfrm>
            <a:off x="5032126" y="384048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戊戌</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35</a:t>
            </a:r>
            <a:endParaRPr lang="en-US" sz="1800" dirty="0"/>
          </a:p>
        </p:txBody>
      </p:sp>
      <p:sp>
        <p:nvSpPr>
          <p:cNvPr id="74" name="Shape 72"/>
          <p:cNvSpPr/>
          <p:nvPr/>
        </p:nvSpPr>
        <p:spPr>
          <a:xfrm>
            <a:off x="6141568" y="3840480"/>
            <a:ext cx="1018002" cy="640080"/>
          </a:xfrm>
          <a:prstGeom prst="roundRect">
            <a:avLst>
              <a:gd name="adj" fmla="val 11429"/>
            </a:avLst>
          </a:prstGeom>
          <a:solidFill>
            <a:srgbClr val="B8892A"/>
          </a:solidFill>
          <a:ln w="12700">
            <a:solidFill>
              <a:srgbClr val="B8892A"/>
            </a:solidFill>
            <a:prstDash val="solid"/>
          </a:ln>
        </p:spPr>
      </p:sp>
      <p:sp>
        <p:nvSpPr>
          <p:cNvPr id="75" name="Text 73"/>
          <p:cNvSpPr txBox="1"/>
          <p:nvPr/>
        </p:nvSpPr>
        <p:spPr>
          <a:xfrm>
            <a:off x="6141568" y="384048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己亥</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36</a:t>
            </a:r>
            <a:endParaRPr lang="en-US" sz="1800" dirty="0"/>
          </a:p>
        </p:txBody>
      </p:sp>
      <p:sp>
        <p:nvSpPr>
          <p:cNvPr id="76" name="Shape 74"/>
          <p:cNvSpPr/>
          <p:nvPr/>
        </p:nvSpPr>
        <p:spPr>
          <a:xfrm>
            <a:off x="7251009" y="3840480"/>
            <a:ext cx="1018002" cy="640080"/>
          </a:xfrm>
          <a:prstGeom prst="roundRect">
            <a:avLst>
              <a:gd name="adj" fmla="val 11429"/>
            </a:avLst>
          </a:prstGeom>
          <a:solidFill>
            <a:srgbClr val="6E737B"/>
          </a:solidFill>
          <a:ln w="12700">
            <a:solidFill>
              <a:srgbClr val="6E737B"/>
            </a:solidFill>
            <a:prstDash val="solid"/>
          </a:ln>
        </p:spPr>
      </p:sp>
      <p:sp>
        <p:nvSpPr>
          <p:cNvPr id="77" name="Text 75"/>
          <p:cNvSpPr txBox="1"/>
          <p:nvPr/>
        </p:nvSpPr>
        <p:spPr>
          <a:xfrm>
            <a:off x="7251009" y="384048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庚子</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37</a:t>
            </a:r>
            <a:endParaRPr lang="en-US" sz="1800" dirty="0"/>
          </a:p>
        </p:txBody>
      </p:sp>
      <p:sp>
        <p:nvSpPr>
          <p:cNvPr id="78" name="Shape 76"/>
          <p:cNvSpPr/>
          <p:nvPr/>
        </p:nvSpPr>
        <p:spPr>
          <a:xfrm>
            <a:off x="8360451" y="3840480"/>
            <a:ext cx="1018002" cy="640080"/>
          </a:xfrm>
          <a:prstGeom prst="roundRect">
            <a:avLst>
              <a:gd name="adj" fmla="val 11429"/>
            </a:avLst>
          </a:prstGeom>
          <a:solidFill>
            <a:srgbClr val="6E737B"/>
          </a:solidFill>
          <a:ln w="12700">
            <a:solidFill>
              <a:srgbClr val="6E737B"/>
            </a:solidFill>
            <a:prstDash val="solid"/>
          </a:ln>
        </p:spPr>
      </p:sp>
      <p:sp>
        <p:nvSpPr>
          <p:cNvPr id="79" name="Text 77"/>
          <p:cNvSpPr txBox="1"/>
          <p:nvPr/>
        </p:nvSpPr>
        <p:spPr>
          <a:xfrm>
            <a:off x="8360451" y="384048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辛丑</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38</a:t>
            </a:r>
            <a:endParaRPr lang="en-US" sz="1800" dirty="0"/>
          </a:p>
        </p:txBody>
      </p:sp>
      <p:sp>
        <p:nvSpPr>
          <p:cNvPr id="80" name="Shape 78"/>
          <p:cNvSpPr/>
          <p:nvPr/>
        </p:nvSpPr>
        <p:spPr>
          <a:xfrm>
            <a:off x="9469892" y="3840480"/>
            <a:ext cx="1018002" cy="640080"/>
          </a:xfrm>
          <a:prstGeom prst="roundRect">
            <a:avLst>
              <a:gd name="adj" fmla="val 11429"/>
            </a:avLst>
          </a:prstGeom>
          <a:solidFill>
            <a:srgbClr val="22406E"/>
          </a:solidFill>
          <a:ln w="12700">
            <a:solidFill>
              <a:srgbClr val="22406E"/>
            </a:solidFill>
            <a:prstDash val="solid"/>
          </a:ln>
        </p:spPr>
      </p:sp>
      <p:sp>
        <p:nvSpPr>
          <p:cNvPr id="81" name="Text 79"/>
          <p:cNvSpPr txBox="1"/>
          <p:nvPr/>
        </p:nvSpPr>
        <p:spPr>
          <a:xfrm>
            <a:off x="9469892" y="384048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壬寅</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39</a:t>
            </a:r>
            <a:endParaRPr lang="en-US" sz="1800" dirty="0"/>
          </a:p>
        </p:txBody>
      </p:sp>
      <p:sp>
        <p:nvSpPr>
          <p:cNvPr id="82" name="Shape 80"/>
          <p:cNvSpPr/>
          <p:nvPr/>
        </p:nvSpPr>
        <p:spPr>
          <a:xfrm>
            <a:off x="10579334" y="3840480"/>
            <a:ext cx="1018002" cy="640080"/>
          </a:xfrm>
          <a:prstGeom prst="roundRect">
            <a:avLst>
              <a:gd name="adj" fmla="val 11429"/>
            </a:avLst>
          </a:prstGeom>
          <a:solidFill>
            <a:srgbClr val="22406E"/>
          </a:solidFill>
          <a:ln w="12700">
            <a:solidFill>
              <a:srgbClr val="22406E"/>
            </a:solidFill>
            <a:prstDash val="solid"/>
          </a:ln>
        </p:spPr>
      </p:sp>
      <p:sp>
        <p:nvSpPr>
          <p:cNvPr id="83" name="Text 81"/>
          <p:cNvSpPr txBox="1"/>
          <p:nvPr/>
        </p:nvSpPr>
        <p:spPr>
          <a:xfrm>
            <a:off x="10579334" y="384048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癸卯</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40</a:t>
            </a:r>
            <a:endParaRPr lang="en-US" sz="1800" dirty="0"/>
          </a:p>
        </p:txBody>
      </p:sp>
      <p:sp>
        <p:nvSpPr>
          <p:cNvPr id="84" name="Shape 82"/>
          <p:cNvSpPr/>
          <p:nvPr/>
        </p:nvSpPr>
        <p:spPr>
          <a:xfrm>
            <a:off x="594360" y="4572000"/>
            <a:ext cx="1018002" cy="640080"/>
          </a:xfrm>
          <a:prstGeom prst="roundRect">
            <a:avLst>
              <a:gd name="adj" fmla="val 11429"/>
            </a:avLst>
          </a:prstGeom>
          <a:solidFill>
            <a:srgbClr val="3F7D4E"/>
          </a:solidFill>
          <a:ln w="12700">
            <a:solidFill>
              <a:srgbClr val="3F7D4E"/>
            </a:solidFill>
            <a:prstDash val="solid"/>
          </a:ln>
        </p:spPr>
      </p:sp>
      <p:sp>
        <p:nvSpPr>
          <p:cNvPr id="85" name="Text 83"/>
          <p:cNvSpPr txBox="1"/>
          <p:nvPr/>
        </p:nvSpPr>
        <p:spPr>
          <a:xfrm>
            <a:off x="594360" y="457200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甲辰</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41</a:t>
            </a:r>
            <a:endParaRPr lang="en-US" sz="1800" dirty="0"/>
          </a:p>
        </p:txBody>
      </p:sp>
      <p:sp>
        <p:nvSpPr>
          <p:cNvPr id="86" name="Shape 84"/>
          <p:cNvSpPr/>
          <p:nvPr/>
        </p:nvSpPr>
        <p:spPr>
          <a:xfrm>
            <a:off x="1703802" y="4572000"/>
            <a:ext cx="1018002" cy="640080"/>
          </a:xfrm>
          <a:prstGeom prst="roundRect">
            <a:avLst>
              <a:gd name="adj" fmla="val 11429"/>
            </a:avLst>
          </a:prstGeom>
          <a:solidFill>
            <a:srgbClr val="3F7D4E"/>
          </a:solidFill>
          <a:ln w="12700">
            <a:solidFill>
              <a:srgbClr val="3F7D4E"/>
            </a:solidFill>
            <a:prstDash val="solid"/>
          </a:ln>
        </p:spPr>
      </p:sp>
      <p:sp>
        <p:nvSpPr>
          <p:cNvPr id="87" name="Text 85"/>
          <p:cNvSpPr txBox="1"/>
          <p:nvPr/>
        </p:nvSpPr>
        <p:spPr>
          <a:xfrm>
            <a:off x="1703802" y="457200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乙巳</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42</a:t>
            </a:r>
            <a:endParaRPr lang="en-US" sz="1800" dirty="0"/>
          </a:p>
        </p:txBody>
      </p:sp>
      <p:sp>
        <p:nvSpPr>
          <p:cNvPr id="88" name="Shape 86"/>
          <p:cNvSpPr/>
          <p:nvPr/>
        </p:nvSpPr>
        <p:spPr>
          <a:xfrm>
            <a:off x="2813243" y="4572000"/>
            <a:ext cx="1018002" cy="640080"/>
          </a:xfrm>
          <a:prstGeom prst="roundRect">
            <a:avLst>
              <a:gd name="adj" fmla="val 11429"/>
            </a:avLst>
          </a:prstGeom>
          <a:solidFill>
            <a:srgbClr val="C0392B"/>
          </a:solidFill>
          <a:ln w="12700">
            <a:solidFill>
              <a:srgbClr val="C0392B"/>
            </a:solidFill>
            <a:prstDash val="solid"/>
          </a:ln>
        </p:spPr>
      </p:sp>
      <p:sp>
        <p:nvSpPr>
          <p:cNvPr id="89" name="Text 87"/>
          <p:cNvSpPr txBox="1"/>
          <p:nvPr/>
        </p:nvSpPr>
        <p:spPr>
          <a:xfrm>
            <a:off x="2813243" y="457200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丙午</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43</a:t>
            </a:r>
            <a:endParaRPr lang="en-US" sz="1800" dirty="0"/>
          </a:p>
        </p:txBody>
      </p:sp>
      <p:sp>
        <p:nvSpPr>
          <p:cNvPr id="90" name="Shape 88"/>
          <p:cNvSpPr/>
          <p:nvPr/>
        </p:nvSpPr>
        <p:spPr>
          <a:xfrm>
            <a:off x="3922685" y="4572000"/>
            <a:ext cx="1018002" cy="640080"/>
          </a:xfrm>
          <a:prstGeom prst="roundRect">
            <a:avLst>
              <a:gd name="adj" fmla="val 11429"/>
            </a:avLst>
          </a:prstGeom>
          <a:solidFill>
            <a:srgbClr val="C0392B"/>
          </a:solidFill>
          <a:ln w="12700">
            <a:solidFill>
              <a:srgbClr val="C0392B"/>
            </a:solidFill>
            <a:prstDash val="solid"/>
          </a:ln>
        </p:spPr>
      </p:sp>
      <p:sp>
        <p:nvSpPr>
          <p:cNvPr id="91" name="Text 89"/>
          <p:cNvSpPr txBox="1"/>
          <p:nvPr/>
        </p:nvSpPr>
        <p:spPr>
          <a:xfrm>
            <a:off x="3922685" y="457200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丁未</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44</a:t>
            </a:r>
            <a:endParaRPr lang="en-US" sz="1800" dirty="0"/>
          </a:p>
        </p:txBody>
      </p:sp>
      <p:sp>
        <p:nvSpPr>
          <p:cNvPr id="92" name="Shape 90"/>
          <p:cNvSpPr/>
          <p:nvPr/>
        </p:nvSpPr>
        <p:spPr>
          <a:xfrm>
            <a:off x="5032126" y="4572000"/>
            <a:ext cx="1018002" cy="640080"/>
          </a:xfrm>
          <a:prstGeom prst="roundRect">
            <a:avLst>
              <a:gd name="adj" fmla="val 11429"/>
            </a:avLst>
          </a:prstGeom>
          <a:solidFill>
            <a:srgbClr val="B8892A"/>
          </a:solidFill>
          <a:ln w="12700">
            <a:solidFill>
              <a:srgbClr val="B8892A"/>
            </a:solidFill>
            <a:prstDash val="solid"/>
          </a:ln>
        </p:spPr>
      </p:sp>
      <p:sp>
        <p:nvSpPr>
          <p:cNvPr id="93" name="Text 91"/>
          <p:cNvSpPr txBox="1"/>
          <p:nvPr/>
        </p:nvSpPr>
        <p:spPr>
          <a:xfrm>
            <a:off x="5032126" y="457200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戊申</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45</a:t>
            </a:r>
            <a:endParaRPr lang="en-US" sz="1800" dirty="0"/>
          </a:p>
        </p:txBody>
      </p:sp>
      <p:sp>
        <p:nvSpPr>
          <p:cNvPr id="94" name="Shape 92"/>
          <p:cNvSpPr/>
          <p:nvPr/>
        </p:nvSpPr>
        <p:spPr>
          <a:xfrm>
            <a:off x="6141568" y="4572000"/>
            <a:ext cx="1018002" cy="640080"/>
          </a:xfrm>
          <a:prstGeom prst="roundRect">
            <a:avLst>
              <a:gd name="adj" fmla="val 11429"/>
            </a:avLst>
          </a:prstGeom>
          <a:solidFill>
            <a:srgbClr val="B8892A"/>
          </a:solidFill>
          <a:ln w="12700">
            <a:solidFill>
              <a:srgbClr val="B8892A"/>
            </a:solidFill>
            <a:prstDash val="solid"/>
          </a:ln>
        </p:spPr>
      </p:sp>
      <p:sp>
        <p:nvSpPr>
          <p:cNvPr id="95" name="Text 93"/>
          <p:cNvSpPr txBox="1"/>
          <p:nvPr/>
        </p:nvSpPr>
        <p:spPr>
          <a:xfrm>
            <a:off x="6141568" y="457200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己酉</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46</a:t>
            </a:r>
            <a:endParaRPr lang="en-US" sz="1800" dirty="0"/>
          </a:p>
        </p:txBody>
      </p:sp>
      <p:sp>
        <p:nvSpPr>
          <p:cNvPr id="96" name="Shape 94"/>
          <p:cNvSpPr/>
          <p:nvPr/>
        </p:nvSpPr>
        <p:spPr>
          <a:xfrm>
            <a:off x="7251009" y="4572000"/>
            <a:ext cx="1018002" cy="640080"/>
          </a:xfrm>
          <a:prstGeom prst="roundRect">
            <a:avLst>
              <a:gd name="adj" fmla="val 11429"/>
            </a:avLst>
          </a:prstGeom>
          <a:solidFill>
            <a:srgbClr val="6E737B"/>
          </a:solidFill>
          <a:ln w="12700">
            <a:solidFill>
              <a:srgbClr val="6E737B"/>
            </a:solidFill>
            <a:prstDash val="solid"/>
          </a:ln>
        </p:spPr>
      </p:sp>
      <p:sp>
        <p:nvSpPr>
          <p:cNvPr id="97" name="Text 95"/>
          <p:cNvSpPr txBox="1"/>
          <p:nvPr/>
        </p:nvSpPr>
        <p:spPr>
          <a:xfrm>
            <a:off x="7251009" y="457200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庚戌</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47</a:t>
            </a:r>
            <a:endParaRPr lang="en-US" sz="1800" dirty="0"/>
          </a:p>
        </p:txBody>
      </p:sp>
      <p:sp>
        <p:nvSpPr>
          <p:cNvPr id="98" name="Shape 96"/>
          <p:cNvSpPr/>
          <p:nvPr/>
        </p:nvSpPr>
        <p:spPr>
          <a:xfrm>
            <a:off x="8360451" y="4572000"/>
            <a:ext cx="1018002" cy="640080"/>
          </a:xfrm>
          <a:prstGeom prst="roundRect">
            <a:avLst>
              <a:gd name="adj" fmla="val 11429"/>
            </a:avLst>
          </a:prstGeom>
          <a:solidFill>
            <a:srgbClr val="6E737B"/>
          </a:solidFill>
          <a:ln w="12700">
            <a:solidFill>
              <a:srgbClr val="6E737B"/>
            </a:solidFill>
            <a:prstDash val="solid"/>
          </a:ln>
        </p:spPr>
      </p:sp>
      <p:sp>
        <p:nvSpPr>
          <p:cNvPr id="99" name="Text 97"/>
          <p:cNvSpPr txBox="1"/>
          <p:nvPr/>
        </p:nvSpPr>
        <p:spPr>
          <a:xfrm>
            <a:off x="8360451" y="457200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辛亥</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48</a:t>
            </a:r>
            <a:endParaRPr lang="en-US" sz="1800" dirty="0"/>
          </a:p>
        </p:txBody>
      </p:sp>
      <p:sp>
        <p:nvSpPr>
          <p:cNvPr id="100" name="Shape 98"/>
          <p:cNvSpPr/>
          <p:nvPr/>
        </p:nvSpPr>
        <p:spPr>
          <a:xfrm>
            <a:off x="9469892" y="4572000"/>
            <a:ext cx="1018002" cy="640080"/>
          </a:xfrm>
          <a:prstGeom prst="roundRect">
            <a:avLst>
              <a:gd name="adj" fmla="val 11429"/>
            </a:avLst>
          </a:prstGeom>
          <a:solidFill>
            <a:srgbClr val="22406E"/>
          </a:solidFill>
          <a:ln w="12700">
            <a:solidFill>
              <a:srgbClr val="22406E"/>
            </a:solidFill>
            <a:prstDash val="solid"/>
          </a:ln>
        </p:spPr>
      </p:sp>
      <p:sp>
        <p:nvSpPr>
          <p:cNvPr id="101" name="Text 99"/>
          <p:cNvSpPr txBox="1"/>
          <p:nvPr/>
        </p:nvSpPr>
        <p:spPr>
          <a:xfrm>
            <a:off x="9469892" y="457200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壬子</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49</a:t>
            </a:r>
            <a:endParaRPr lang="en-US" sz="1800" dirty="0"/>
          </a:p>
        </p:txBody>
      </p:sp>
      <p:sp>
        <p:nvSpPr>
          <p:cNvPr id="102" name="Shape 100"/>
          <p:cNvSpPr/>
          <p:nvPr/>
        </p:nvSpPr>
        <p:spPr>
          <a:xfrm>
            <a:off x="10579334" y="4572000"/>
            <a:ext cx="1018002" cy="640080"/>
          </a:xfrm>
          <a:prstGeom prst="roundRect">
            <a:avLst>
              <a:gd name="adj" fmla="val 11429"/>
            </a:avLst>
          </a:prstGeom>
          <a:solidFill>
            <a:srgbClr val="22406E"/>
          </a:solidFill>
          <a:ln w="12700">
            <a:solidFill>
              <a:srgbClr val="22406E"/>
            </a:solidFill>
            <a:prstDash val="solid"/>
          </a:ln>
        </p:spPr>
      </p:sp>
      <p:sp>
        <p:nvSpPr>
          <p:cNvPr id="103" name="Text 101"/>
          <p:cNvSpPr txBox="1"/>
          <p:nvPr/>
        </p:nvSpPr>
        <p:spPr>
          <a:xfrm>
            <a:off x="10579334" y="457200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癸丑</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50</a:t>
            </a:r>
            <a:endParaRPr lang="en-US" sz="1800" dirty="0"/>
          </a:p>
        </p:txBody>
      </p:sp>
      <p:sp>
        <p:nvSpPr>
          <p:cNvPr id="104" name="Shape 102"/>
          <p:cNvSpPr/>
          <p:nvPr/>
        </p:nvSpPr>
        <p:spPr>
          <a:xfrm>
            <a:off x="594360" y="5303520"/>
            <a:ext cx="1018002" cy="640080"/>
          </a:xfrm>
          <a:prstGeom prst="roundRect">
            <a:avLst>
              <a:gd name="adj" fmla="val 11429"/>
            </a:avLst>
          </a:prstGeom>
          <a:solidFill>
            <a:srgbClr val="3F7D4E"/>
          </a:solidFill>
          <a:ln w="12700">
            <a:solidFill>
              <a:srgbClr val="3F7D4E"/>
            </a:solidFill>
            <a:prstDash val="solid"/>
          </a:ln>
        </p:spPr>
      </p:sp>
      <p:sp>
        <p:nvSpPr>
          <p:cNvPr id="105" name="Text 103"/>
          <p:cNvSpPr txBox="1"/>
          <p:nvPr/>
        </p:nvSpPr>
        <p:spPr>
          <a:xfrm>
            <a:off x="594360" y="53035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甲寅</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51</a:t>
            </a:r>
            <a:endParaRPr lang="en-US" sz="1800" dirty="0"/>
          </a:p>
        </p:txBody>
      </p:sp>
      <p:sp>
        <p:nvSpPr>
          <p:cNvPr id="106" name="Shape 104"/>
          <p:cNvSpPr/>
          <p:nvPr/>
        </p:nvSpPr>
        <p:spPr>
          <a:xfrm>
            <a:off x="1703802" y="5303520"/>
            <a:ext cx="1018002" cy="640080"/>
          </a:xfrm>
          <a:prstGeom prst="roundRect">
            <a:avLst>
              <a:gd name="adj" fmla="val 11429"/>
            </a:avLst>
          </a:prstGeom>
          <a:solidFill>
            <a:srgbClr val="3F7D4E"/>
          </a:solidFill>
          <a:ln w="12700">
            <a:solidFill>
              <a:srgbClr val="3F7D4E"/>
            </a:solidFill>
            <a:prstDash val="solid"/>
          </a:ln>
        </p:spPr>
      </p:sp>
      <p:sp>
        <p:nvSpPr>
          <p:cNvPr id="107" name="Text 105"/>
          <p:cNvSpPr txBox="1"/>
          <p:nvPr/>
        </p:nvSpPr>
        <p:spPr>
          <a:xfrm>
            <a:off x="1703802" y="53035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乙卯</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52</a:t>
            </a:r>
            <a:endParaRPr lang="en-US" sz="1800" dirty="0"/>
          </a:p>
        </p:txBody>
      </p:sp>
      <p:sp>
        <p:nvSpPr>
          <p:cNvPr id="108" name="Shape 106"/>
          <p:cNvSpPr/>
          <p:nvPr/>
        </p:nvSpPr>
        <p:spPr>
          <a:xfrm>
            <a:off x="2813243" y="5303520"/>
            <a:ext cx="1018002" cy="640080"/>
          </a:xfrm>
          <a:prstGeom prst="roundRect">
            <a:avLst>
              <a:gd name="adj" fmla="val 11429"/>
            </a:avLst>
          </a:prstGeom>
          <a:solidFill>
            <a:srgbClr val="C0392B"/>
          </a:solidFill>
          <a:ln w="12700">
            <a:solidFill>
              <a:srgbClr val="C0392B"/>
            </a:solidFill>
            <a:prstDash val="solid"/>
          </a:ln>
        </p:spPr>
      </p:sp>
      <p:sp>
        <p:nvSpPr>
          <p:cNvPr id="109" name="Text 107"/>
          <p:cNvSpPr txBox="1"/>
          <p:nvPr/>
        </p:nvSpPr>
        <p:spPr>
          <a:xfrm>
            <a:off x="2813243" y="53035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丙辰</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53</a:t>
            </a:r>
            <a:endParaRPr lang="en-US" sz="1800" dirty="0"/>
          </a:p>
        </p:txBody>
      </p:sp>
      <p:sp>
        <p:nvSpPr>
          <p:cNvPr id="110" name="Shape 108"/>
          <p:cNvSpPr/>
          <p:nvPr/>
        </p:nvSpPr>
        <p:spPr>
          <a:xfrm>
            <a:off x="3922685" y="5303520"/>
            <a:ext cx="1018002" cy="640080"/>
          </a:xfrm>
          <a:prstGeom prst="roundRect">
            <a:avLst>
              <a:gd name="adj" fmla="val 11429"/>
            </a:avLst>
          </a:prstGeom>
          <a:solidFill>
            <a:srgbClr val="C0392B"/>
          </a:solidFill>
          <a:ln w="12700">
            <a:solidFill>
              <a:srgbClr val="C0392B"/>
            </a:solidFill>
            <a:prstDash val="solid"/>
          </a:ln>
        </p:spPr>
      </p:sp>
      <p:sp>
        <p:nvSpPr>
          <p:cNvPr id="111" name="Text 109"/>
          <p:cNvSpPr txBox="1"/>
          <p:nvPr/>
        </p:nvSpPr>
        <p:spPr>
          <a:xfrm>
            <a:off x="3922685" y="53035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丁巳</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54</a:t>
            </a:r>
            <a:endParaRPr lang="en-US" sz="1800" dirty="0"/>
          </a:p>
        </p:txBody>
      </p:sp>
      <p:sp>
        <p:nvSpPr>
          <p:cNvPr id="112" name="Shape 110"/>
          <p:cNvSpPr/>
          <p:nvPr/>
        </p:nvSpPr>
        <p:spPr>
          <a:xfrm>
            <a:off x="5032126" y="5303520"/>
            <a:ext cx="1018002" cy="640080"/>
          </a:xfrm>
          <a:prstGeom prst="roundRect">
            <a:avLst>
              <a:gd name="adj" fmla="val 11429"/>
            </a:avLst>
          </a:prstGeom>
          <a:solidFill>
            <a:srgbClr val="B8892A"/>
          </a:solidFill>
          <a:ln w="12700">
            <a:solidFill>
              <a:srgbClr val="B8892A"/>
            </a:solidFill>
            <a:prstDash val="solid"/>
          </a:ln>
        </p:spPr>
      </p:sp>
      <p:sp>
        <p:nvSpPr>
          <p:cNvPr id="113" name="Text 111"/>
          <p:cNvSpPr txBox="1"/>
          <p:nvPr/>
        </p:nvSpPr>
        <p:spPr>
          <a:xfrm>
            <a:off x="5032126" y="53035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戊午</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55</a:t>
            </a:r>
            <a:endParaRPr lang="en-US" sz="1800" dirty="0"/>
          </a:p>
        </p:txBody>
      </p:sp>
      <p:sp>
        <p:nvSpPr>
          <p:cNvPr id="114" name="Shape 112"/>
          <p:cNvSpPr/>
          <p:nvPr/>
        </p:nvSpPr>
        <p:spPr>
          <a:xfrm>
            <a:off x="6141568" y="5303520"/>
            <a:ext cx="1018002" cy="640080"/>
          </a:xfrm>
          <a:prstGeom prst="roundRect">
            <a:avLst>
              <a:gd name="adj" fmla="val 11429"/>
            </a:avLst>
          </a:prstGeom>
          <a:solidFill>
            <a:srgbClr val="B8892A"/>
          </a:solidFill>
          <a:ln w="12700">
            <a:solidFill>
              <a:srgbClr val="B8892A"/>
            </a:solidFill>
            <a:prstDash val="solid"/>
          </a:ln>
        </p:spPr>
      </p:sp>
      <p:sp>
        <p:nvSpPr>
          <p:cNvPr id="115" name="Text 113"/>
          <p:cNvSpPr txBox="1"/>
          <p:nvPr/>
        </p:nvSpPr>
        <p:spPr>
          <a:xfrm>
            <a:off x="6141568" y="53035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己未</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56</a:t>
            </a:r>
            <a:endParaRPr lang="en-US" sz="1800" dirty="0"/>
          </a:p>
        </p:txBody>
      </p:sp>
      <p:sp>
        <p:nvSpPr>
          <p:cNvPr id="116" name="Shape 114"/>
          <p:cNvSpPr/>
          <p:nvPr/>
        </p:nvSpPr>
        <p:spPr>
          <a:xfrm>
            <a:off x="7251009" y="5303520"/>
            <a:ext cx="1018002" cy="640080"/>
          </a:xfrm>
          <a:prstGeom prst="roundRect">
            <a:avLst>
              <a:gd name="adj" fmla="val 11429"/>
            </a:avLst>
          </a:prstGeom>
          <a:solidFill>
            <a:srgbClr val="6E737B"/>
          </a:solidFill>
          <a:ln w="12700">
            <a:solidFill>
              <a:srgbClr val="6E737B"/>
            </a:solidFill>
            <a:prstDash val="solid"/>
          </a:ln>
        </p:spPr>
      </p:sp>
      <p:sp>
        <p:nvSpPr>
          <p:cNvPr id="117" name="Text 115"/>
          <p:cNvSpPr txBox="1"/>
          <p:nvPr/>
        </p:nvSpPr>
        <p:spPr>
          <a:xfrm>
            <a:off x="7251009" y="53035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庚申</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57</a:t>
            </a:r>
            <a:endParaRPr lang="en-US" sz="1800" dirty="0"/>
          </a:p>
        </p:txBody>
      </p:sp>
      <p:sp>
        <p:nvSpPr>
          <p:cNvPr id="118" name="Shape 116"/>
          <p:cNvSpPr/>
          <p:nvPr/>
        </p:nvSpPr>
        <p:spPr>
          <a:xfrm>
            <a:off x="8360451" y="5303520"/>
            <a:ext cx="1018002" cy="640080"/>
          </a:xfrm>
          <a:prstGeom prst="roundRect">
            <a:avLst>
              <a:gd name="adj" fmla="val 11429"/>
            </a:avLst>
          </a:prstGeom>
          <a:solidFill>
            <a:srgbClr val="6E737B"/>
          </a:solidFill>
          <a:ln w="12700">
            <a:solidFill>
              <a:srgbClr val="6E737B"/>
            </a:solidFill>
            <a:prstDash val="solid"/>
          </a:ln>
        </p:spPr>
      </p:sp>
      <p:sp>
        <p:nvSpPr>
          <p:cNvPr id="119" name="Text 117"/>
          <p:cNvSpPr txBox="1"/>
          <p:nvPr/>
        </p:nvSpPr>
        <p:spPr>
          <a:xfrm>
            <a:off x="8360451" y="53035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辛酉</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58</a:t>
            </a:r>
            <a:endParaRPr lang="en-US" sz="1800" dirty="0"/>
          </a:p>
        </p:txBody>
      </p:sp>
      <p:sp>
        <p:nvSpPr>
          <p:cNvPr id="120" name="Shape 118"/>
          <p:cNvSpPr/>
          <p:nvPr/>
        </p:nvSpPr>
        <p:spPr>
          <a:xfrm>
            <a:off x="9469892" y="5303520"/>
            <a:ext cx="1018002" cy="640080"/>
          </a:xfrm>
          <a:prstGeom prst="roundRect">
            <a:avLst>
              <a:gd name="adj" fmla="val 11429"/>
            </a:avLst>
          </a:prstGeom>
          <a:solidFill>
            <a:srgbClr val="22406E"/>
          </a:solidFill>
          <a:ln w="12700">
            <a:solidFill>
              <a:srgbClr val="22406E"/>
            </a:solidFill>
            <a:prstDash val="solid"/>
          </a:ln>
        </p:spPr>
      </p:sp>
      <p:sp>
        <p:nvSpPr>
          <p:cNvPr id="121" name="Text 119"/>
          <p:cNvSpPr txBox="1"/>
          <p:nvPr/>
        </p:nvSpPr>
        <p:spPr>
          <a:xfrm>
            <a:off x="9469892" y="53035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壬戌</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59</a:t>
            </a:r>
            <a:endParaRPr lang="en-US" sz="1800" dirty="0"/>
          </a:p>
        </p:txBody>
      </p:sp>
      <p:sp>
        <p:nvSpPr>
          <p:cNvPr id="122" name="Shape 120"/>
          <p:cNvSpPr/>
          <p:nvPr/>
        </p:nvSpPr>
        <p:spPr>
          <a:xfrm>
            <a:off x="10579334" y="5303520"/>
            <a:ext cx="1018002" cy="640080"/>
          </a:xfrm>
          <a:prstGeom prst="roundRect">
            <a:avLst>
              <a:gd name="adj" fmla="val 11429"/>
            </a:avLst>
          </a:prstGeom>
          <a:solidFill>
            <a:srgbClr val="22406E"/>
          </a:solidFill>
          <a:ln w="12700">
            <a:solidFill>
              <a:srgbClr val="22406E"/>
            </a:solidFill>
            <a:prstDash val="solid"/>
          </a:ln>
        </p:spPr>
      </p:sp>
      <p:sp>
        <p:nvSpPr>
          <p:cNvPr id="123" name="Text 121"/>
          <p:cNvSpPr txBox="1"/>
          <p:nvPr/>
        </p:nvSpPr>
        <p:spPr>
          <a:xfrm>
            <a:off x="10579334" y="5303520"/>
            <a:ext cx="1018002"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癸亥</a:t>
            </a:r>
            <a:endParaRPr lang="en-US" sz="1800" dirty="0"/>
          </a:p>
          <a:p>
            <a:pPr algn="ctr" indent="0" marL="0">
              <a:buNone/>
            </a:pPr>
            <a:r>
              <a:rPr lang="en-US" sz="900" dirty="0">
                <a:solidFill>
                  <a:srgbClr val="FFFFFF"/>
                </a:solidFill>
                <a:latin typeface="Malgun Gothic" pitchFamily="34" charset="0"/>
                <a:ea typeface="Malgun Gothic" pitchFamily="34" charset="-122"/>
                <a:cs typeface="Malgun Gothic" pitchFamily="34" charset="-120"/>
              </a:rPr>
              <a:t>60</a:t>
            </a:r>
            <a:endParaRPr lang="en-US" sz="1800" dirty="0"/>
          </a:p>
        </p:txBody>
      </p:sp>
      <p:sp>
        <p:nvSpPr>
          <p:cNvPr id="124" name="Text 12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125" name="Text 12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02</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통근(通根)</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천간이 지지에 뿌리를 내리다</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통근</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통근의 정의와 3원칙</a:t>
            </a:r>
            <a:endParaRPr lang="en-US" sz="3000" dirty="0"/>
          </a:p>
        </p:txBody>
      </p:sp>
      <p:sp>
        <p:nvSpPr>
          <p:cNvPr id="4" name="Shape 2"/>
          <p:cNvSpPr/>
          <p:nvPr/>
        </p:nvSpPr>
        <p:spPr>
          <a:xfrm>
            <a:off x="548640" y="1600200"/>
            <a:ext cx="3515258" cy="4572000"/>
          </a:xfrm>
          <a:prstGeom prst="roundRect">
            <a:avLst>
              <a:gd name="adj" fmla="val 3121"/>
            </a:avLst>
          </a:prstGeom>
          <a:solidFill>
            <a:srgbClr val="F3F1F6"/>
          </a:solidFill>
          <a:ln w="12700">
            <a:solidFill>
              <a:srgbClr val="F3F1F6"/>
            </a:solidFill>
            <a:prstDash val="solid"/>
          </a:ln>
        </p:spPr>
      </p:sp>
      <p:sp>
        <p:nvSpPr>
          <p:cNvPr id="5" name="Shape 3"/>
          <p:cNvSpPr/>
          <p:nvPr/>
        </p:nvSpPr>
        <p:spPr>
          <a:xfrm>
            <a:off x="777240" y="1828800"/>
            <a:ext cx="822960" cy="822960"/>
          </a:xfrm>
          <a:prstGeom prst="ellipse">
            <a:avLst/>
          </a:prstGeom>
          <a:solidFill>
            <a:srgbClr val="B23A2E"/>
          </a:solidFill>
          <a:ln w="12700">
            <a:solidFill>
              <a:srgbClr val="B23A2E"/>
            </a:solidFill>
            <a:prstDash val="solid"/>
          </a:ln>
        </p:spPr>
      </p:sp>
      <p:sp>
        <p:nvSpPr>
          <p:cNvPr id="6" name="Text 4"/>
          <p:cNvSpPr txBox="1"/>
          <p:nvPr/>
        </p:nvSpPr>
        <p:spPr>
          <a:xfrm>
            <a:off x="777240" y="18288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强</a:t>
            </a:r>
            <a:endParaRPr lang="en-US" sz="3000" dirty="0"/>
          </a:p>
        </p:txBody>
      </p:sp>
      <p:sp>
        <p:nvSpPr>
          <p:cNvPr id="7" name="Text 5"/>
          <p:cNvSpPr txBox="1"/>
          <p:nvPr/>
        </p:nvSpPr>
        <p:spPr>
          <a:xfrm>
            <a:off x="1783080" y="1828800"/>
            <a:ext cx="2097938" cy="82296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① 같은 오행의 지지</a:t>
            </a:r>
            <a:endParaRPr lang="en-US" sz="1700" dirty="0"/>
          </a:p>
        </p:txBody>
      </p:sp>
      <p:sp>
        <p:nvSpPr>
          <p:cNvPr id="8" name="Text 6"/>
          <p:cNvSpPr txBox="1"/>
          <p:nvPr/>
        </p:nvSpPr>
        <p:spPr>
          <a:xfrm>
            <a:off x="777240" y="2834640"/>
            <a:ext cx="3058058" cy="3154680"/>
          </a:xfrm>
          <a:prstGeom prst="rect">
            <a:avLst/>
          </a:prstGeom>
          <a:noFill/>
          <a:ln/>
        </p:spPr>
        <p:txBody>
          <a:bodyPr wrap="square" lIns="0" tIns="0" rIns="0" bIns="0" rtlCol="0" anchor="t"/>
          <a:lstStyle/>
          <a:p>
            <a:pPr indent="0" marL="0">
              <a:lnSpc>
                <a:spcPct val="110000"/>
              </a:lnSpc>
              <a:buNone/>
            </a:pPr>
            <a:r>
              <a:rPr lang="en-US" sz="1600" dirty="0">
                <a:solidFill>
                  <a:srgbClr val="22212A"/>
                </a:solidFill>
                <a:latin typeface="Malgun Gothic" pitchFamily="34" charset="0"/>
                <a:ea typeface="Malgun Gothic" pitchFamily="34" charset="-122"/>
                <a:cs typeface="Malgun Gothic" pitchFamily="34" charset="-120"/>
              </a:rPr>
              <a:t>가장 강하게 뿌리를 내린다.</a:t>
            </a:r>
            <a:endParaRPr lang="en-US" sz="1600" dirty="0"/>
          </a:p>
          <a:p>
            <a:pPr indent="0" marL="0">
              <a:lnSpc>
                <a:spcPct val="110000"/>
              </a:lnSpc>
              <a:buNone/>
            </a:pPr>
            <a:r>
              <a:rPr lang="en-US" sz="1600" dirty="0">
                <a:solidFill>
                  <a:srgbClr val="22212A"/>
                </a:solidFill>
                <a:latin typeface="Malgun Gothic" pitchFamily="34" charset="0"/>
                <a:ea typeface="Malgun Gothic" pitchFamily="34" charset="-122"/>
                <a:cs typeface="Malgun Gothic" pitchFamily="34" charset="-120"/>
              </a:rPr>
              <a:t>예: 甲·乙 → 寅·卯</a:t>
            </a:r>
            <a:endParaRPr lang="en-US" sz="1600" dirty="0"/>
          </a:p>
        </p:txBody>
      </p:sp>
      <p:sp>
        <p:nvSpPr>
          <p:cNvPr id="9" name="Shape 7"/>
          <p:cNvSpPr/>
          <p:nvPr/>
        </p:nvSpPr>
        <p:spPr>
          <a:xfrm>
            <a:off x="4338218" y="1600200"/>
            <a:ext cx="3515258" cy="4572000"/>
          </a:xfrm>
          <a:prstGeom prst="roundRect">
            <a:avLst>
              <a:gd name="adj" fmla="val 3121"/>
            </a:avLst>
          </a:prstGeom>
          <a:solidFill>
            <a:srgbClr val="F3F1F6"/>
          </a:solidFill>
          <a:ln w="12700">
            <a:solidFill>
              <a:srgbClr val="F3F1F6"/>
            </a:solidFill>
            <a:prstDash val="solid"/>
          </a:ln>
        </p:spPr>
      </p:sp>
      <p:sp>
        <p:nvSpPr>
          <p:cNvPr id="10" name="Shape 8"/>
          <p:cNvSpPr/>
          <p:nvPr/>
        </p:nvSpPr>
        <p:spPr>
          <a:xfrm>
            <a:off x="4566818" y="1828800"/>
            <a:ext cx="822960" cy="822960"/>
          </a:xfrm>
          <a:prstGeom prst="ellipse">
            <a:avLst/>
          </a:prstGeom>
          <a:solidFill>
            <a:srgbClr val="B8892A"/>
          </a:solidFill>
          <a:ln w="12700">
            <a:solidFill>
              <a:srgbClr val="B8892A"/>
            </a:solidFill>
            <a:prstDash val="solid"/>
          </a:ln>
        </p:spPr>
      </p:sp>
      <p:sp>
        <p:nvSpPr>
          <p:cNvPr id="11" name="Text 9"/>
          <p:cNvSpPr txBox="1"/>
          <p:nvPr/>
        </p:nvSpPr>
        <p:spPr>
          <a:xfrm>
            <a:off x="4566818" y="18288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中</a:t>
            </a:r>
            <a:endParaRPr lang="en-US" sz="3000" dirty="0"/>
          </a:p>
        </p:txBody>
      </p:sp>
      <p:sp>
        <p:nvSpPr>
          <p:cNvPr id="12" name="Text 10"/>
          <p:cNvSpPr txBox="1"/>
          <p:nvPr/>
        </p:nvSpPr>
        <p:spPr>
          <a:xfrm>
            <a:off x="5572658" y="1828800"/>
            <a:ext cx="2097938" cy="82296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② 나를 생하는 오행의 지지</a:t>
            </a:r>
            <a:endParaRPr lang="en-US" sz="1700" dirty="0"/>
          </a:p>
        </p:txBody>
      </p:sp>
      <p:sp>
        <p:nvSpPr>
          <p:cNvPr id="13" name="Text 11"/>
          <p:cNvSpPr txBox="1"/>
          <p:nvPr/>
        </p:nvSpPr>
        <p:spPr>
          <a:xfrm>
            <a:off x="4566818" y="2834640"/>
            <a:ext cx="3058058" cy="3154680"/>
          </a:xfrm>
          <a:prstGeom prst="rect">
            <a:avLst/>
          </a:prstGeom>
          <a:noFill/>
          <a:ln/>
        </p:spPr>
        <p:txBody>
          <a:bodyPr wrap="square" lIns="0" tIns="0" rIns="0" bIns="0" rtlCol="0" anchor="t"/>
          <a:lstStyle/>
          <a:p>
            <a:pPr indent="0" marL="0">
              <a:lnSpc>
                <a:spcPct val="110000"/>
              </a:lnSpc>
              <a:buNone/>
            </a:pPr>
            <a:r>
              <a:rPr lang="en-US" sz="1600" dirty="0">
                <a:solidFill>
                  <a:srgbClr val="22212A"/>
                </a:solidFill>
                <a:latin typeface="Malgun Gothic" pitchFamily="34" charset="0"/>
                <a:ea typeface="Malgun Gothic" pitchFamily="34" charset="-122"/>
                <a:cs typeface="Malgun Gothic" pitchFamily="34" charset="-120"/>
              </a:rPr>
              <a:t>중간 정도로 강하게 뿌리를 내린다.</a:t>
            </a:r>
            <a:endParaRPr lang="en-US" sz="1600" dirty="0"/>
          </a:p>
          <a:p>
            <a:pPr indent="0" marL="0">
              <a:lnSpc>
                <a:spcPct val="110000"/>
              </a:lnSpc>
              <a:buNone/>
            </a:pPr>
            <a:r>
              <a:rPr lang="en-US" sz="1600" dirty="0">
                <a:solidFill>
                  <a:srgbClr val="22212A"/>
                </a:solidFill>
                <a:latin typeface="Malgun Gothic" pitchFamily="34" charset="0"/>
                <a:ea typeface="Malgun Gothic" pitchFamily="34" charset="-122"/>
                <a:cs typeface="Malgun Gothic" pitchFamily="34" charset="-120"/>
              </a:rPr>
              <a:t>예: 甲·乙 → 亥·子</a:t>
            </a:r>
            <a:endParaRPr lang="en-US" sz="1600" dirty="0"/>
          </a:p>
        </p:txBody>
      </p:sp>
      <p:sp>
        <p:nvSpPr>
          <p:cNvPr id="14" name="Shape 12"/>
          <p:cNvSpPr/>
          <p:nvPr/>
        </p:nvSpPr>
        <p:spPr>
          <a:xfrm>
            <a:off x="8127797" y="1600200"/>
            <a:ext cx="3515258" cy="4572000"/>
          </a:xfrm>
          <a:prstGeom prst="roundRect">
            <a:avLst>
              <a:gd name="adj" fmla="val 3121"/>
            </a:avLst>
          </a:prstGeom>
          <a:solidFill>
            <a:srgbClr val="F3F1F6"/>
          </a:solidFill>
          <a:ln w="12700">
            <a:solidFill>
              <a:srgbClr val="F3F1F6"/>
            </a:solidFill>
            <a:prstDash val="solid"/>
          </a:ln>
        </p:spPr>
      </p:sp>
      <p:sp>
        <p:nvSpPr>
          <p:cNvPr id="15" name="Shape 13"/>
          <p:cNvSpPr/>
          <p:nvPr/>
        </p:nvSpPr>
        <p:spPr>
          <a:xfrm>
            <a:off x="8356397" y="1828800"/>
            <a:ext cx="822960" cy="822960"/>
          </a:xfrm>
          <a:prstGeom prst="ellipse">
            <a:avLst/>
          </a:prstGeom>
          <a:solidFill>
            <a:srgbClr val="6E737B"/>
          </a:solidFill>
          <a:ln w="12700">
            <a:solidFill>
              <a:srgbClr val="6E737B"/>
            </a:solidFill>
            <a:prstDash val="solid"/>
          </a:ln>
        </p:spPr>
      </p:sp>
      <p:sp>
        <p:nvSpPr>
          <p:cNvPr id="16" name="Text 14"/>
          <p:cNvSpPr txBox="1"/>
          <p:nvPr/>
        </p:nvSpPr>
        <p:spPr>
          <a:xfrm>
            <a:off x="8356397" y="18288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微</a:t>
            </a:r>
            <a:endParaRPr lang="en-US" sz="3000" dirty="0"/>
          </a:p>
        </p:txBody>
      </p:sp>
      <p:sp>
        <p:nvSpPr>
          <p:cNvPr id="17" name="Text 15"/>
          <p:cNvSpPr txBox="1"/>
          <p:nvPr/>
        </p:nvSpPr>
        <p:spPr>
          <a:xfrm>
            <a:off x="9362237" y="1828800"/>
            <a:ext cx="2097938" cy="82296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③ 같은 오행을 품은 지지</a:t>
            </a:r>
            <a:endParaRPr lang="en-US" sz="1700" dirty="0"/>
          </a:p>
        </p:txBody>
      </p:sp>
      <p:sp>
        <p:nvSpPr>
          <p:cNvPr id="18" name="Text 16"/>
          <p:cNvSpPr txBox="1"/>
          <p:nvPr/>
        </p:nvSpPr>
        <p:spPr>
          <a:xfrm>
            <a:off x="8356397" y="2834640"/>
            <a:ext cx="3058058" cy="3154680"/>
          </a:xfrm>
          <a:prstGeom prst="rect">
            <a:avLst/>
          </a:prstGeom>
          <a:noFill/>
          <a:ln/>
        </p:spPr>
        <p:txBody>
          <a:bodyPr wrap="square" lIns="0" tIns="0" rIns="0" bIns="0" rtlCol="0" anchor="t"/>
          <a:lstStyle/>
          <a:p>
            <a:pPr indent="0" marL="0">
              <a:lnSpc>
                <a:spcPct val="110000"/>
              </a:lnSpc>
              <a:buNone/>
            </a:pPr>
            <a:r>
              <a:rPr lang="en-US" sz="1600" dirty="0">
                <a:solidFill>
                  <a:srgbClr val="22212A"/>
                </a:solidFill>
                <a:latin typeface="Malgun Gothic" pitchFamily="34" charset="0"/>
                <a:ea typeface="Malgun Gothic" pitchFamily="34" charset="-122"/>
                <a:cs typeface="Malgun Gothic" pitchFamily="34" charset="-120"/>
              </a:rPr>
              <a:t>지장간 속에 같은 오행이 있으면 미약하게 뿌리를 내린다. 특히 辰·戌·丑·未.</a:t>
            </a:r>
            <a:endParaRPr lang="en-US" sz="1600" dirty="0"/>
          </a:p>
          <a:p>
            <a:pPr indent="0" marL="0">
              <a:lnSpc>
                <a:spcPct val="110000"/>
              </a:lnSpc>
              <a:buNone/>
            </a:pPr>
            <a:r>
              <a:rPr lang="en-US" sz="1600" dirty="0">
                <a:solidFill>
                  <a:srgbClr val="22212A"/>
                </a:solidFill>
                <a:latin typeface="Malgun Gothic" pitchFamily="34" charset="0"/>
                <a:ea typeface="Malgun Gothic" pitchFamily="34" charset="-122"/>
                <a:cs typeface="Malgun Gothic" pitchFamily="34" charset="-120"/>
              </a:rPr>
              <a:t>예: 甲·乙 → 辰(乙)·未(乙)</a:t>
            </a:r>
            <a:endParaRPr lang="en-US" sz="1600" dirty="0"/>
          </a:p>
        </p:txBody>
      </p:sp>
      <p:sp>
        <p:nvSpPr>
          <p:cNvPr id="19" name="Text 1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20" name="Text 1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통근</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천간별 통근표</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280160"/>
                <a:gridCol w="1920240"/>
                <a:gridCol w="2286000"/>
                <a:gridCol w="2011680"/>
                <a:gridCol w="3593592"/>
              </a:tblGrid>
              <a:tr h="685800">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천간</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① 强 (같은 오행)</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B23A2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② 中强 (생해 주는 오행)</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B8892A"/>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③ 微弱 (내장한 지지)</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6E737B"/>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단서</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68580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甲 · 乙</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寅 · 卯</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亥 · 子</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辰 · 未</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방합 寅卯辰 · 삼합 亥卯未와도 통한다</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丙 · 丁</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巳 · 午</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寅 · 卯</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未 · 戌</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卯는 물을 머금은 새싹이라 丁은 통근력이 매우 미약</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戊 · 己</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辰 · 戌 · 丑 · 未</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巳 · 午</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寅 (戊만 약하게)</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申 · 亥는 戊를 품었어도 통근하지 못함</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庚 · 辛</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申 · 酉</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辰 · 戌 · 丑 · 未 *</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巳 · 丑</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 未는 너무 뜨거운 土라 金을 생하기 어려움 (입추 가까우면 미세하게)</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壬 · 癸</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亥 · 子</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申 · 酉</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丑 · 辰 · 申</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丑과 辰은 水氣를 강하게 품고 있음</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방향: 연간→연지, 월간→월지, 일간→일지, 시간→시지가 원칙. 일간만은 다른 지지에도 뿌리를 내림 — 일간이 월지에 통근하면 성정이 매우 강하다</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03</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12운성(十二運星)</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천간의 에너지가 12지지를 지나며 그리는 생로병사의 곡선</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03 12운성</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12운성 — 甲木의 일생</a:t>
            </a:r>
            <a:endParaRPr lang="en-US" sz="3000" dirty="0"/>
          </a:p>
        </p:txBody>
      </p:sp>
      <p:sp>
        <p:nvSpPr>
          <p:cNvPr id="4" name="Shape 2"/>
          <p:cNvSpPr/>
          <p:nvPr/>
        </p:nvSpPr>
        <p:spPr>
          <a:xfrm>
            <a:off x="685800" y="3611880"/>
            <a:ext cx="650215" cy="1508760"/>
          </a:xfrm>
          <a:prstGeom prst="roundRect">
            <a:avLst>
              <a:gd name="adj" fmla="val 8438"/>
            </a:avLst>
          </a:prstGeom>
          <a:solidFill>
            <a:srgbClr val="D9D2E3"/>
          </a:solidFill>
          <a:ln w="12700">
            <a:solidFill>
              <a:srgbClr val="D9D2E3"/>
            </a:solidFill>
            <a:prstDash val="solid"/>
          </a:ln>
        </p:spPr>
      </p:sp>
      <p:sp>
        <p:nvSpPr>
          <p:cNvPr id="5" name="Text 3"/>
          <p:cNvSpPr txBox="1"/>
          <p:nvPr/>
        </p:nvSpPr>
        <p:spPr>
          <a:xfrm>
            <a:off x="548640" y="3227832"/>
            <a:ext cx="924535" cy="347472"/>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장생</a:t>
            </a:r>
            <a:endParaRPr lang="en-US" sz="1500" dirty="0"/>
          </a:p>
        </p:txBody>
      </p:sp>
      <p:sp>
        <p:nvSpPr>
          <p:cNvPr id="6" name="Shape 4"/>
          <p:cNvSpPr/>
          <p:nvPr/>
        </p:nvSpPr>
        <p:spPr>
          <a:xfrm>
            <a:off x="759447" y="5230368"/>
            <a:ext cx="502920" cy="502920"/>
          </a:xfrm>
          <a:prstGeom prst="ellipse">
            <a:avLst/>
          </a:prstGeom>
          <a:solidFill>
            <a:srgbClr val="22406E"/>
          </a:solidFill>
          <a:ln w="12700">
            <a:solidFill>
              <a:srgbClr val="22406E"/>
            </a:solidFill>
            <a:prstDash val="solid"/>
          </a:ln>
        </p:spPr>
      </p:sp>
      <p:sp>
        <p:nvSpPr>
          <p:cNvPr id="7" name="Text 5"/>
          <p:cNvSpPr txBox="1"/>
          <p:nvPr/>
        </p:nvSpPr>
        <p:spPr>
          <a:xfrm>
            <a:off x="759447" y="523036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亥</a:t>
            </a:r>
            <a:endParaRPr lang="en-US" sz="1700" dirty="0"/>
          </a:p>
        </p:txBody>
      </p:sp>
      <p:sp>
        <p:nvSpPr>
          <p:cNvPr id="8" name="Shape 6"/>
          <p:cNvSpPr/>
          <p:nvPr/>
        </p:nvSpPr>
        <p:spPr>
          <a:xfrm>
            <a:off x="1610335" y="3310128"/>
            <a:ext cx="650215" cy="1810512"/>
          </a:xfrm>
          <a:prstGeom prst="roundRect">
            <a:avLst>
              <a:gd name="adj" fmla="val 8438"/>
            </a:avLst>
          </a:prstGeom>
          <a:solidFill>
            <a:srgbClr val="D9D2E3"/>
          </a:solidFill>
          <a:ln w="12700">
            <a:solidFill>
              <a:srgbClr val="D9D2E3"/>
            </a:solidFill>
            <a:prstDash val="solid"/>
          </a:ln>
        </p:spPr>
      </p:sp>
      <p:sp>
        <p:nvSpPr>
          <p:cNvPr id="9" name="Text 7"/>
          <p:cNvSpPr txBox="1"/>
          <p:nvPr/>
        </p:nvSpPr>
        <p:spPr>
          <a:xfrm>
            <a:off x="1473175" y="2926080"/>
            <a:ext cx="924535" cy="347472"/>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목욕</a:t>
            </a:r>
            <a:endParaRPr lang="en-US" sz="1500" dirty="0"/>
          </a:p>
        </p:txBody>
      </p:sp>
      <p:sp>
        <p:nvSpPr>
          <p:cNvPr id="10" name="Shape 8"/>
          <p:cNvSpPr/>
          <p:nvPr/>
        </p:nvSpPr>
        <p:spPr>
          <a:xfrm>
            <a:off x="1683982" y="5230368"/>
            <a:ext cx="502920" cy="502920"/>
          </a:xfrm>
          <a:prstGeom prst="ellipse">
            <a:avLst/>
          </a:prstGeom>
          <a:solidFill>
            <a:srgbClr val="22406E"/>
          </a:solidFill>
          <a:ln w="12700">
            <a:solidFill>
              <a:srgbClr val="22406E"/>
            </a:solidFill>
            <a:prstDash val="solid"/>
          </a:ln>
        </p:spPr>
      </p:sp>
      <p:sp>
        <p:nvSpPr>
          <p:cNvPr id="11" name="Text 9"/>
          <p:cNvSpPr txBox="1"/>
          <p:nvPr/>
        </p:nvSpPr>
        <p:spPr>
          <a:xfrm>
            <a:off x="1683982" y="523036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子</a:t>
            </a:r>
            <a:endParaRPr lang="en-US" sz="1700" dirty="0"/>
          </a:p>
        </p:txBody>
      </p:sp>
      <p:sp>
        <p:nvSpPr>
          <p:cNvPr id="12" name="Shape 10"/>
          <p:cNvSpPr/>
          <p:nvPr/>
        </p:nvSpPr>
        <p:spPr>
          <a:xfrm>
            <a:off x="2534869" y="2857500"/>
            <a:ext cx="650215" cy="2263140"/>
          </a:xfrm>
          <a:prstGeom prst="roundRect">
            <a:avLst>
              <a:gd name="adj" fmla="val 8438"/>
            </a:avLst>
          </a:prstGeom>
          <a:solidFill>
            <a:srgbClr val="D9D2E3"/>
          </a:solidFill>
          <a:ln w="12700">
            <a:solidFill>
              <a:srgbClr val="D9D2E3"/>
            </a:solidFill>
            <a:prstDash val="solid"/>
          </a:ln>
        </p:spPr>
      </p:sp>
      <p:sp>
        <p:nvSpPr>
          <p:cNvPr id="13" name="Text 11"/>
          <p:cNvSpPr txBox="1"/>
          <p:nvPr/>
        </p:nvSpPr>
        <p:spPr>
          <a:xfrm>
            <a:off x="2397709" y="2473452"/>
            <a:ext cx="924535" cy="347472"/>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관대</a:t>
            </a:r>
            <a:endParaRPr lang="en-US" sz="1500" dirty="0"/>
          </a:p>
        </p:txBody>
      </p:sp>
      <p:sp>
        <p:nvSpPr>
          <p:cNvPr id="14" name="Shape 12"/>
          <p:cNvSpPr/>
          <p:nvPr/>
        </p:nvSpPr>
        <p:spPr>
          <a:xfrm>
            <a:off x="2608517" y="5230368"/>
            <a:ext cx="502920" cy="502920"/>
          </a:xfrm>
          <a:prstGeom prst="ellipse">
            <a:avLst/>
          </a:prstGeom>
          <a:solidFill>
            <a:srgbClr val="B8892A"/>
          </a:solidFill>
          <a:ln w="12700">
            <a:solidFill>
              <a:srgbClr val="B8892A"/>
            </a:solidFill>
            <a:prstDash val="solid"/>
          </a:ln>
        </p:spPr>
      </p:sp>
      <p:sp>
        <p:nvSpPr>
          <p:cNvPr id="15" name="Text 13"/>
          <p:cNvSpPr txBox="1"/>
          <p:nvPr/>
        </p:nvSpPr>
        <p:spPr>
          <a:xfrm>
            <a:off x="2608517" y="523036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丑</a:t>
            </a:r>
            <a:endParaRPr lang="en-US" sz="1700" dirty="0"/>
          </a:p>
        </p:txBody>
      </p:sp>
      <p:sp>
        <p:nvSpPr>
          <p:cNvPr id="16" name="Shape 14"/>
          <p:cNvSpPr/>
          <p:nvPr/>
        </p:nvSpPr>
        <p:spPr>
          <a:xfrm>
            <a:off x="3459404" y="2404872"/>
            <a:ext cx="650215" cy="2715768"/>
          </a:xfrm>
          <a:prstGeom prst="roundRect">
            <a:avLst>
              <a:gd name="adj" fmla="val 8438"/>
            </a:avLst>
          </a:prstGeom>
          <a:solidFill>
            <a:srgbClr val="D9D2E3"/>
          </a:solidFill>
          <a:ln w="12700">
            <a:solidFill>
              <a:srgbClr val="D9D2E3"/>
            </a:solidFill>
            <a:prstDash val="solid"/>
          </a:ln>
        </p:spPr>
      </p:sp>
      <p:sp>
        <p:nvSpPr>
          <p:cNvPr id="17" name="Text 15"/>
          <p:cNvSpPr txBox="1"/>
          <p:nvPr/>
        </p:nvSpPr>
        <p:spPr>
          <a:xfrm>
            <a:off x="3322244" y="2020824"/>
            <a:ext cx="924535" cy="347472"/>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건록</a:t>
            </a:r>
            <a:endParaRPr lang="en-US" sz="1500" dirty="0"/>
          </a:p>
        </p:txBody>
      </p:sp>
      <p:sp>
        <p:nvSpPr>
          <p:cNvPr id="18" name="Shape 16"/>
          <p:cNvSpPr/>
          <p:nvPr/>
        </p:nvSpPr>
        <p:spPr>
          <a:xfrm>
            <a:off x="3533051" y="5230368"/>
            <a:ext cx="502920" cy="502920"/>
          </a:xfrm>
          <a:prstGeom prst="ellipse">
            <a:avLst/>
          </a:prstGeom>
          <a:solidFill>
            <a:srgbClr val="3F7D4E"/>
          </a:solidFill>
          <a:ln w="12700">
            <a:solidFill>
              <a:srgbClr val="3F7D4E"/>
            </a:solidFill>
            <a:prstDash val="solid"/>
          </a:ln>
        </p:spPr>
      </p:sp>
      <p:sp>
        <p:nvSpPr>
          <p:cNvPr id="19" name="Text 17"/>
          <p:cNvSpPr txBox="1"/>
          <p:nvPr/>
        </p:nvSpPr>
        <p:spPr>
          <a:xfrm>
            <a:off x="3533051" y="523036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寅</a:t>
            </a:r>
            <a:endParaRPr lang="en-US" sz="1700" dirty="0"/>
          </a:p>
        </p:txBody>
      </p:sp>
      <p:sp>
        <p:nvSpPr>
          <p:cNvPr id="20" name="Shape 18"/>
          <p:cNvSpPr/>
          <p:nvPr/>
        </p:nvSpPr>
        <p:spPr>
          <a:xfrm>
            <a:off x="4383938" y="2103120"/>
            <a:ext cx="650215" cy="3017520"/>
          </a:xfrm>
          <a:prstGeom prst="roundRect">
            <a:avLst>
              <a:gd name="adj" fmla="val 8438"/>
            </a:avLst>
          </a:prstGeom>
          <a:solidFill>
            <a:srgbClr val="B23A2E"/>
          </a:solidFill>
          <a:ln w="12700">
            <a:solidFill>
              <a:srgbClr val="B23A2E"/>
            </a:solidFill>
            <a:prstDash val="solid"/>
          </a:ln>
        </p:spPr>
      </p:sp>
      <p:sp>
        <p:nvSpPr>
          <p:cNvPr id="21" name="Text 19"/>
          <p:cNvSpPr txBox="1"/>
          <p:nvPr/>
        </p:nvSpPr>
        <p:spPr>
          <a:xfrm>
            <a:off x="4246778" y="1719072"/>
            <a:ext cx="924535" cy="347472"/>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제왕</a:t>
            </a:r>
            <a:endParaRPr lang="en-US" sz="1500" dirty="0"/>
          </a:p>
        </p:txBody>
      </p:sp>
      <p:sp>
        <p:nvSpPr>
          <p:cNvPr id="22" name="Shape 20"/>
          <p:cNvSpPr/>
          <p:nvPr/>
        </p:nvSpPr>
        <p:spPr>
          <a:xfrm>
            <a:off x="4457586" y="5230368"/>
            <a:ext cx="502920" cy="502920"/>
          </a:xfrm>
          <a:prstGeom prst="ellipse">
            <a:avLst/>
          </a:prstGeom>
          <a:solidFill>
            <a:srgbClr val="3F7D4E"/>
          </a:solidFill>
          <a:ln w="12700">
            <a:solidFill>
              <a:srgbClr val="3F7D4E"/>
            </a:solidFill>
            <a:prstDash val="solid"/>
          </a:ln>
        </p:spPr>
      </p:sp>
      <p:sp>
        <p:nvSpPr>
          <p:cNvPr id="23" name="Text 21"/>
          <p:cNvSpPr txBox="1"/>
          <p:nvPr/>
        </p:nvSpPr>
        <p:spPr>
          <a:xfrm>
            <a:off x="4457586" y="523036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卯</a:t>
            </a:r>
            <a:endParaRPr lang="en-US" sz="1700" dirty="0"/>
          </a:p>
        </p:txBody>
      </p:sp>
      <p:sp>
        <p:nvSpPr>
          <p:cNvPr id="24" name="Shape 22"/>
          <p:cNvSpPr/>
          <p:nvPr/>
        </p:nvSpPr>
        <p:spPr>
          <a:xfrm>
            <a:off x="5308473" y="2706624"/>
            <a:ext cx="650215" cy="2414016"/>
          </a:xfrm>
          <a:prstGeom prst="roundRect">
            <a:avLst>
              <a:gd name="adj" fmla="val 8438"/>
            </a:avLst>
          </a:prstGeom>
          <a:solidFill>
            <a:srgbClr val="D9D2E3"/>
          </a:solidFill>
          <a:ln w="12700">
            <a:solidFill>
              <a:srgbClr val="D9D2E3"/>
            </a:solidFill>
            <a:prstDash val="solid"/>
          </a:ln>
        </p:spPr>
      </p:sp>
      <p:sp>
        <p:nvSpPr>
          <p:cNvPr id="25" name="Text 23"/>
          <p:cNvSpPr txBox="1"/>
          <p:nvPr/>
        </p:nvSpPr>
        <p:spPr>
          <a:xfrm>
            <a:off x="5171313" y="2322576"/>
            <a:ext cx="924535" cy="347472"/>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쇠</a:t>
            </a:r>
            <a:endParaRPr lang="en-US" sz="1500" dirty="0"/>
          </a:p>
        </p:txBody>
      </p:sp>
      <p:sp>
        <p:nvSpPr>
          <p:cNvPr id="26" name="Shape 24"/>
          <p:cNvSpPr/>
          <p:nvPr/>
        </p:nvSpPr>
        <p:spPr>
          <a:xfrm>
            <a:off x="5382120" y="5230368"/>
            <a:ext cx="502920" cy="502920"/>
          </a:xfrm>
          <a:prstGeom prst="ellipse">
            <a:avLst/>
          </a:prstGeom>
          <a:solidFill>
            <a:srgbClr val="B8892A"/>
          </a:solidFill>
          <a:ln w="12700">
            <a:solidFill>
              <a:srgbClr val="B8892A"/>
            </a:solidFill>
            <a:prstDash val="solid"/>
          </a:ln>
        </p:spPr>
      </p:sp>
      <p:sp>
        <p:nvSpPr>
          <p:cNvPr id="27" name="Text 25"/>
          <p:cNvSpPr txBox="1"/>
          <p:nvPr/>
        </p:nvSpPr>
        <p:spPr>
          <a:xfrm>
            <a:off x="5382120" y="523036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辰</a:t>
            </a:r>
            <a:endParaRPr lang="en-US" sz="1700" dirty="0"/>
          </a:p>
        </p:txBody>
      </p:sp>
      <p:sp>
        <p:nvSpPr>
          <p:cNvPr id="28" name="Shape 26"/>
          <p:cNvSpPr/>
          <p:nvPr/>
        </p:nvSpPr>
        <p:spPr>
          <a:xfrm>
            <a:off x="6233008" y="3310128"/>
            <a:ext cx="650215" cy="1810512"/>
          </a:xfrm>
          <a:prstGeom prst="roundRect">
            <a:avLst>
              <a:gd name="adj" fmla="val 8438"/>
            </a:avLst>
          </a:prstGeom>
          <a:solidFill>
            <a:srgbClr val="D9D2E3"/>
          </a:solidFill>
          <a:ln w="12700">
            <a:solidFill>
              <a:srgbClr val="D9D2E3"/>
            </a:solidFill>
            <a:prstDash val="solid"/>
          </a:ln>
        </p:spPr>
      </p:sp>
      <p:sp>
        <p:nvSpPr>
          <p:cNvPr id="29" name="Text 27"/>
          <p:cNvSpPr txBox="1"/>
          <p:nvPr/>
        </p:nvSpPr>
        <p:spPr>
          <a:xfrm>
            <a:off x="6095848" y="2926080"/>
            <a:ext cx="924535" cy="347472"/>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병</a:t>
            </a:r>
            <a:endParaRPr lang="en-US" sz="1500" dirty="0"/>
          </a:p>
        </p:txBody>
      </p:sp>
      <p:sp>
        <p:nvSpPr>
          <p:cNvPr id="30" name="Shape 28"/>
          <p:cNvSpPr/>
          <p:nvPr/>
        </p:nvSpPr>
        <p:spPr>
          <a:xfrm>
            <a:off x="6306655" y="5230368"/>
            <a:ext cx="502920" cy="502920"/>
          </a:xfrm>
          <a:prstGeom prst="ellipse">
            <a:avLst/>
          </a:prstGeom>
          <a:solidFill>
            <a:srgbClr val="C0392B"/>
          </a:solidFill>
          <a:ln w="12700">
            <a:solidFill>
              <a:srgbClr val="C0392B"/>
            </a:solidFill>
            <a:prstDash val="solid"/>
          </a:ln>
        </p:spPr>
      </p:sp>
      <p:sp>
        <p:nvSpPr>
          <p:cNvPr id="31" name="Text 29"/>
          <p:cNvSpPr txBox="1"/>
          <p:nvPr/>
        </p:nvSpPr>
        <p:spPr>
          <a:xfrm>
            <a:off x="6306655" y="523036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巳</a:t>
            </a:r>
            <a:endParaRPr lang="en-US" sz="1700" dirty="0"/>
          </a:p>
        </p:txBody>
      </p:sp>
      <p:sp>
        <p:nvSpPr>
          <p:cNvPr id="32" name="Shape 30"/>
          <p:cNvSpPr/>
          <p:nvPr/>
        </p:nvSpPr>
        <p:spPr>
          <a:xfrm>
            <a:off x="7157542" y="3913632"/>
            <a:ext cx="650215" cy="1207008"/>
          </a:xfrm>
          <a:prstGeom prst="roundRect">
            <a:avLst>
              <a:gd name="adj" fmla="val 8438"/>
            </a:avLst>
          </a:prstGeom>
          <a:solidFill>
            <a:srgbClr val="D9D2E3"/>
          </a:solidFill>
          <a:ln w="12700">
            <a:solidFill>
              <a:srgbClr val="D9D2E3"/>
            </a:solidFill>
            <a:prstDash val="solid"/>
          </a:ln>
        </p:spPr>
      </p:sp>
      <p:sp>
        <p:nvSpPr>
          <p:cNvPr id="33" name="Text 31"/>
          <p:cNvSpPr txBox="1"/>
          <p:nvPr/>
        </p:nvSpPr>
        <p:spPr>
          <a:xfrm>
            <a:off x="7020382" y="3529584"/>
            <a:ext cx="924535" cy="347472"/>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사</a:t>
            </a:r>
            <a:endParaRPr lang="en-US" sz="1500" dirty="0"/>
          </a:p>
        </p:txBody>
      </p:sp>
      <p:sp>
        <p:nvSpPr>
          <p:cNvPr id="34" name="Shape 32"/>
          <p:cNvSpPr/>
          <p:nvPr/>
        </p:nvSpPr>
        <p:spPr>
          <a:xfrm>
            <a:off x="7231189" y="5230368"/>
            <a:ext cx="502920" cy="502920"/>
          </a:xfrm>
          <a:prstGeom prst="ellipse">
            <a:avLst/>
          </a:prstGeom>
          <a:solidFill>
            <a:srgbClr val="C0392B"/>
          </a:solidFill>
          <a:ln w="12700">
            <a:solidFill>
              <a:srgbClr val="C0392B"/>
            </a:solidFill>
            <a:prstDash val="solid"/>
          </a:ln>
        </p:spPr>
      </p:sp>
      <p:sp>
        <p:nvSpPr>
          <p:cNvPr id="35" name="Text 33"/>
          <p:cNvSpPr txBox="1"/>
          <p:nvPr/>
        </p:nvSpPr>
        <p:spPr>
          <a:xfrm>
            <a:off x="7231189" y="523036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午</a:t>
            </a:r>
            <a:endParaRPr lang="en-US" sz="1700" dirty="0"/>
          </a:p>
        </p:txBody>
      </p:sp>
      <p:sp>
        <p:nvSpPr>
          <p:cNvPr id="36" name="Shape 34"/>
          <p:cNvSpPr/>
          <p:nvPr/>
        </p:nvSpPr>
        <p:spPr>
          <a:xfrm>
            <a:off x="8082077" y="4215384"/>
            <a:ext cx="650215" cy="905256"/>
          </a:xfrm>
          <a:prstGeom prst="roundRect">
            <a:avLst>
              <a:gd name="adj" fmla="val 8438"/>
            </a:avLst>
          </a:prstGeom>
          <a:solidFill>
            <a:srgbClr val="D9D2E3"/>
          </a:solidFill>
          <a:ln w="12700">
            <a:solidFill>
              <a:srgbClr val="D9D2E3"/>
            </a:solidFill>
            <a:prstDash val="solid"/>
          </a:ln>
        </p:spPr>
      </p:sp>
      <p:sp>
        <p:nvSpPr>
          <p:cNvPr id="37" name="Text 35"/>
          <p:cNvSpPr txBox="1"/>
          <p:nvPr/>
        </p:nvSpPr>
        <p:spPr>
          <a:xfrm>
            <a:off x="7944917" y="3831336"/>
            <a:ext cx="924535" cy="347472"/>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묘</a:t>
            </a:r>
            <a:endParaRPr lang="en-US" sz="1500" dirty="0"/>
          </a:p>
        </p:txBody>
      </p:sp>
      <p:sp>
        <p:nvSpPr>
          <p:cNvPr id="38" name="Shape 36"/>
          <p:cNvSpPr/>
          <p:nvPr/>
        </p:nvSpPr>
        <p:spPr>
          <a:xfrm>
            <a:off x="8155724" y="5230368"/>
            <a:ext cx="502920" cy="502920"/>
          </a:xfrm>
          <a:prstGeom prst="ellipse">
            <a:avLst/>
          </a:prstGeom>
          <a:solidFill>
            <a:srgbClr val="B8892A"/>
          </a:solidFill>
          <a:ln w="12700">
            <a:solidFill>
              <a:srgbClr val="B8892A"/>
            </a:solidFill>
            <a:prstDash val="solid"/>
          </a:ln>
        </p:spPr>
      </p:sp>
      <p:sp>
        <p:nvSpPr>
          <p:cNvPr id="39" name="Text 37"/>
          <p:cNvSpPr txBox="1"/>
          <p:nvPr/>
        </p:nvSpPr>
        <p:spPr>
          <a:xfrm>
            <a:off x="8155724" y="523036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未</a:t>
            </a:r>
            <a:endParaRPr lang="en-US" sz="1700" dirty="0"/>
          </a:p>
        </p:txBody>
      </p:sp>
      <p:sp>
        <p:nvSpPr>
          <p:cNvPr id="40" name="Shape 38"/>
          <p:cNvSpPr/>
          <p:nvPr/>
        </p:nvSpPr>
        <p:spPr>
          <a:xfrm>
            <a:off x="9006611" y="4758538"/>
            <a:ext cx="650215" cy="362102"/>
          </a:xfrm>
          <a:prstGeom prst="roundRect">
            <a:avLst>
              <a:gd name="adj" fmla="val 15152"/>
            </a:avLst>
          </a:prstGeom>
          <a:solidFill>
            <a:srgbClr val="D9D2E3"/>
          </a:solidFill>
          <a:ln w="12700">
            <a:solidFill>
              <a:srgbClr val="D9D2E3"/>
            </a:solidFill>
            <a:prstDash val="solid"/>
          </a:ln>
        </p:spPr>
      </p:sp>
      <p:sp>
        <p:nvSpPr>
          <p:cNvPr id="41" name="Text 39"/>
          <p:cNvSpPr txBox="1"/>
          <p:nvPr/>
        </p:nvSpPr>
        <p:spPr>
          <a:xfrm>
            <a:off x="8869451" y="4374490"/>
            <a:ext cx="924535" cy="347472"/>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절</a:t>
            </a:r>
            <a:endParaRPr lang="en-US" sz="1500" dirty="0"/>
          </a:p>
        </p:txBody>
      </p:sp>
      <p:sp>
        <p:nvSpPr>
          <p:cNvPr id="42" name="Shape 40"/>
          <p:cNvSpPr/>
          <p:nvPr/>
        </p:nvSpPr>
        <p:spPr>
          <a:xfrm>
            <a:off x="9080259" y="5230368"/>
            <a:ext cx="502920" cy="502920"/>
          </a:xfrm>
          <a:prstGeom prst="ellipse">
            <a:avLst/>
          </a:prstGeom>
          <a:solidFill>
            <a:srgbClr val="6E737B"/>
          </a:solidFill>
          <a:ln w="12700">
            <a:solidFill>
              <a:srgbClr val="6E737B"/>
            </a:solidFill>
            <a:prstDash val="solid"/>
          </a:ln>
        </p:spPr>
      </p:sp>
      <p:sp>
        <p:nvSpPr>
          <p:cNvPr id="43" name="Text 41"/>
          <p:cNvSpPr txBox="1"/>
          <p:nvPr/>
        </p:nvSpPr>
        <p:spPr>
          <a:xfrm>
            <a:off x="9080259" y="523036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申</a:t>
            </a:r>
            <a:endParaRPr lang="en-US" sz="1700" dirty="0"/>
          </a:p>
        </p:txBody>
      </p:sp>
      <p:sp>
        <p:nvSpPr>
          <p:cNvPr id="44" name="Shape 42"/>
          <p:cNvSpPr/>
          <p:nvPr/>
        </p:nvSpPr>
        <p:spPr>
          <a:xfrm>
            <a:off x="9931146" y="4517136"/>
            <a:ext cx="650215" cy="603504"/>
          </a:xfrm>
          <a:prstGeom prst="roundRect">
            <a:avLst>
              <a:gd name="adj" fmla="val 9091"/>
            </a:avLst>
          </a:prstGeom>
          <a:solidFill>
            <a:srgbClr val="D9D2E3"/>
          </a:solidFill>
          <a:ln w="12700">
            <a:solidFill>
              <a:srgbClr val="D9D2E3"/>
            </a:solidFill>
            <a:prstDash val="solid"/>
          </a:ln>
        </p:spPr>
      </p:sp>
      <p:sp>
        <p:nvSpPr>
          <p:cNvPr id="45" name="Text 43"/>
          <p:cNvSpPr txBox="1"/>
          <p:nvPr/>
        </p:nvSpPr>
        <p:spPr>
          <a:xfrm>
            <a:off x="9793986" y="4133088"/>
            <a:ext cx="924535" cy="347472"/>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태</a:t>
            </a:r>
            <a:endParaRPr lang="en-US" sz="1500" dirty="0"/>
          </a:p>
        </p:txBody>
      </p:sp>
      <p:sp>
        <p:nvSpPr>
          <p:cNvPr id="46" name="Shape 44"/>
          <p:cNvSpPr/>
          <p:nvPr/>
        </p:nvSpPr>
        <p:spPr>
          <a:xfrm>
            <a:off x="10004793" y="5230368"/>
            <a:ext cx="502920" cy="502920"/>
          </a:xfrm>
          <a:prstGeom prst="ellipse">
            <a:avLst/>
          </a:prstGeom>
          <a:solidFill>
            <a:srgbClr val="6E737B"/>
          </a:solidFill>
          <a:ln w="12700">
            <a:solidFill>
              <a:srgbClr val="6E737B"/>
            </a:solidFill>
            <a:prstDash val="solid"/>
          </a:ln>
        </p:spPr>
      </p:sp>
      <p:sp>
        <p:nvSpPr>
          <p:cNvPr id="47" name="Text 45"/>
          <p:cNvSpPr txBox="1"/>
          <p:nvPr/>
        </p:nvSpPr>
        <p:spPr>
          <a:xfrm>
            <a:off x="10004793" y="523036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酉</a:t>
            </a:r>
            <a:endParaRPr lang="en-US" sz="1700" dirty="0"/>
          </a:p>
        </p:txBody>
      </p:sp>
      <p:sp>
        <p:nvSpPr>
          <p:cNvPr id="48" name="Shape 46"/>
          <p:cNvSpPr/>
          <p:nvPr/>
        </p:nvSpPr>
        <p:spPr>
          <a:xfrm>
            <a:off x="10855681" y="4064508"/>
            <a:ext cx="650215" cy="1056132"/>
          </a:xfrm>
          <a:prstGeom prst="roundRect">
            <a:avLst>
              <a:gd name="adj" fmla="val 8438"/>
            </a:avLst>
          </a:prstGeom>
          <a:solidFill>
            <a:srgbClr val="D9D2E3"/>
          </a:solidFill>
          <a:ln w="12700">
            <a:solidFill>
              <a:srgbClr val="D9D2E3"/>
            </a:solidFill>
            <a:prstDash val="solid"/>
          </a:ln>
        </p:spPr>
      </p:sp>
      <p:sp>
        <p:nvSpPr>
          <p:cNvPr id="49" name="Text 47"/>
          <p:cNvSpPr txBox="1"/>
          <p:nvPr/>
        </p:nvSpPr>
        <p:spPr>
          <a:xfrm>
            <a:off x="10718521" y="3680460"/>
            <a:ext cx="924535" cy="347472"/>
          </a:xfrm>
          <a:prstGeom prst="rect">
            <a:avLst/>
          </a:prstGeom>
          <a:noFill/>
          <a:ln/>
        </p:spPr>
        <p:txBody>
          <a:bodyPr wrap="square" lIns="0" tIns="0" rIns="0" bIns="0" rtlCol="0" anchor="ct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양</a:t>
            </a:r>
            <a:endParaRPr lang="en-US" sz="1500" dirty="0"/>
          </a:p>
        </p:txBody>
      </p:sp>
      <p:sp>
        <p:nvSpPr>
          <p:cNvPr id="50" name="Shape 48"/>
          <p:cNvSpPr/>
          <p:nvPr/>
        </p:nvSpPr>
        <p:spPr>
          <a:xfrm>
            <a:off x="10929328" y="5230368"/>
            <a:ext cx="502920" cy="502920"/>
          </a:xfrm>
          <a:prstGeom prst="ellipse">
            <a:avLst/>
          </a:prstGeom>
          <a:solidFill>
            <a:srgbClr val="B8892A"/>
          </a:solidFill>
          <a:ln w="12700">
            <a:solidFill>
              <a:srgbClr val="B8892A"/>
            </a:solidFill>
            <a:prstDash val="solid"/>
          </a:ln>
        </p:spPr>
      </p:sp>
      <p:sp>
        <p:nvSpPr>
          <p:cNvPr id="51" name="Text 49"/>
          <p:cNvSpPr txBox="1"/>
          <p:nvPr/>
        </p:nvSpPr>
        <p:spPr>
          <a:xfrm>
            <a:off x="10929328" y="5230368"/>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戌</a:t>
            </a:r>
            <a:endParaRPr lang="en-US" sz="1700" dirty="0"/>
          </a:p>
        </p:txBody>
      </p:sp>
      <p:sp>
        <p:nvSpPr>
          <p:cNvPr id="52" name="Text 50"/>
          <p:cNvSpPr txBox="1"/>
          <p:nvPr/>
        </p:nvSpPr>
        <p:spPr>
          <a:xfrm>
            <a:off x="548640" y="5852160"/>
            <a:ext cx="11094415" cy="365760"/>
          </a:xfrm>
          <a:prstGeom prst="rect">
            <a:avLst/>
          </a:prstGeom>
          <a:noFill/>
          <a:ln/>
        </p:spPr>
        <p:txBody>
          <a:bodyPr wrap="square" lIns="0" tIns="0" rIns="0" bIns="0" rtlCol="0" anchor="ctr"/>
          <a:lstStyle/>
          <a:p>
            <a:pPr algn="ctr" indent="0" marL="0">
              <a:buNone/>
            </a:pPr>
            <a:r>
              <a:rPr lang="en-US" sz="1300" dirty="0">
                <a:solidFill>
                  <a:srgbClr val="6B6778"/>
                </a:solidFill>
                <a:latin typeface="Malgun Gothic" pitchFamily="34" charset="0"/>
                <a:ea typeface="Malgun Gothic" pitchFamily="34" charset="-122"/>
                <a:cs typeface="Malgun Gothic" pitchFamily="34" charset="-120"/>
              </a:rPr>
              <a:t>양간(甲·丙·戊·庚·壬)은 순행, 음간(乙·丁·己·辛·癸)은 역행  ·  乙은 午에서 장생  ·  戊·己는 丙·丁을 따름</a:t>
            </a:r>
            <a:endParaRPr lang="en-US" sz="1300" dirty="0"/>
          </a:p>
        </p:txBody>
      </p:sp>
      <p:sp>
        <p:nvSpPr>
          <p:cNvPr id="53" name="Text 51"/>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54" name="Text 52"/>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04</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12운성과 인간의 성품</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주로 생일 간지의 12운성으로 본다</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04 12운성과 성품</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12운성과 성품 ① — 성장기</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737360"/>
                <a:gridCol w="3291840"/>
                <a:gridCol w="6062472"/>
              </a:tblGrid>
              <a:tr h="585216">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운성</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자연 · 인생의 비유</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성품</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장생 長生</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태어남, 새싹</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원기 왕성, 호기심, 창의·진취, 총명, 개척정신. 자존심이 강하나 온화</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목욕 沐浴</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소년기·사춘기 (일명 敗)</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정서 불안정, 유행에 민감, 방탕 가능, 이사가 잦고 싫증이 빠름</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관대 冠帶</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성년이 되어 사회에 나감</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명예욕, 풍부한 지식, 지기 싫어함, 정의감, 지도자 기질</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건록 建祿</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관직에 올라 녹을 받음</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어질고 총명, 공명정대한 인격자, 새것을 창조</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제왕 帝旺</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기운의 절정, 장년과 노년의 분기점</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유아독존, 자존심·자신감·실천력. 투쟁적이고 독선적</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쇠 衰</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육신이 쇠퇴하기 시작</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소극·보수, 은근한 시기심. 선량한 평화주의자, 학자·승려 기질</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6" name="Text 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04 12운성과 성품</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12운성과 성품 ② — 소멸과 재생</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737360"/>
                <a:gridCol w="3291840"/>
                <a:gridCol w="6062472"/>
              </a:tblGrid>
              <a:tr h="585216">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운성</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자연 · 인생의 비유</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성품</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병 病</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노년에 육신이 병듦</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질투·신경질·결벽증, 다정다감·동정심. 심신이 여리고 우유부단</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사 死</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육신과 영혼의 분리</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근심과 조급함. 정직하고 순리를 따름. 귀가 얇아 사기를 당하기 쉬움</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묘 墓</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무덤에 들어감 (혼은 하늘로, 백은 땅으로)</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원만·침착하나 내성적, 외로움, 종교심. 재물욕이 강함</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절 絶</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영과 육이 갈라짐, 끊어졌다 다시 태어남</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외부 충격에 약함, 산만·불안정, 잘 속음. 격정적이면서 소심</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태 胎</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다시 잉태됨</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보호 본능, 영감과 기억력이 비상. 처세 부족, 농담을 즐김, 의존적</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양 養</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모체 안에서 자라는 만삭의 태아</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착하고 성실·낙천, 사교적, 남을 잘 도움. 인내 부족, 예민</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6" name="Text 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부록</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부록 맛보기 — 60갑자와 성격</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원리</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사람은 태어난 날(생일)의 간지에서 큰 영향을 받는다. 흰 천을 오색 물감에 담그듯 천간과 지지의 본성·속성이 섞여 몸에 밴다.</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구성</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01 甲子부터 60 癸亥까지 하나씩 성격을 설명한다. 여덟 글자 전체를 풀기 전의 참고 사항.</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예: 01 甲子</a:t>
            </a:r>
            <a:endParaRPr lang="en-US" sz="1900" dirty="0"/>
          </a:p>
          <a:p>
            <a:pPr indent="0" marL="0">
              <a:lnSpc>
                <a:spcPct val="115000"/>
              </a:lnSpc>
              <a:buNone/>
            </a:pPr>
            <a:r>
              <a:rPr lang="en-US" sz="1700" dirty="0">
                <a:solidFill>
                  <a:srgbClr val="6B6778"/>
                </a:solidFill>
                <a:latin typeface="Malgun Gothic" pitchFamily="34" charset="0"/>
                <a:ea typeface="Malgun Gothic" pitchFamily="34" charset="-122"/>
                <a:cs typeface="Malgun Gothic" pitchFamily="34" charset="-120"/>
              </a:rPr>
              <a:t>甲은 껍질을 터뜨리는 강력한 양기. 우주적 모태가 자궁문을 여는 힘 — 아이의 출산, 병아리의 부화, 씨눈의 발아로 이어진다.</a:t>
            </a:r>
            <a:endParaRPr lang="en-US" sz="19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3F7D4E"/>
          </a:solidFill>
          <a:ln w="12700">
            <a:solidFill>
              <a:srgbClr val="3F7D4E"/>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4800" b="1" dirty="0">
                <a:solidFill>
                  <a:srgbClr val="FFFFFF"/>
                </a:solidFill>
                <a:latin typeface="Malgun Gothic" pitchFamily="34" charset="0"/>
                <a:ea typeface="Malgun Gothic" pitchFamily="34" charset="-122"/>
                <a:cs typeface="Malgun Gothic" pitchFamily="34" charset="-120"/>
              </a:rPr>
              <a:t>甲子</a:t>
            </a:r>
            <a:endParaRPr lang="en-US" sz="48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스터디 과제:</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내 생일 간지 찾아서</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부록 해당 항목 읽어 오기</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정리</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핵심 정리</a:t>
            </a:r>
            <a:endParaRPr lang="en-US" sz="3000" dirty="0"/>
          </a:p>
        </p:txBody>
      </p:sp>
      <p:sp>
        <p:nvSpPr>
          <p:cNvPr id="4" name="Shape 2"/>
          <p:cNvSpPr/>
          <p:nvPr/>
        </p:nvSpPr>
        <p:spPr>
          <a:xfrm>
            <a:off x="548640" y="1746504"/>
            <a:ext cx="457200" cy="457200"/>
          </a:xfrm>
          <a:prstGeom prst="ellipse">
            <a:avLst/>
          </a:prstGeom>
          <a:solidFill>
            <a:srgbClr val="B23A2E"/>
          </a:solidFill>
          <a:ln w="12700">
            <a:solidFill>
              <a:srgbClr val="B23A2E"/>
            </a:solidFill>
            <a:prstDash val="solid"/>
          </a:ln>
        </p:spPr>
      </p:sp>
      <p:sp>
        <p:nvSpPr>
          <p:cNvPr id="5" name="Text 3"/>
          <p:cNvSpPr txBox="1"/>
          <p:nvPr/>
        </p:nvSpPr>
        <p:spPr>
          <a:xfrm>
            <a:off x="548640" y="17465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6" name="Text 4"/>
          <p:cNvSpPr txBox="1"/>
          <p:nvPr/>
        </p:nvSpPr>
        <p:spPr>
          <a:xfrm>
            <a:off x="1234440" y="1600200"/>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육십갑자: 천간과 지지를 양은 양끼리, 음은 음끼리 짝지은 60개 — 시간과 천지 기운을 함께 기록</a:t>
            </a:r>
            <a:endParaRPr lang="en-US" sz="1600" dirty="0"/>
          </a:p>
        </p:txBody>
      </p:sp>
      <p:sp>
        <p:nvSpPr>
          <p:cNvPr id="7" name="Shape 5"/>
          <p:cNvSpPr/>
          <p:nvPr/>
        </p:nvSpPr>
        <p:spPr>
          <a:xfrm>
            <a:off x="548640" y="2496312"/>
            <a:ext cx="457200" cy="457200"/>
          </a:xfrm>
          <a:prstGeom prst="ellipse">
            <a:avLst/>
          </a:prstGeom>
          <a:solidFill>
            <a:srgbClr val="B23A2E"/>
          </a:solidFill>
          <a:ln w="12700">
            <a:solidFill>
              <a:srgbClr val="B23A2E"/>
            </a:solidFill>
            <a:prstDash val="solid"/>
          </a:ln>
        </p:spPr>
      </p:sp>
      <p:sp>
        <p:nvSpPr>
          <p:cNvPr id="8" name="Text 6"/>
          <p:cNvSpPr txBox="1"/>
          <p:nvPr/>
        </p:nvSpPr>
        <p:spPr>
          <a:xfrm>
            <a:off x="548640" y="24963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9" name="Text 7"/>
          <p:cNvSpPr txBox="1"/>
          <p:nvPr/>
        </p:nvSpPr>
        <p:spPr>
          <a:xfrm>
            <a:off x="1234440" y="2350008"/>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통근: 천간이 지지에 뿌리를 내림 — 같은 오행(强) · 생하는 오행(中强) · 품은 지지(微弱)</a:t>
            </a:r>
            <a:endParaRPr lang="en-US" sz="1600" dirty="0"/>
          </a:p>
        </p:txBody>
      </p:sp>
      <p:sp>
        <p:nvSpPr>
          <p:cNvPr id="10" name="Shape 8"/>
          <p:cNvSpPr/>
          <p:nvPr/>
        </p:nvSpPr>
        <p:spPr>
          <a:xfrm>
            <a:off x="548640" y="3246120"/>
            <a:ext cx="457200" cy="457200"/>
          </a:xfrm>
          <a:prstGeom prst="ellipse">
            <a:avLst/>
          </a:prstGeom>
          <a:solidFill>
            <a:srgbClr val="B23A2E"/>
          </a:solidFill>
          <a:ln w="12700">
            <a:solidFill>
              <a:srgbClr val="B23A2E"/>
            </a:solidFill>
            <a:prstDash val="solid"/>
          </a:ln>
        </p:spPr>
      </p:sp>
      <p:sp>
        <p:nvSpPr>
          <p:cNvPr id="11" name="Text 9"/>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12" name="Text 10"/>
          <p:cNvSpPr txBox="1"/>
          <p:nvPr/>
        </p:nvSpPr>
        <p:spPr>
          <a:xfrm>
            <a:off x="1234440" y="3099816"/>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일간이 월지에 통근하면 성정이 매우 강하다</a:t>
            </a:r>
            <a:endParaRPr lang="en-US" sz="1600" dirty="0"/>
          </a:p>
        </p:txBody>
      </p:sp>
      <p:sp>
        <p:nvSpPr>
          <p:cNvPr id="13" name="Shape 11"/>
          <p:cNvSpPr/>
          <p:nvPr/>
        </p:nvSpPr>
        <p:spPr>
          <a:xfrm>
            <a:off x="548640" y="3995928"/>
            <a:ext cx="457200" cy="457200"/>
          </a:xfrm>
          <a:prstGeom prst="ellipse">
            <a:avLst/>
          </a:prstGeom>
          <a:solidFill>
            <a:srgbClr val="B23A2E"/>
          </a:solidFill>
          <a:ln w="12700">
            <a:solidFill>
              <a:srgbClr val="B23A2E"/>
            </a:solidFill>
            <a:prstDash val="solid"/>
          </a:ln>
        </p:spPr>
      </p:sp>
      <p:sp>
        <p:nvSpPr>
          <p:cNvPr id="14" name="Text 12"/>
          <p:cNvSpPr txBox="1"/>
          <p:nvPr/>
        </p:nvSpPr>
        <p:spPr>
          <a:xfrm>
            <a:off x="548640" y="39959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15" name="Text 13"/>
          <p:cNvSpPr txBox="1"/>
          <p:nvPr/>
        </p:nvSpPr>
        <p:spPr>
          <a:xfrm>
            <a:off x="1234440" y="3849624"/>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12운성: 장생·목욕·관대·건록·제왕·쇠·병·사·묘·절·태·양 — 양간은 순행, 음간은 역행</a:t>
            </a:r>
            <a:endParaRPr lang="en-US" sz="1600" dirty="0"/>
          </a:p>
        </p:txBody>
      </p:sp>
      <p:sp>
        <p:nvSpPr>
          <p:cNvPr id="16" name="Shape 14"/>
          <p:cNvSpPr/>
          <p:nvPr/>
        </p:nvSpPr>
        <p:spPr>
          <a:xfrm>
            <a:off x="548640" y="4745736"/>
            <a:ext cx="457200" cy="457200"/>
          </a:xfrm>
          <a:prstGeom prst="ellipse">
            <a:avLst/>
          </a:prstGeom>
          <a:solidFill>
            <a:srgbClr val="B23A2E"/>
          </a:solidFill>
          <a:ln w="12700">
            <a:solidFill>
              <a:srgbClr val="B23A2E"/>
            </a:solidFill>
            <a:prstDash val="solid"/>
          </a:ln>
        </p:spPr>
      </p:sp>
      <p:sp>
        <p:nvSpPr>
          <p:cNvPr id="17" name="Text 15"/>
          <p:cNvSpPr txBox="1"/>
          <p:nvPr/>
        </p:nvSpPr>
        <p:spPr>
          <a:xfrm>
            <a:off x="548640" y="47457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18" name="Text 16"/>
          <p:cNvSpPr txBox="1"/>
          <p:nvPr/>
        </p:nvSpPr>
        <p:spPr>
          <a:xfrm>
            <a:off x="1234440" y="4599432"/>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성품은 주로 생일 간지의 12운성으로 짐작한다 (여덟 글자 전체 판단 전의 참고)</a:t>
            </a:r>
            <a:endParaRPr lang="en-US" sz="1600" dirty="0"/>
          </a:p>
        </p:txBody>
      </p:sp>
      <p:sp>
        <p:nvSpPr>
          <p:cNvPr id="19" name="Text 17"/>
          <p:cNvSpPr txBox="1"/>
          <p:nvPr/>
        </p:nvSpPr>
        <p:spPr>
          <a:xfrm>
            <a:off x="548640" y="5532120"/>
            <a:ext cx="11094415" cy="640080"/>
          </a:xfrm>
          <a:prstGeom prst="rect">
            <a:avLst/>
          </a:prstGeom>
          <a:solidFill>
            <a:srgbClr val="F3F1F6"/>
          </a:solidFill>
          <a:ln/>
        </p:spPr>
        <p:txBody>
          <a:bodyPr wrap="square" lIns="0" tIns="2540" rIns="2540" bIns="0" rtlCol="0" anchor="ctr"/>
          <a:lstStyle/>
          <a:p>
            <a:pPr indent="0" marL="0">
              <a:buNone/>
            </a:pPr>
            <a:r>
              <a:rPr lang="en-US" sz="1500" b="1" dirty="0">
                <a:solidFill>
                  <a:srgbClr val="B23A2E"/>
                </a:solidFill>
                <a:latin typeface="Malgun Gothic" pitchFamily="34" charset="0"/>
                <a:ea typeface="Malgun Gothic" pitchFamily="34" charset="-122"/>
                <a:cs typeface="Malgun Gothic" pitchFamily="34" charset="-120"/>
              </a:rPr>
              <a:t>다음 시간  </a:t>
            </a:r>
            <a:pPr indent="0" marL="0">
              <a:buNone/>
            </a:pPr>
            <a:r>
              <a:rPr lang="en-US" sz="1500" dirty="0">
                <a:solidFill>
                  <a:srgbClr val="22212A"/>
                </a:solidFill>
                <a:latin typeface="Malgun Gothic" pitchFamily="34" charset="0"/>
                <a:ea typeface="Malgun Gothic" pitchFamily="34" charset="-122"/>
                <a:cs typeface="Malgun Gothic" pitchFamily="34" charset="-120"/>
              </a:rPr>
              <a:t>제5장 의명학 공식 — 여덟 글자를 세우고 대운을 계산해 풀이하기</a:t>
            </a:r>
            <a:endParaRPr lang="en-US" sz="1500" dirty="0"/>
          </a:p>
        </p:txBody>
      </p:sp>
      <p:sp>
        <p:nvSpPr>
          <p:cNvPr id="20" name="Text 18"/>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21" name="Text 1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731520"/>
          </a:xfrm>
          <a:prstGeom prst="rect">
            <a:avLst/>
          </a:prstGeom>
          <a:noFill/>
          <a:ln/>
        </p:spPr>
        <p:txBody>
          <a:bodyPr wrap="square" lIns="0" tIns="0" rIns="0" bIns="0" rtlCol="0" anchor="ctr"/>
          <a:lstStyle/>
          <a:p>
            <a:pPr indent="0" marL="0">
              <a:buNone/>
            </a:pPr>
            <a:r>
              <a:rPr lang="en-US" sz="3200" b="1" dirty="0">
                <a:solidFill>
                  <a:srgbClr val="F4F1EA"/>
                </a:solidFill>
                <a:latin typeface="Malgun Gothic" pitchFamily="34" charset="0"/>
                <a:ea typeface="Malgun Gothic" pitchFamily="34" charset="-122"/>
                <a:cs typeface="Malgun Gothic" pitchFamily="34" charset="-120"/>
              </a:rPr>
              <a:t>함께 생각해 볼 질문</a:t>
            </a:r>
            <a:endParaRPr lang="en-US" sz="3200" dirty="0"/>
          </a:p>
        </p:txBody>
      </p:sp>
      <p:sp>
        <p:nvSpPr>
          <p:cNvPr id="3" name="Shape 1"/>
          <p:cNvSpPr/>
          <p:nvPr/>
        </p:nvSpPr>
        <p:spPr>
          <a:xfrm>
            <a:off x="548640" y="1874520"/>
            <a:ext cx="594360" cy="594360"/>
          </a:xfrm>
          <a:prstGeom prst="ellipse">
            <a:avLst/>
          </a:prstGeom>
          <a:solidFill>
            <a:srgbClr val="B23A2E"/>
          </a:solidFill>
          <a:ln w="12700">
            <a:solidFill>
              <a:srgbClr val="B23A2E"/>
            </a:solidFill>
            <a:prstDash val="solid"/>
          </a:ln>
        </p:spPr>
      </p:sp>
      <p:sp>
        <p:nvSpPr>
          <p:cNvPr id="4" name="Text 2"/>
          <p:cNvSpPr txBox="1"/>
          <p:nvPr/>
        </p:nvSpPr>
        <p:spPr>
          <a:xfrm>
            <a:off x="548640" y="187452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Q1</a:t>
            </a:r>
            <a:endParaRPr lang="en-US" sz="1500" dirty="0"/>
          </a:p>
        </p:txBody>
      </p:sp>
      <p:sp>
        <p:nvSpPr>
          <p:cNvPr id="5" name="Text 3"/>
          <p:cNvSpPr txBox="1"/>
          <p:nvPr/>
        </p:nvSpPr>
        <p:spPr>
          <a:xfrm>
            <a:off x="1371600" y="164592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육십갑자가 "시간과 공간을 함께 기록한다"는 말은 무슨 뜻일까요?</a:t>
            </a:r>
            <a:endParaRPr lang="en-US" sz="1700" dirty="0"/>
          </a:p>
        </p:txBody>
      </p:sp>
      <p:sp>
        <p:nvSpPr>
          <p:cNvPr id="6" name="Shape 4"/>
          <p:cNvSpPr/>
          <p:nvPr/>
        </p:nvSpPr>
        <p:spPr>
          <a:xfrm>
            <a:off x="548640" y="2926080"/>
            <a:ext cx="594360" cy="594360"/>
          </a:xfrm>
          <a:prstGeom prst="ellipse">
            <a:avLst/>
          </a:prstGeom>
          <a:solidFill>
            <a:srgbClr val="B23A2E"/>
          </a:solidFill>
          <a:ln w="12700">
            <a:solidFill>
              <a:srgbClr val="B23A2E"/>
            </a:solidFill>
            <a:prstDash val="solid"/>
          </a:ln>
        </p:spPr>
      </p:sp>
      <p:sp>
        <p:nvSpPr>
          <p:cNvPr id="7" name="Text 5"/>
          <p:cNvSpPr txBox="1"/>
          <p:nvPr/>
        </p:nvSpPr>
        <p:spPr>
          <a:xfrm>
            <a:off x="548640" y="292608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Q2</a:t>
            </a:r>
            <a:endParaRPr lang="en-US" sz="1500" dirty="0"/>
          </a:p>
        </p:txBody>
      </p:sp>
      <p:sp>
        <p:nvSpPr>
          <p:cNvPr id="8" name="Text 6"/>
          <p:cNvSpPr txBox="1"/>
          <p:nvPr/>
        </p:nvSpPr>
        <p:spPr>
          <a:xfrm>
            <a:off x="1371600" y="269748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통근을 사람에 비유하면 어떤 모습일까요? 뿌리 없는 천간은 어떤 사람일까요?</a:t>
            </a:r>
            <a:endParaRPr lang="en-US" sz="1700" dirty="0"/>
          </a:p>
        </p:txBody>
      </p:sp>
      <p:sp>
        <p:nvSpPr>
          <p:cNvPr id="9" name="Shape 7"/>
          <p:cNvSpPr/>
          <p:nvPr/>
        </p:nvSpPr>
        <p:spPr>
          <a:xfrm>
            <a:off x="548640" y="3977640"/>
            <a:ext cx="594360" cy="594360"/>
          </a:xfrm>
          <a:prstGeom prst="ellipse">
            <a:avLst/>
          </a:prstGeom>
          <a:solidFill>
            <a:srgbClr val="B23A2E"/>
          </a:solidFill>
          <a:ln w="12700">
            <a:solidFill>
              <a:srgbClr val="B23A2E"/>
            </a:solidFill>
            <a:prstDash val="solid"/>
          </a:ln>
        </p:spPr>
      </p:sp>
      <p:sp>
        <p:nvSpPr>
          <p:cNvPr id="10" name="Text 8"/>
          <p:cNvSpPr txBox="1"/>
          <p:nvPr/>
        </p:nvSpPr>
        <p:spPr>
          <a:xfrm>
            <a:off x="548640" y="397764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Q3</a:t>
            </a:r>
            <a:endParaRPr lang="en-US" sz="1500" dirty="0"/>
          </a:p>
        </p:txBody>
      </p:sp>
      <p:sp>
        <p:nvSpPr>
          <p:cNvPr id="11" name="Text 9"/>
          <p:cNvSpPr txBox="1"/>
          <p:nvPr/>
        </p:nvSpPr>
        <p:spPr>
          <a:xfrm>
            <a:off x="1371600" y="374904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乙이 午에서 장생한다는 설명(상생상극을 대입하지 않는다)을 어떻게 이해할 수 있을까요?</a:t>
            </a:r>
            <a:endParaRPr lang="en-US" sz="1700" dirty="0"/>
          </a:p>
        </p:txBody>
      </p:sp>
      <p:sp>
        <p:nvSpPr>
          <p:cNvPr id="12" name="Shape 10"/>
          <p:cNvSpPr/>
          <p:nvPr/>
        </p:nvSpPr>
        <p:spPr>
          <a:xfrm>
            <a:off x="548640" y="5029200"/>
            <a:ext cx="594360" cy="594360"/>
          </a:xfrm>
          <a:prstGeom prst="ellipse">
            <a:avLst/>
          </a:prstGeom>
          <a:solidFill>
            <a:srgbClr val="B23A2E"/>
          </a:solidFill>
          <a:ln w="12700">
            <a:solidFill>
              <a:srgbClr val="B23A2E"/>
            </a:solidFill>
            <a:prstDash val="solid"/>
          </a:ln>
        </p:spPr>
      </p:sp>
      <p:sp>
        <p:nvSpPr>
          <p:cNvPr id="13" name="Text 11"/>
          <p:cNvSpPr txBox="1"/>
          <p:nvPr/>
        </p:nvSpPr>
        <p:spPr>
          <a:xfrm>
            <a:off x="548640" y="502920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Q4</a:t>
            </a:r>
            <a:endParaRPr lang="en-US" sz="1500" dirty="0"/>
          </a:p>
        </p:txBody>
      </p:sp>
      <p:sp>
        <p:nvSpPr>
          <p:cNvPr id="14" name="Text 12"/>
          <p:cNvSpPr txBox="1"/>
          <p:nvPr/>
        </p:nvSpPr>
        <p:spPr>
          <a:xfrm>
            <a:off x="1371600" y="480060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내 생일 간지의 12운성을 찾아보고, 성품 설명이 얼마나 들어맞는지 이야기해 봅시다.</a:t>
            </a:r>
            <a:endParaRPr lang="en-US" sz="1700" dirty="0"/>
          </a:p>
        </p:txBody>
      </p:sp>
      <p:sp>
        <p:nvSpPr>
          <p:cNvPr id="15" name="Text 1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제4장 천간과 지지의 결합</a:t>
            </a:r>
            <a:endParaRPr lang="en-US" sz="1000" dirty="0"/>
          </a:p>
        </p:txBody>
      </p:sp>
      <p:sp>
        <p:nvSpPr>
          <p:cNvPr id="16" name="Text 1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의명보감 1 기초편 제4장 천간과 지지의 결합</dc:title>
  <dc:subject>PptxGenJS Presentation</dc:subject>
  <dc:creator>의명보감 스터디</dc:creator>
  <cp:lastModifiedBy>의명보감 스터디</cp:lastModifiedBy>
  <cp:revision>1</cp:revision>
  <dcterms:created xsi:type="dcterms:W3CDTF">2026-09-30T09:07:15Z</dcterms:created>
  <dcterms:modified xsi:type="dcterms:W3CDTF">2026-09-30T09:07:15Z</dcterms:modified>
</cp:coreProperties>
</file>