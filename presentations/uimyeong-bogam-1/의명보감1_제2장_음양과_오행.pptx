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제2장은 의명학의 알파벳에 해당하는 음양과 오행을 다룹니다. 이 장의 내용이 뒤에 나오는 천간·지지, 의명학 공식의 모든 바탕이 되므로 표와 순환도를 확실히 익혀 두면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네 꼭지로 진행합니다. 세 번째 대응표는 암기용 자료로도 활용할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꼭지, 음양입니다.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음양은 빛과 어둠, 남과 여, 크고 작음처럼 어디에나 있습니다. 책에서 특히 좋은 예가 물입니다. 물은 陰을 대표하지만, 1℃의 물은 1℃만큼의 陽을, 99℃의 물은 99℃만큼의 陽을 품고 있습니다. 陽이 하나도 없는 0℃에서는 얼음이 되고, 陽으로 가득 찬 100℃에서는 증발합니다. 결국 음양이 화합해야 물질이 존재할 수 있다는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책에 나오는 음양의 예를 표로 모았습니다. 인체에서는 겉·머리·등·오른쪽이 양, 속·발·가슴·왼쪽이 음입니다. 내장은 속이 빈 여섯 부(腑)가 양이고, 속이 가득 찬 다섯 장(臟)이 음입니다. 이 구분은 뒤에서 천간의 음양과 장부를 짝지을 때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음양에서 오행으로 넘어가는 다리입니다. 책은 이렇게 말합니다. 나무가 싹을 틔우듯 양기가 분출하는 것이 木, 불이 타오르듯 양기가 퍼지는 것이 火, 양기가 극에 달해 음기로 넘어가는 중재 과정이 土, 퍼진 양기를 거두고 음기가 자라는 것이 金, 음기가 가득 차면서 새 양기를 준비하는 것이 水입니다. 그래서 오행은 이 순서로 작용합니다.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꼭지, 오행 각각의 성격입니다. 각 오행마다 본성(좋은 면)과 속성(치우칠 때 드러나는 면)을 함께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1장에서 본 창조 순서가 생성 순서입니다. 물질이 만들어지는 순서는 水·火·木·金·土이지만, 기운이 작용하는 순서는 木·火·土·金·水입니다. 앞으로 상생·상극을 말할 때는 작용 순서를 기준으로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木은 곡식·과실·약초·그늘·목재를 아낌없이 베풀기에 본성을 어짊(仁)으로 봅니다. 자식을 낳는 어머니처럼 대가를 바라지 않는 무위의 덕입니다. 반대로 위로만 솟구치려는 성질이 지나치면 성급함과 분노로 나타납니다. 간과 담이 건강하면 본성이, 병들면 속성이 드러난다는 점이 의명학다운 해석입니다.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火는 양의 화신으로서 음의 화신인 水에게 다가가 만물을 잉태시켰지만, 난잡하지 않고 도리에 맞게 결합했기에 본성을 예(禮)로 봅니다. 예는 본래 신을 섬기는 경건한 법도입니다. 火氣가 많은 사람은 밝음 뒤에 어둠이 있어 속으로 우울하고, 적은 사람은 어둠 뒤에 밝음이 있어 잘 웃는다는 대비가 흥미롭습니다. 참고로 책은 陽火의 지지를 巳, 陰火의 지지를 午로 적고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土는 사방에 존재하며 만물이 믿고 의지하는 바탕이기에 본성이 믿음(信)입니다. 信은 사람(人)과 말(言)이 합쳐진 글자로, 마음에서 우러난 말이 거짓이어서는 안 된다는 뜻입니다. 책의 접붙이기 비유가 재미있습니다. 국화에 장미를 접붙이면 국화라고도 장미라고도 할 수 없어 거짓이 되고 근심이 생긴다는 것입니다. 또 土는 죽은 만물을 모두 끌어안기에 사람의 욕심을 뜻하기도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金은 씨눈이 모습을 갖추기 전에 단단한 입자로 뼈대가 되어 주는 기운입니다. 뜻에 따라 여러 형상을 만들 수 있는 조화물이며, 본질이 굳고 단단해서 본성을 의로움(義)으로 봅니다. 金氣가 균형을 잃으면 불의하거나 고독하고 우울해진다고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水는 아래로 흐르고, 막히면 돌아가고, 어디든 스며들어 만물을 윤택하게 하므로 본성을 지혜(智)로 봅니다. 깊은 어둠을 품고 있어 흐름이 막히거나 넘치면 두려움이 드러납니다. 水는 끝이면서 동시에 시작이라는 점을 기억해 두세요. 12지지에서도 亥·子가 한 해의 끝이자 시작이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오행을 한 장으로 정리했습니다. 위가 본성(오상), 아래가 치우칠 때 드러나는 속성(오정), 맨 아래가 주관하는 장부입니다. 이 표만 외워 두어도 뒤의 체질 해석을 따라가기 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꼭지는 대응표입니다. 책은 "같은 오행에 배속된 것끼리 서로 통한다"고 전제합니다.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방위와 계절, 기후를 오행으로 나눈 표입니다. 土는 한 방향이 아니라 중앙과 네 간방(동남·서남·서북·동북)에, 한 계절이 아니라 계절이 바뀌는 환절기에 배속됩니다. 우리말 "날씨"를 "날(하루)"과 "씨(오행 기운의 씨알)"로 푸는 부분도 재미있습니다.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인체 오행의 결정체는 오장육부입니다. 간·담은 木, 심장·소장은 火, 비·위는 土, 폐·대장은 金, 신장·방광은 水입니다. 예를 들어 木인 간·담은 눈과 통하고 근육을 주관하며, 어진 마음을 쓰면 간·담이 건강해지고 분노하면 병든다고 봅니다. 오관 줄의 土와 金은 PDF 텍스트 추출본을 따른 것인데, 일반적인 배속과 달라서 원본 표를 한 번 확인해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음식과 색, 소리의 대응표입니다. 색에 대해서는 각주가 있습니다. 푸른색에는 녹색과 파랑이 있는데, 녹색은 木의 색이고 파랑은 水의 색이라는 것입니다. 소리오행은 작명에서 중요한데, 저자는 많은 작명가가 입술소리(ㅁ·ㅂ·ㅍ)와 목구멍소리(ㅇ·ㅎ)의 오행을 바꿔 쓰고 있다고 지적하며 훈민정음해례본을 근거로 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꼭지, 오행이 서로 어떻게 작용하는지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상생은 각 오행이 다음 오행의 원천이 되는 관계입니다. 어머니가 자식을 낳듯 주기만 하고 돌려받지 않지만, 고리가 한 바퀴 돌면 결국 자신도 생함을 받습니다. 그래서 궁극적으로 서로 살리는 관계입니다. 오장이 상생하면 몸이 건강하고, 사람 사이가 상생하면 사랑과 행복이 생긴다고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상극은 하나 건너 다음 오행을 극하는 관계입니다. 저자는 극한다는 것을 일차적으로 "적절한 자극"으로 이해하라고 합니다. 자극을 받아 제 역할을 찾게 되므로 결국 상극도 상생을 돕습니다. 다만 상극이 홀로 작용하면 충격이 따르기 때문에 이차적으로는 "필요악"이며, 천지에 대립과 경쟁을 가져옵니다. 오른쪽 위 공식처럼 두 번의 상생을 거치면 상극이 된다는 점도 기억해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하나의 오행은 생을 받고, 극을 받고, 극하고, 생하는 네 가지 관계 속에 있습니다. 이것을 생극제화라고 합니다. 이 힘들이 균형을 이루는 상태가 조화이고, 저자는 이것을 중용이자 우주의 마음이라고 부릅니다. 5장 의명학 공식 풀이의 첫 원리가 "중용론"인 것도 여기서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부조화는 네 유형으로 나뉩니다. 생하는 쪽이 너무 강하거나(불생 1), 생을 받는 쪽이 너무 강하거나(불생 2), 극하는 쪽이 오히려 약하거나(반극), 극하는 쪽이 지나치게 강한 경우(파극)입니다. 각 유형마다 고서의 네 글자 표현이 다섯 개씩 있는데 표에는 대표적인 것만 실었습니다. 저자는 사람이 태어나는 순간 우주 기운의 영향으로 오행이 치우치게 되고, 이 치우침이 개성과 생로병사의 차이를 만든다고 봅니다. 치우침을 바로잡아 중용을 이루는 것이 곧 조화로운 삶입니다.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장을 마무리하는 문장으로 골랐습니다. 음양과 오행은 따로따로가 아니라 동시에, 여러 크기로 겹쳐 작용한다는 점을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다섯 줄입니다. 다음 장에서는 오행에 음양이 결합해 10천간과 12지지가 되는 과정을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질문입니다. 첫 번째 질문은 가볍게 돌아가며 이야기하기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6583680" y="182880"/>
            <a:ext cx="5486400" cy="6400800"/>
          </a:xfrm>
          <a:prstGeom prst="rect">
            <a:avLst/>
          </a:prstGeom>
          <a:noFill/>
          <a:ln/>
        </p:spPr>
        <p:txBody>
          <a:bodyPr wrap="square" lIns="0" tIns="0" rIns="0" bIns="0" rtlCol="0" anchor="ctr"/>
          <a:lstStyle/>
          <a:p>
            <a:pPr algn="ctr" indent="0" marL="0">
              <a:buNone/>
            </a:pPr>
            <a:r>
              <a:rPr lang="en-US" sz="38000" b="1" dirty="0">
                <a:solidFill>
                  <a:srgbClr val="2B2933"/>
                </a:solidFill>
                <a:latin typeface="Malgun Gothic" pitchFamily="34" charset="0"/>
                <a:ea typeface="Malgun Gothic" pitchFamily="34" charset="-122"/>
                <a:cs typeface="Malgun Gothic" pitchFamily="34" charset="-120"/>
              </a:rPr>
              <a:t>五</a:t>
            </a:r>
            <a:endParaRPr lang="en-US" sz="38000" dirty="0"/>
          </a:p>
        </p:txBody>
      </p:sp>
      <p:sp>
        <p:nvSpPr>
          <p:cNvPr id="3" name="Shape 1"/>
          <p:cNvSpPr/>
          <p:nvPr/>
        </p:nvSpPr>
        <p:spPr>
          <a:xfrm>
            <a:off x="548640" y="1280160"/>
            <a:ext cx="1005840" cy="1005840"/>
          </a:xfrm>
          <a:prstGeom prst="ellipse">
            <a:avLst/>
          </a:prstGeom>
          <a:solidFill>
            <a:srgbClr val="B23A2E"/>
          </a:solidFill>
          <a:ln w="12700">
            <a:solidFill>
              <a:srgbClr val="B23A2E"/>
            </a:solidFill>
            <a:prstDash val="solid"/>
          </a:ln>
        </p:spPr>
      </p:sp>
      <p:sp>
        <p:nvSpPr>
          <p:cNvPr id="4" name="Text 2"/>
          <p:cNvSpPr txBox="1"/>
          <p:nvPr/>
        </p:nvSpPr>
        <p:spPr>
          <a:xfrm>
            <a:off x="548640" y="1280160"/>
            <a:ext cx="100584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제2장</a:t>
            </a:r>
            <a:endParaRPr lang="en-US" sz="1800" dirty="0"/>
          </a:p>
        </p:txBody>
      </p:sp>
      <p:sp>
        <p:nvSpPr>
          <p:cNvPr id="5" name="Text 3"/>
          <p:cNvSpPr txBox="1"/>
          <p:nvPr/>
        </p:nvSpPr>
        <p:spPr>
          <a:xfrm>
            <a:off x="548640" y="2560320"/>
            <a:ext cx="7772400" cy="1188720"/>
          </a:xfrm>
          <a:prstGeom prst="rect">
            <a:avLst/>
          </a:prstGeom>
          <a:noFill/>
          <a:ln/>
        </p:spPr>
        <p:txBody>
          <a:bodyPr wrap="square" lIns="0" tIns="0" rIns="0" bIns="0" rtlCol="0" anchor="ctr"/>
          <a:lstStyle/>
          <a:p>
            <a:pPr indent="0" marL="0">
              <a:buNone/>
            </a:pPr>
            <a:r>
              <a:rPr lang="en-US" sz="4800" b="1" dirty="0">
                <a:solidFill>
                  <a:srgbClr val="F4F1EA"/>
                </a:solidFill>
                <a:latin typeface="Malgun Gothic" pitchFamily="34" charset="0"/>
                <a:ea typeface="Malgun Gothic" pitchFamily="34" charset="-122"/>
                <a:cs typeface="Malgun Gothic" pitchFamily="34" charset="-120"/>
              </a:rPr>
              <a:t>음양과 오행</a:t>
            </a:r>
            <a:endParaRPr lang="en-US" sz="4800" dirty="0"/>
          </a:p>
        </p:txBody>
      </p:sp>
      <p:sp>
        <p:nvSpPr>
          <p:cNvPr id="6" name="Text 4"/>
          <p:cNvSpPr txBox="1"/>
          <p:nvPr/>
        </p:nvSpPr>
        <p:spPr>
          <a:xfrm>
            <a:off x="548640" y="3749040"/>
            <a:ext cx="7772400" cy="548640"/>
          </a:xfrm>
          <a:prstGeom prst="rect">
            <a:avLst/>
          </a:prstGeom>
          <a:noFill/>
          <a:ln/>
        </p:spPr>
        <p:txBody>
          <a:bodyPr wrap="square" lIns="0" tIns="0" rIns="0" bIns="0" rtlCol="0" anchor="ctr"/>
          <a:lstStyle/>
          <a:p>
            <a:pPr indent="0" marL="0">
              <a:buNone/>
            </a:pPr>
            <a:r>
              <a:rPr lang="en-US" sz="2200" dirty="0">
                <a:solidFill>
                  <a:srgbClr val="A9A4B5"/>
                </a:solidFill>
                <a:latin typeface="Malgun Gothic" pitchFamily="34" charset="0"/>
                <a:ea typeface="Malgun Gothic" pitchFamily="34" charset="-122"/>
                <a:cs typeface="Malgun Gothic" pitchFamily="34" charset="-120"/>
              </a:rPr>
              <a:t>陰陽과 五行</a:t>
            </a:r>
            <a:endParaRPr lang="en-US" sz="2200" dirty="0"/>
          </a:p>
        </p:txBody>
      </p:sp>
      <p:sp>
        <p:nvSpPr>
          <p:cNvPr id="7" name="Text 5"/>
          <p:cNvSpPr txBox="1"/>
          <p:nvPr/>
        </p:nvSpPr>
        <p:spPr>
          <a:xfrm>
            <a:off x="548640" y="4846320"/>
            <a:ext cx="7315200" cy="731520"/>
          </a:xfrm>
          <a:prstGeom prst="rect">
            <a:avLst/>
          </a:prstGeom>
          <a:noFill/>
          <a:ln/>
        </p:spPr>
        <p:txBody>
          <a:bodyPr wrap="square" lIns="0" tIns="0" rIns="0" bIns="0" rtlCol="0" anchor="ctr"/>
          <a:lstStyle/>
          <a:p>
            <a:pPr indent="0" marL="0">
              <a:buNone/>
            </a:pPr>
            <a:r>
              <a:rPr lang="en-US" sz="1400" dirty="0">
                <a:solidFill>
                  <a:srgbClr val="A9A4B5"/>
                </a:solidFill>
                <a:latin typeface="Malgun Gothic" pitchFamily="34" charset="0"/>
                <a:ea typeface="Malgun Gothic" pitchFamily="34" charset="-122"/>
                <a:cs typeface="Malgun Gothic" pitchFamily="34" charset="-120"/>
              </a:rPr>
              <a:t>의명보감 1 기초편 스터디 · 음양의 성질 · 오행의 성질 · 천지 만물 · 상생과 상극</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목차</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오늘 공부할 내용</a:t>
            </a:r>
            <a:endParaRPr lang="en-US" sz="3000" dirty="0"/>
          </a:p>
        </p:txBody>
      </p:sp>
      <p:sp>
        <p:nvSpPr>
          <p:cNvPr id="4" name="Shape 2"/>
          <p:cNvSpPr/>
          <p:nvPr/>
        </p:nvSpPr>
        <p:spPr>
          <a:xfrm>
            <a:off x="548640" y="1673352"/>
            <a:ext cx="502920" cy="502920"/>
          </a:xfrm>
          <a:prstGeom prst="ellipse">
            <a:avLst/>
          </a:prstGeom>
          <a:solidFill>
            <a:srgbClr val="B23A2E"/>
          </a:solidFill>
          <a:ln w="12700">
            <a:solidFill>
              <a:srgbClr val="B23A2E"/>
            </a:solidFill>
            <a:prstDash val="solid"/>
          </a:ln>
        </p:spPr>
      </p:sp>
      <p:sp>
        <p:nvSpPr>
          <p:cNvPr id="5" name="Text 3"/>
          <p:cNvSpPr txBox="1"/>
          <p:nvPr/>
        </p:nvSpPr>
        <p:spPr>
          <a:xfrm>
            <a:off x="548640"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6" name="Text 4"/>
          <p:cNvSpPr txBox="1"/>
          <p:nvPr/>
        </p:nvSpPr>
        <p:spPr>
          <a:xfrm>
            <a:off x="1234440" y="160020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음양(陰陽)의 성질</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대립하면서 조화를 이루는 두 기운</a:t>
            </a:r>
            <a:endParaRPr lang="en-US" sz="1700" dirty="0"/>
          </a:p>
        </p:txBody>
      </p:sp>
      <p:sp>
        <p:nvSpPr>
          <p:cNvPr id="7" name="Shape 5"/>
          <p:cNvSpPr/>
          <p:nvPr/>
        </p:nvSpPr>
        <p:spPr>
          <a:xfrm>
            <a:off x="548640" y="2542032"/>
            <a:ext cx="502920" cy="502920"/>
          </a:xfrm>
          <a:prstGeom prst="ellipse">
            <a:avLst/>
          </a:prstGeom>
          <a:solidFill>
            <a:srgbClr val="B23A2E"/>
          </a:solidFill>
          <a:ln w="12700">
            <a:solidFill>
              <a:srgbClr val="B23A2E"/>
            </a:solidFill>
            <a:prstDash val="solid"/>
          </a:ln>
        </p:spPr>
      </p:sp>
      <p:sp>
        <p:nvSpPr>
          <p:cNvPr id="8" name="Text 6"/>
          <p:cNvSpPr txBox="1"/>
          <p:nvPr/>
        </p:nvSpPr>
        <p:spPr>
          <a:xfrm>
            <a:off x="548640"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9" name="Text 7"/>
          <p:cNvSpPr txBox="1"/>
          <p:nvPr/>
        </p:nvSpPr>
        <p:spPr>
          <a:xfrm>
            <a:off x="1234440" y="246888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오행(五行)의 성질</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木·火·土·金·水 각각의 본성과 속성</a:t>
            </a:r>
            <a:endParaRPr lang="en-US" sz="1700" dirty="0"/>
          </a:p>
        </p:txBody>
      </p:sp>
      <p:sp>
        <p:nvSpPr>
          <p:cNvPr id="10" name="Shape 8"/>
          <p:cNvSpPr/>
          <p:nvPr/>
        </p:nvSpPr>
        <p:spPr>
          <a:xfrm>
            <a:off x="548640" y="3410712"/>
            <a:ext cx="502920" cy="502920"/>
          </a:xfrm>
          <a:prstGeom prst="ellipse">
            <a:avLst/>
          </a:prstGeom>
          <a:solidFill>
            <a:srgbClr val="B23A2E"/>
          </a:solidFill>
          <a:ln w="12700">
            <a:solidFill>
              <a:srgbClr val="B23A2E"/>
            </a:solidFill>
            <a:prstDash val="solid"/>
          </a:ln>
        </p:spPr>
      </p:sp>
      <p:sp>
        <p:nvSpPr>
          <p:cNvPr id="11" name="Text 9"/>
          <p:cNvSpPr txBox="1"/>
          <p:nvPr/>
        </p:nvSpPr>
        <p:spPr>
          <a:xfrm>
            <a:off x="548640" y="34107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2" name="Text 10"/>
          <p:cNvSpPr txBox="1"/>
          <p:nvPr/>
        </p:nvSpPr>
        <p:spPr>
          <a:xfrm>
            <a:off x="1234440" y="333756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오행과 천지 만물</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방위·계절·장부·맛·색 대응표</a:t>
            </a:r>
            <a:endParaRPr lang="en-US" sz="1700" dirty="0"/>
          </a:p>
        </p:txBody>
      </p:sp>
      <p:sp>
        <p:nvSpPr>
          <p:cNvPr id="13" name="Shape 11"/>
          <p:cNvSpPr/>
          <p:nvPr/>
        </p:nvSpPr>
        <p:spPr>
          <a:xfrm>
            <a:off x="548640" y="4279392"/>
            <a:ext cx="502920" cy="502920"/>
          </a:xfrm>
          <a:prstGeom prst="ellipse">
            <a:avLst/>
          </a:prstGeom>
          <a:solidFill>
            <a:srgbClr val="B23A2E"/>
          </a:solidFill>
          <a:ln w="12700">
            <a:solidFill>
              <a:srgbClr val="B23A2E"/>
            </a:solidFill>
            <a:prstDash val="solid"/>
          </a:ln>
        </p:spPr>
      </p:sp>
      <p:sp>
        <p:nvSpPr>
          <p:cNvPr id="14" name="Text 12"/>
          <p:cNvSpPr txBox="1"/>
          <p:nvPr/>
        </p:nvSpPr>
        <p:spPr>
          <a:xfrm>
            <a:off x="548640" y="4279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15" name="Text 13"/>
          <p:cNvSpPr txBox="1"/>
          <p:nvPr/>
        </p:nvSpPr>
        <p:spPr>
          <a:xfrm>
            <a:off x="1234440" y="420624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오행의 작용</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상생·상극·조화·부조화</a:t>
            </a:r>
            <a:endParaRPr lang="en-US" sz="1700" dirty="0"/>
          </a:p>
        </p:txBody>
      </p:sp>
      <p:sp>
        <p:nvSpPr>
          <p:cNvPr id="16" name="Text 1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7"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01</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음양(陰陽)의 성질</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천지 만물이 존재하는 원기(元氣)</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음양의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음양이란 무엇인가</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정의</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천지 만물이 존재하는 원기(元氣)로서, 서로 대립하면서 조화를 이루는 음(陰)과 양(陽) 두 가지 기운.</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음양이 있어 시간과 공간이 생긴다</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태양은 陽, 달은 陰 · 낮은 陽, 밤은 陰 · 하늘은 陽, 땅은 陰 · 남쪽은 陽, 북쪽은 陰</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절대적인 음·양은 없다</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물은 0℃에서 얼고 100℃에서 증발한다. 적당한 陽을 품어야 비로소 물로 존재할 수 있다.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음양은 순환한다</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陽이 가득 차면 쇠하고 陰이 들어오며, 陰이 가득 차면 다시 陽이 들어온다. 하루·일 년·일생이 모두 음양의 순환이다.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1D1C24"/>
          </a:solidFill>
          <a:ln w="12700">
            <a:solidFill>
              <a:srgbClr val="1D1C24"/>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陰陽</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물 = 0℃ 초과 100℃ 미만</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陽을 적당히 품은 陰</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음양의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음양 비교표</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28800"/>
                <a:gridCol w="4636008"/>
                <a:gridCol w="4626864"/>
              </a:tblGrid>
              <a:tr h="565785">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구분</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양(陽)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B23A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음(陰)</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22406E"/>
                    </a:solidFill>
                  </a:tcPr>
                </a:tc>
              </a:tr>
              <a:tr h="565785">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자연</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태양 · 낮 · 하늘 · 남쪽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달 · 밤 · 땅 · 북쪽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65785">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생명</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남자 · 수컷</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여자 · 암컷</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65785">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사물</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긴 것 · 큰 것 · 높은 것 · 겉 · 많은 것</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짧은 것 · 작은 것 · 낮은 것 · 속 · 적은 것</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65785">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인체 부위</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겉 · 머리 · 등 · 오른쪽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속 · 발 · 가슴 · 왼쪽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65785">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내장</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속이 빈 부(腑): 담·소장·위·대장·방광</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속이 찬 장(臟): 간·심장·비장·폐·신장</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65785">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기운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분출하고 퍼짐 (확산)</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거두어 저장함 (수렴·응축)</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65785">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시간</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아침~정오 · 봄·여름</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오후~밤 · 가을·겨울</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bl>
          </a:graphicData>
        </a:graphic>
      </p:graphicFrame>
      <p:sp>
        <p:nvSpPr>
          <p:cNvPr id="5"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 02</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오행은 음양의 순환을 다섯 단계로 나눈 것</a:t>
            </a:r>
            <a:endParaRPr lang="en-US" sz="3000" dirty="0"/>
          </a:p>
        </p:txBody>
      </p:sp>
      <p:sp>
        <p:nvSpPr>
          <p:cNvPr id="4" name="Shape 2"/>
          <p:cNvSpPr/>
          <p:nvPr/>
        </p:nvSpPr>
        <p:spPr>
          <a:xfrm>
            <a:off x="899130" y="1828800"/>
            <a:ext cx="1188720" cy="1188720"/>
          </a:xfrm>
          <a:prstGeom prst="ellipse">
            <a:avLst/>
          </a:prstGeom>
          <a:solidFill>
            <a:srgbClr val="3F7D4E"/>
          </a:solidFill>
          <a:ln w="12700">
            <a:solidFill>
              <a:srgbClr val="3F7D4E"/>
            </a:solidFill>
            <a:prstDash val="solid"/>
          </a:ln>
        </p:spPr>
      </p:sp>
      <p:sp>
        <p:nvSpPr>
          <p:cNvPr id="5" name="Text 3"/>
          <p:cNvSpPr txBox="1"/>
          <p:nvPr/>
        </p:nvSpPr>
        <p:spPr>
          <a:xfrm>
            <a:off x="899130"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木</a:t>
            </a:r>
            <a:endParaRPr lang="en-US" sz="4000" dirty="0"/>
          </a:p>
        </p:txBody>
      </p:sp>
      <p:sp>
        <p:nvSpPr>
          <p:cNvPr id="6" name="Shape 4"/>
          <p:cNvSpPr/>
          <p:nvPr/>
        </p:nvSpPr>
        <p:spPr>
          <a:xfrm rot="5400000">
            <a:off x="2534351" y="2295144"/>
            <a:ext cx="256032" cy="256032"/>
          </a:xfrm>
          <a:prstGeom prst="triangle">
            <a:avLst/>
          </a:prstGeom>
          <a:solidFill>
            <a:srgbClr val="D9D5E0"/>
          </a:solidFill>
          <a:ln w="12700">
            <a:solidFill>
              <a:srgbClr val="D9D5E0"/>
            </a:solidFill>
            <a:prstDash val="solid"/>
          </a:ln>
        </p:spPr>
      </p:sp>
      <p:sp>
        <p:nvSpPr>
          <p:cNvPr id="7" name="Text 5"/>
          <p:cNvSpPr txBox="1"/>
          <p:nvPr/>
        </p:nvSpPr>
        <p:spPr>
          <a:xfrm>
            <a:off x="548640"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양기 분출</a:t>
            </a:r>
            <a:endParaRPr lang="en-US" sz="1900" dirty="0"/>
          </a:p>
        </p:txBody>
      </p:sp>
      <p:sp>
        <p:nvSpPr>
          <p:cNvPr id="8" name="Text 6"/>
          <p:cNvSpPr txBox="1"/>
          <p:nvPr/>
        </p:nvSpPr>
        <p:spPr>
          <a:xfrm>
            <a:off x="548640"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아침 · 봄</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싹이 터지듯</a:t>
            </a:r>
            <a:endParaRPr lang="en-US" sz="1500" dirty="0"/>
          </a:p>
        </p:txBody>
      </p:sp>
      <p:sp>
        <p:nvSpPr>
          <p:cNvPr id="9" name="Shape 7"/>
          <p:cNvSpPr/>
          <p:nvPr/>
        </p:nvSpPr>
        <p:spPr>
          <a:xfrm>
            <a:off x="3200309" y="1828800"/>
            <a:ext cx="1188720" cy="1188720"/>
          </a:xfrm>
          <a:prstGeom prst="ellipse">
            <a:avLst/>
          </a:prstGeom>
          <a:solidFill>
            <a:srgbClr val="C0392B"/>
          </a:solidFill>
          <a:ln w="12700">
            <a:solidFill>
              <a:srgbClr val="C0392B"/>
            </a:solidFill>
            <a:prstDash val="solid"/>
          </a:ln>
        </p:spPr>
      </p:sp>
      <p:sp>
        <p:nvSpPr>
          <p:cNvPr id="10" name="Text 8"/>
          <p:cNvSpPr txBox="1"/>
          <p:nvPr/>
        </p:nvSpPr>
        <p:spPr>
          <a:xfrm>
            <a:off x="3200309"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火</a:t>
            </a:r>
            <a:endParaRPr lang="en-US" sz="4000" dirty="0"/>
          </a:p>
        </p:txBody>
      </p:sp>
      <p:sp>
        <p:nvSpPr>
          <p:cNvPr id="11" name="Shape 9"/>
          <p:cNvSpPr/>
          <p:nvPr/>
        </p:nvSpPr>
        <p:spPr>
          <a:xfrm rot="5400000">
            <a:off x="4835530" y="2295144"/>
            <a:ext cx="256032" cy="256032"/>
          </a:xfrm>
          <a:prstGeom prst="triangle">
            <a:avLst/>
          </a:prstGeom>
          <a:solidFill>
            <a:srgbClr val="D9D5E0"/>
          </a:solidFill>
          <a:ln w="12700">
            <a:solidFill>
              <a:srgbClr val="D9D5E0"/>
            </a:solidFill>
            <a:prstDash val="solid"/>
          </a:ln>
        </p:spPr>
      </p:sp>
      <p:sp>
        <p:nvSpPr>
          <p:cNvPr id="12" name="Text 10"/>
          <p:cNvSpPr txBox="1"/>
          <p:nvPr/>
        </p:nvSpPr>
        <p:spPr>
          <a:xfrm>
            <a:off x="2849819"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양기 확산</a:t>
            </a:r>
            <a:endParaRPr lang="en-US" sz="1900" dirty="0"/>
          </a:p>
        </p:txBody>
      </p:sp>
      <p:sp>
        <p:nvSpPr>
          <p:cNvPr id="13" name="Text 11"/>
          <p:cNvSpPr txBox="1"/>
          <p:nvPr/>
        </p:nvSpPr>
        <p:spPr>
          <a:xfrm>
            <a:off x="2849819"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낮 · 여름</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불이 타오르듯</a:t>
            </a:r>
            <a:endParaRPr lang="en-US" sz="1500" dirty="0"/>
          </a:p>
        </p:txBody>
      </p:sp>
      <p:sp>
        <p:nvSpPr>
          <p:cNvPr id="14" name="Shape 12"/>
          <p:cNvSpPr/>
          <p:nvPr/>
        </p:nvSpPr>
        <p:spPr>
          <a:xfrm>
            <a:off x="5501488" y="1828800"/>
            <a:ext cx="1188720" cy="1188720"/>
          </a:xfrm>
          <a:prstGeom prst="ellipse">
            <a:avLst/>
          </a:prstGeom>
          <a:solidFill>
            <a:srgbClr val="B8892A"/>
          </a:solidFill>
          <a:ln w="12700">
            <a:solidFill>
              <a:srgbClr val="B8892A"/>
            </a:solidFill>
            <a:prstDash val="solid"/>
          </a:ln>
        </p:spPr>
      </p:sp>
      <p:sp>
        <p:nvSpPr>
          <p:cNvPr id="15" name="Text 13"/>
          <p:cNvSpPr txBox="1"/>
          <p:nvPr/>
        </p:nvSpPr>
        <p:spPr>
          <a:xfrm>
            <a:off x="5501488"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土</a:t>
            </a:r>
            <a:endParaRPr lang="en-US" sz="4000" dirty="0"/>
          </a:p>
        </p:txBody>
      </p:sp>
      <p:sp>
        <p:nvSpPr>
          <p:cNvPr id="16" name="Shape 14"/>
          <p:cNvSpPr/>
          <p:nvPr/>
        </p:nvSpPr>
        <p:spPr>
          <a:xfrm rot="5400000">
            <a:off x="7136709" y="2295144"/>
            <a:ext cx="256032" cy="256032"/>
          </a:xfrm>
          <a:prstGeom prst="triangle">
            <a:avLst/>
          </a:prstGeom>
          <a:solidFill>
            <a:srgbClr val="D9D5E0"/>
          </a:solidFill>
          <a:ln w="12700">
            <a:solidFill>
              <a:srgbClr val="D9D5E0"/>
            </a:solidFill>
            <a:prstDash val="solid"/>
          </a:ln>
        </p:spPr>
      </p:sp>
      <p:sp>
        <p:nvSpPr>
          <p:cNvPr id="17" name="Text 15"/>
          <p:cNvSpPr txBox="1"/>
          <p:nvPr/>
        </p:nvSpPr>
        <p:spPr>
          <a:xfrm>
            <a:off x="5150998"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중재·전환</a:t>
            </a:r>
            <a:endParaRPr lang="en-US" sz="1900" dirty="0"/>
          </a:p>
        </p:txBody>
      </p:sp>
      <p:sp>
        <p:nvSpPr>
          <p:cNvPr id="18" name="Text 16"/>
          <p:cNvSpPr txBox="1"/>
          <p:nvPr/>
        </p:nvSpPr>
        <p:spPr>
          <a:xfrm>
            <a:off x="5150998"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정오 · 환절기</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양이 음으로 넘어감</a:t>
            </a:r>
            <a:endParaRPr lang="en-US" sz="1500" dirty="0"/>
          </a:p>
        </p:txBody>
      </p:sp>
      <p:sp>
        <p:nvSpPr>
          <p:cNvPr id="19" name="Shape 17"/>
          <p:cNvSpPr/>
          <p:nvPr/>
        </p:nvSpPr>
        <p:spPr>
          <a:xfrm>
            <a:off x="7802667" y="1828800"/>
            <a:ext cx="1188720" cy="1188720"/>
          </a:xfrm>
          <a:prstGeom prst="ellipse">
            <a:avLst/>
          </a:prstGeom>
          <a:solidFill>
            <a:srgbClr val="6E737B"/>
          </a:solidFill>
          <a:ln w="12700">
            <a:solidFill>
              <a:srgbClr val="6E737B"/>
            </a:solidFill>
            <a:prstDash val="solid"/>
          </a:ln>
        </p:spPr>
      </p:sp>
      <p:sp>
        <p:nvSpPr>
          <p:cNvPr id="20" name="Text 18"/>
          <p:cNvSpPr txBox="1"/>
          <p:nvPr/>
        </p:nvSpPr>
        <p:spPr>
          <a:xfrm>
            <a:off x="7802667"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金</a:t>
            </a:r>
            <a:endParaRPr lang="en-US" sz="4000" dirty="0"/>
          </a:p>
        </p:txBody>
      </p:sp>
      <p:sp>
        <p:nvSpPr>
          <p:cNvPr id="21" name="Shape 19"/>
          <p:cNvSpPr/>
          <p:nvPr/>
        </p:nvSpPr>
        <p:spPr>
          <a:xfrm rot="5400000">
            <a:off x="9437888" y="2295144"/>
            <a:ext cx="256032" cy="256032"/>
          </a:xfrm>
          <a:prstGeom prst="triangle">
            <a:avLst/>
          </a:prstGeom>
          <a:solidFill>
            <a:srgbClr val="D9D5E0"/>
          </a:solidFill>
          <a:ln w="12700">
            <a:solidFill>
              <a:srgbClr val="D9D5E0"/>
            </a:solidFill>
            <a:prstDash val="solid"/>
          </a:ln>
        </p:spPr>
      </p:sp>
      <p:sp>
        <p:nvSpPr>
          <p:cNvPr id="22" name="Text 20"/>
          <p:cNvSpPr txBox="1"/>
          <p:nvPr/>
        </p:nvSpPr>
        <p:spPr>
          <a:xfrm>
            <a:off x="7452177"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음기 수렴</a:t>
            </a:r>
            <a:endParaRPr lang="en-US" sz="1900" dirty="0"/>
          </a:p>
        </p:txBody>
      </p:sp>
      <p:sp>
        <p:nvSpPr>
          <p:cNvPr id="23" name="Text 21"/>
          <p:cNvSpPr txBox="1"/>
          <p:nvPr/>
        </p:nvSpPr>
        <p:spPr>
          <a:xfrm>
            <a:off x="7452177"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저녁 · 가을</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퍼진 양기를 거둠</a:t>
            </a:r>
            <a:endParaRPr lang="en-US" sz="1500" dirty="0"/>
          </a:p>
        </p:txBody>
      </p:sp>
      <p:sp>
        <p:nvSpPr>
          <p:cNvPr id="24" name="Shape 22"/>
          <p:cNvSpPr/>
          <p:nvPr/>
        </p:nvSpPr>
        <p:spPr>
          <a:xfrm>
            <a:off x="10103846" y="1828800"/>
            <a:ext cx="1188720" cy="1188720"/>
          </a:xfrm>
          <a:prstGeom prst="ellipse">
            <a:avLst/>
          </a:prstGeom>
          <a:solidFill>
            <a:srgbClr val="22406E"/>
          </a:solidFill>
          <a:ln w="12700">
            <a:solidFill>
              <a:srgbClr val="22406E"/>
            </a:solidFill>
            <a:prstDash val="solid"/>
          </a:ln>
        </p:spPr>
      </p:sp>
      <p:sp>
        <p:nvSpPr>
          <p:cNvPr id="25" name="Text 23"/>
          <p:cNvSpPr txBox="1"/>
          <p:nvPr/>
        </p:nvSpPr>
        <p:spPr>
          <a:xfrm>
            <a:off x="10103846"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水</a:t>
            </a:r>
            <a:endParaRPr lang="en-US" sz="4000" dirty="0"/>
          </a:p>
        </p:txBody>
      </p:sp>
      <p:sp>
        <p:nvSpPr>
          <p:cNvPr id="26" name="Text 24"/>
          <p:cNvSpPr txBox="1"/>
          <p:nvPr/>
        </p:nvSpPr>
        <p:spPr>
          <a:xfrm>
            <a:off x="9753356"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음기 충만</a:t>
            </a:r>
            <a:endParaRPr lang="en-US" sz="1900" dirty="0"/>
          </a:p>
        </p:txBody>
      </p:sp>
      <p:sp>
        <p:nvSpPr>
          <p:cNvPr id="27" name="Text 25"/>
          <p:cNvSpPr txBox="1"/>
          <p:nvPr/>
        </p:nvSpPr>
        <p:spPr>
          <a:xfrm>
            <a:off x="9753356"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밤 · 겨울</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새 양기를 준비</a:t>
            </a:r>
            <a:endParaRPr lang="en-US" sz="1500" dirty="0"/>
          </a:p>
        </p:txBody>
      </p:sp>
      <p:sp>
        <p:nvSpPr>
          <p:cNvPr id="28" name="Text 26"/>
          <p:cNvSpPr txBox="1"/>
          <p:nvPr/>
        </p:nvSpPr>
        <p:spPr>
          <a:xfrm>
            <a:off x="548640" y="5577840"/>
            <a:ext cx="11094415" cy="640080"/>
          </a:xfrm>
          <a:prstGeom prst="rect">
            <a:avLst/>
          </a:prstGeom>
          <a:solidFill>
            <a:srgbClr val="F3F1F6"/>
          </a:solidFill>
          <a:ln/>
        </p:spPr>
        <p:txBody>
          <a:bodyPr wrap="square" lIns="0" tIns="0" rIns="0" bIns="0" rtlCol="0" anchor="ct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"오행은 음양으로부터 태어났기에 작용의 범위도 음양의 틀을 벗어나지 않는다"</a:t>
            </a:r>
            <a:endParaRPr lang="en-US" sz="1400" dirty="0"/>
          </a:p>
        </p:txBody>
      </p:sp>
      <p:sp>
        <p:nvSpPr>
          <p:cNvPr id="29" name="Text 2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30" name="Text 2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02</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오행(五行)의 성질</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木 · 火 · 土 · 金 · 水 — 본성과 속성</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오행의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생성 순서와 작용 순서는 다르다</a:t>
            </a:r>
            <a:endParaRPr lang="en-US" sz="3000" dirty="0"/>
          </a:p>
        </p:txBody>
      </p:sp>
      <p:sp>
        <p:nvSpPr>
          <p:cNvPr id="4" name="Shape 2"/>
          <p:cNvSpPr/>
          <p:nvPr/>
        </p:nvSpPr>
        <p:spPr>
          <a:xfrm>
            <a:off x="548640" y="1554480"/>
            <a:ext cx="5364328" cy="4526280"/>
          </a:xfrm>
          <a:prstGeom prst="roundRect">
            <a:avLst>
              <a:gd name="adj" fmla="val 2424"/>
            </a:avLst>
          </a:prstGeom>
          <a:solidFill>
            <a:srgbClr val="F3F1F6"/>
          </a:solidFill>
          <a:ln w="12700">
            <a:solidFill>
              <a:srgbClr val="F3F1F6"/>
            </a:solidFill>
            <a:prstDash val="solid"/>
          </a:ln>
        </p:spPr>
      </p:sp>
      <p:sp>
        <p:nvSpPr>
          <p:cNvPr id="5" name="Shape 3"/>
          <p:cNvSpPr/>
          <p:nvPr/>
        </p:nvSpPr>
        <p:spPr>
          <a:xfrm>
            <a:off x="822960" y="1783080"/>
            <a:ext cx="822960" cy="822960"/>
          </a:xfrm>
          <a:prstGeom prst="ellipse">
            <a:avLst/>
          </a:prstGeom>
          <a:solidFill>
            <a:srgbClr val="22406E"/>
          </a:solidFill>
          <a:ln w="12700">
            <a:solidFill>
              <a:srgbClr val="22406E"/>
            </a:solidFill>
            <a:prstDash val="solid"/>
          </a:ln>
        </p:spPr>
      </p:sp>
      <p:sp>
        <p:nvSpPr>
          <p:cNvPr id="6" name="Text 4"/>
          <p:cNvSpPr txBox="1"/>
          <p:nvPr/>
        </p:nvSpPr>
        <p:spPr>
          <a:xfrm>
            <a:off x="822960"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生</a:t>
            </a:r>
            <a:endParaRPr lang="en-US" sz="3200" dirty="0"/>
          </a:p>
        </p:txBody>
      </p:sp>
      <p:sp>
        <p:nvSpPr>
          <p:cNvPr id="7" name="Text 5"/>
          <p:cNvSpPr txBox="1"/>
          <p:nvPr/>
        </p:nvSpPr>
        <p:spPr>
          <a:xfrm>
            <a:off x="1828800"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생성 순서 — 만물의 질(質)</a:t>
            </a:r>
            <a:endParaRPr lang="en-US" sz="2000" dirty="0"/>
          </a:p>
        </p:txBody>
      </p:sp>
      <p:sp>
        <p:nvSpPr>
          <p:cNvPr id="8" name="Text 6"/>
          <p:cNvSpPr txBox="1"/>
          <p:nvPr/>
        </p:nvSpPr>
        <p:spPr>
          <a:xfrm>
            <a:off x="822960"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一水: 최초의 물질</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三火와 만나 음양의 태극을 이룸</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三木: 태극이 잉태한 씨눈</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四金: 뼈대</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五土: 살</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水 → 火 → 木 → 金 → 土</a:t>
            </a:r>
            <a:endParaRPr lang="en-US" sz="1700" dirty="0"/>
          </a:p>
        </p:txBody>
      </p:sp>
      <p:sp>
        <p:nvSpPr>
          <p:cNvPr id="9" name="Shape 7"/>
          <p:cNvSpPr/>
          <p:nvPr/>
        </p:nvSpPr>
        <p:spPr>
          <a:xfrm>
            <a:off x="6278728" y="1554480"/>
            <a:ext cx="5364328" cy="4526280"/>
          </a:xfrm>
          <a:prstGeom prst="roundRect">
            <a:avLst>
              <a:gd name="adj" fmla="val 2424"/>
            </a:avLst>
          </a:prstGeom>
          <a:solidFill>
            <a:srgbClr val="F3F1F6"/>
          </a:solidFill>
          <a:ln w="12700">
            <a:solidFill>
              <a:srgbClr val="F3F1F6"/>
            </a:solidFill>
            <a:prstDash val="solid"/>
          </a:ln>
        </p:spPr>
      </p:sp>
      <p:sp>
        <p:nvSpPr>
          <p:cNvPr id="10" name="Shape 8"/>
          <p:cNvSpPr/>
          <p:nvPr/>
        </p:nvSpPr>
        <p:spPr>
          <a:xfrm>
            <a:off x="6553048" y="1783080"/>
            <a:ext cx="822960" cy="822960"/>
          </a:xfrm>
          <a:prstGeom prst="ellipse">
            <a:avLst/>
          </a:prstGeom>
          <a:solidFill>
            <a:srgbClr val="3F7D4E"/>
          </a:solidFill>
          <a:ln w="12700">
            <a:solidFill>
              <a:srgbClr val="3F7D4E"/>
            </a:solidFill>
            <a:prstDash val="solid"/>
          </a:ln>
        </p:spPr>
      </p:sp>
      <p:sp>
        <p:nvSpPr>
          <p:cNvPr id="11" name="Text 9"/>
          <p:cNvSpPr txBox="1"/>
          <p:nvPr/>
        </p:nvSpPr>
        <p:spPr>
          <a:xfrm>
            <a:off x="6553048"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行</a:t>
            </a:r>
            <a:endParaRPr lang="en-US" sz="3200" dirty="0"/>
          </a:p>
        </p:txBody>
      </p:sp>
      <p:sp>
        <p:nvSpPr>
          <p:cNvPr id="12" name="Text 10"/>
          <p:cNvSpPr txBox="1"/>
          <p:nvPr/>
        </p:nvSpPr>
        <p:spPr>
          <a:xfrm>
            <a:off x="7558888"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작용 순서 — 기운의 흐름</a:t>
            </a:r>
            <a:endParaRPr lang="en-US" sz="2000" dirty="0"/>
          </a:p>
        </p:txBody>
      </p:sp>
      <p:sp>
        <p:nvSpPr>
          <p:cNvPr id="13" name="Text 11"/>
          <p:cNvSpPr txBox="1"/>
          <p:nvPr/>
        </p:nvSpPr>
        <p:spPr>
          <a:xfrm>
            <a:off x="6553048"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木: 시작</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火: 발산</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土: 중재</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金: 수렴</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水: 응축·저장, 그리고 새 순환의 시작</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木 → 火 → 土 → 金 → 水</a:t>
            </a:r>
            <a:endParaRPr lang="en-US" sz="1700" dirty="0"/>
          </a:p>
        </p:txBody>
      </p:sp>
      <p:sp>
        <p:nvSpPr>
          <p:cNvPr id="14" name="Text 1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오행의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木 — 생명의 씨눈, 어짊(仁)</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역할</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음양이 화합해 잉태한 천지 만물의 씨눈. 감춰진 생명력이 분출하는 시작점.</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배속</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봄 · 아침 · 유아기 · 새싹</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양목과 음목</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陽木(甲·寅): 곧게 뻗는 거대한 나무 / 陰木(乙·卯): 여린 싹, 다듬은 목재</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본성 仁 · 속성 분노(怒)</a:t>
            </a:r>
            <a:endParaRPr lang="en-US" sz="1800" dirty="0"/>
          </a:p>
          <a:p>
            <a:pPr indent="0" marL="0">
              <a:lnSpc>
                <a:spcPct val="115000"/>
              </a:lnSpc>
              <a:buNone/>
            </a:pPr>
            <a:r>
              <a:rPr lang="en-US" sz="1600" dirty="0">
                <a:solidFill>
                  <a:srgbClr val="6B6778"/>
                </a:solidFill>
                <a:latin typeface="Malgun Gothic" pitchFamily="34" charset="0"/>
                <a:ea typeface="Malgun Gothic" pitchFamily="34" charset="-122"/>
                <a:cs typeface="Malgun Gothic" pitchFamily="34" charset="-120"/>
              </a:rPr>
              <a:t>대가 없이 베푸는 "무위의 덕". 그러나 위로만 솟으려 해 성급하고 욕망이 강하다.</a:t>
            </a:r>
            <a:endParaRPr lang="en-US" sz="18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3F7D4E"/>
          </a:solidFill>
          <a:ln w="12700">
            <a:solidFill>
              <a:srgbClr val="3F7D4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木</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인체: 간 · 담</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건강하면 본성이,</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병들면 속성이 드러남</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오행의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火 — 잉태의 힘, 예(禮)</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역할</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천지 만물을 잉태시키는 근원적인 힘. 생명을 역동적으로 확산·확장시킴.</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배속</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여름 · 낮 · 청년기 · 무성한 가지와 잎</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양화와 음화</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陽火(丙): 태양 같은 불 / 陰火(丁): 불씨·촛불처럼 제어할 수 있는 불</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본성 禮 · 속성 즐거움(喜)</a:t>
            </a:r>
            <a:endParaRPr lang="en-US" sz="1800" dirty="0"/>
          </a:p>
          <a:p>
            <a:pPr indent="0" marL="0">
              <a:lnSpc>
                <a:spcPct val="115000"/>
              </a:lnSpc>
              <a:buNone/>
            </a:pPr>
            <a:r>
              <a:rPr lang="en-US" sz="1600" dirty="0">
                <a:solidFill>
                  <a:srgbClr val="6B6778"/>
                </a:solidFill>
                <a:latin typeface="Malgun Gothic" pitchFamily="34" charset="0"/>
                <a:ea typeface="Malgun Gothic" pitchFamily="34" charset="-122"/>
                <a:cs typeface="Malgun Gothic" pitchFamily="34" charset="-120"/>
              </a:rPr>
              <a:t>양의 화신 火가 음의 화신 水와 순백의 순수함으로 결합했기에 본성은 禮. 火氣가 많으면 열정적이나 쉽게 사그라들고, 적으면 냉하고 눈물이 많다.</a:t>
            </a:r>
            <a:endParaRPr lang="en-US" sz="18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C0392B"/>
          </a:solidFill>
          <a:ln w="12700">
            <a:solidFill>
              <a:srgbClr val="C0392B"/>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火</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인체: 심장 · 소장</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지나치거나 모자라면</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희비의 교차가 심해짐</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오행의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土 — 모든 것의 중심, 믿음(信)</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역할</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양(木·火)에서 음(金·水)으로 넘어갈 때 어느 쪽에도 치우치지 않는 중재자이자 완충.</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배속</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환절기 · 정오와 자정 · 성장을 멈추고 열매 맺는 시기</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양토와 음토</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陽土(戊): 거대한 흙더미 / 陰土(己): 밭의 흙, 그릇. 지지는 계절마다 辰·未·戌·丑 넷</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본성 信 · 속성 근심(思)</a:t>
            </a:r>
            <a:endParaRPr lang="en-US" sz="1800" dirty="0"/>
          </a:p>
          <a:p>
            <a:pPr indent="0" marL="0">
              <a:lnSpc>
                <a:spcPct val="115000"/>
              </a:lnSpc>
              <a:buNone/>
            </a:pPr>
            <a:r>
              <a:rPr lang="en-US" sz="1600" dirty="0">
                <a:solidFill>
                  <a:srgbClr val="6B6778"/>
                </a:solidFill>
                <a:latin typeface="Malgun Gothic" pitchFamily="34" charset="0"/>
                <a:ea typeface="Malgun Gothic" pitchFamily="34" charset="-122"/>
                <a:cs typeface="Malgun Gothic" pitchFamily="34" charset="-120"/>
              </a:rPr>
              <a:t>만물이 믿고 의지해 형상을 갖추게 하므로 信. 온전하지 못하면 근심과 거짓, 무한한 욕심이 된다.</a:t>
            </a:r>
            <a:endParaRPr lang="en-US" sz="18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8892A"/>
          </a:solidFill>
          <a:ln w="12700">
            <a:solidFill>
              <a:srgbClr val="B8892A"/>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土</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인체: 비장 · 위장</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국화에 장미를 접붙이면</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근심이 생긴다</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오행의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金 — 형상의 골격, 의로움(義)</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역할</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만물의 형상을 갖추게 하는 입자이자 골격. 흩어진 기운을 거두어 결실을 맺게 함.</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배속</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가을 · 저녁 · 노년기 · 열매가 여무는 시기</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양금과 음금</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陽金(庚·申): 다듬지 않은 쇳덩이 / 陰金(辛·酉): 다듬은 날카로운 쇠</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본성 義 · 속성 비통(哀)</a:t>
            </a:r>
            <a:endParaRPr lang="en-US" sz="1800" dirty="0"/>
          </a:p>
          <a:p>
            <a:pPr indent="0" marL="0">
              <a:lnSpc>
                <a:spcPct val="115000"/>
              </a:lnSpc>
              <a:buNone/>
            </a:pPr>
            <a:r>
              <a:rPr lang="en-US" sz="1600" dirty="0">
                <a:solidFill>
                  <a:srgbClr val="6B6778"/>
                </a:solidFill>
                <a:latin typeface="Malgun Gothic" pitchFamily="34" charset="0"/>
                <a:ea typeface="Malgun Gothic" pitchFamily="34" charset="-122"/>
                <a:cs typeface="Malgun Gothic" pitchFamily="34" charset="-120"/>
              </a:rPr>
              <a:t>본질이 굳고 단단하므로 義. 적당하면 의리 있고 강직하나, 치우치면 불의하거나 고독하고 우울하다.</a:t>
            </a:r>
            <a:endParaRPr lang="en-US" sz="18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6E737B"/>
          </a:solidFill>
          <a:ln w="12700">
            <a:solidFill>
              <a:srgbClr val="6E737B"/>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金</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인체: 폐 · 대장</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억세고 날카로운 성격</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오행의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水 — 생명의 근원, 지혜(智)</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역할</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도(道)에서 나온 최초의 물질. 순환의 마지막이자 첫 단계 — 응축·저장하고 새 순환을 준비.</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배속</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겨울 · 밤 · 죽음의 시기 · 씨앗</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양수와 음수</a:t>
            </a:r>
            <a:endParaRPr lang="en-US" sz="1800" dirty="0"/>
          </a:p>
          <a:p>
            <a:pPr indent="0" marL="0">
              <a:lnSpc>
                <a:spcPct val="115000"/>
              </a:lnSpc>
              <a:spcAft>
                <a:spcPts val="1600"/>
              </a:spcAft>
              <a:buNone/>
            </a:pPr>
            <a:r>
              <a:rPr lang="en-US" sz="1600" dirty="0">
                <a:solidFill>
                  <a:srgbClr val="6B6778"/>
                </a:solidFill>
                <a:latin typeface="Malgun Gothic" pitchFamily="34" charset="0"/>
                <a:ea typeface="Malgun Gothic" pitchFamily="34" charset="-122"/>
                <a:cs typeface="Malgun Gothic" pitchFamily="34" charset="-120"/>
              </a:rPr>
              <a:t>陽水(壬·亥): 바다처럼 크고 깊은 물 / 陰水(癸·子): 식수·우물물</a:t>
            </a:r>
            <a:endParaRPr lang="en-US" sz="1800" dirty="0"/>
          </a:p>
          <a:p>
            <a:pPr indent="0" marL="0">
              <a:lnSpc>
                <a:spcPct val="115000"/>
              </a:lnSpc>
              <a:buNone/>
            </a:pPr>
            <a:r>
              <a:rPr lang="en-US" sz="1800" b="1" dirty="0">
                <a:solidFill>
                  <a:srgbClr val="22212A"/>
                </a:solidFill>
                <a:latin typeface="Malgun Gothic" pitchFamily="34" charset="0"/>
                <a:ea typeface="Malgun Gothic" pitchFamily="34" charset="-122"/>
                <a:cs typeface="Malgun Gothic" pitchFamily="34" charset="-120"/>
              </a:rPr>
              <a:t>본성 智 · 속성 두려움(恐)</a:t>
            </a:r>
            <a:endParaRPr lang="en-US" sz="1800" dirty="0"/>
          </a:p>
          <a:p>
            <a:pPr indent="0" marL="0">
              <a:lnSpc>
                <a:spcPct val="115000"/>
              </a:lnSpc>
              <a:buNone/>
            </a:pPr>
            <a:r>
              <a:rPr lang="en-US" sz="1600" dirty="0">
                <a:solidFill>
                  <a:srgbClr val="6B6778"/>
                </a:solidFill>
                <a:latin typeface="Malgun Gothic" pitchFamily="34" charset="0"/>
                <a:ea typeface="Malgun Gothic" pitchFamily="34" charset="-122"/>
                <a:cs typeface="Malgun Gothic" pitchFamily="34" charset="-120"/>
              </a:rPr>
              <a:t>아래로 흐르고 막히면 돌아가며 어디든 스며드니 智. 부족하면 건망증, 지나치면 간교해지고 두려움이 깊어진다.</a:t>
            </a:r>
            <a:endParaRPr lang="en-US" sz="18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22406E"/>
          </a:solidFill>
          <a:ln w="12700">
            <a:solidFill>
              <a:srgbClr val="22406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水</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인체: 신장 · 방광</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오행의 성질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한눈에 보는 오행의 본성과 속성</a:t>
            </a:r>
            <a:endParaRPr lang="en-US" sz="3000" dirty="0"/>
          </a:p>
        </p:txBody>
      </p:sp>
      <p:sp>
        <p:nvSpPr>
          <p:cNvPr id="4" name="Shape 2"/>
          <p:cNvSpPr/>
          <p:nvPr/>
        </p:nvSpPr>
        <p:spPr>
          <a:xfrm>
            <a:off x="548640" y="1600200"/>
            <a:ext cx="1999427" cy="4572000"/>
          </a:xfrm>
          <a:prstGeom prst="roundRect">
            <a:avLst>
              <a:gd name="adj" fmla="val 5488"/>
            </a:avLst>
          </a:prstGeom>
          <a:solidFill>
            <a:srgbClr val="F3F1F6"/>
          </a:solidFill>
          <a:ln w="12700">
            <a:solidFill>
              <a:srgbClr val="F3F1F6"/>
            </a:solidFill>
            <a:prstDash val="solid"/>
          </a:ln>
        </p:spPr>
      </p:sp>
      <p:sp>
        <p:nvSpPr>
          <p:cNvPr id="5" name="Shape 3"/>
          <p:cNvSpPr/>
          <p:nvPr/>
        </p:nvSpPr>
        <p:spPr>
          <a:xfrm>
            <a:off x="1091154" y="1874520"/>
            <a:ext cx="914400" cy="914400"/>
          </a:xfrm>
          <a:prstGeom prst="ellipse">
            <a:avLst/>
          </a:prstGeom>
          <a:solidFill>
            <a:srgbClr val="3F7D4E"/>
          </a:solidFill>
          <a:ln w="12700">
            <a:solidFill>
              <a:srgbClr val="3F7D4E"/>
            </a:solidFill>
            <a:prstDash val="solid"/>
          </a:ln>
        </p:spPr>
      </p:sp>
      <p:sp>
        <p:nvSpPr>
          <p:cNvPr id="6" name="Text 4"/>
          <p:cNvSpPr txBox="1"/>
          <p:nvPr/>
        </p:nvSpPr>
        <p:spPr>
          <a:xfrm>
            <a:off x="1091154" y="18745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木</a:t>
            </a:r>
            <a:endParaRPr lang="en-US" sz="3400" dirty="0"/>
          </a:p>
        </p:txBody>
      </p:sp>
      <p:sp>
        <p:nvSpPr>
          <p:cNvPr id="7" name="Text 5"/>
          <p:cNvSpPr txBox="1"/>
          <p:nvPr/>
        </p:nvSpPr>
        <p:spPr>
          <a:xfrm>
            <a:off x="640080" y="2880360"/>
            <a:ext cx="1816547" cy="384048"/>
          </a:xfrm>
          <a:prstGeom prst="rect">
            <a:avLst/>
          </a:prstGeom>
          <a:noFill/>
          <a:ln/>
        </p:spPr>
        <p:txBody>
          <a:bodyPr wrap="square" lIns="0" tIns="0" rIns="0" bIns="0" rtlCol="0" anchor="ct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仁 · 怒</a:t>
            </a:r>
            <a:endParaRPr lang="en-US" sz="1800" dirty="0"/>
          </a:p>
        </p:txBody>
      </p:sp>
      <p:sp>
        <p:nvSpPr>
          <p:cNvPr id="8" name="Text 6"/>
          <p:cNvSpPr txBox="1"/>
          <p:nvPr/>
        </p:nvSpPr>
        <p:spPr>
          <a:xfrm>
            <a:off x="685800" y="3310128"/>
            <a:ext cx="1725107" cy="2788920"/>
          </a:xfrm>
          <a:prstGeom prst="rect">
            <a:avLst/>
          </a:prstGeom>
          <a:noFill/>
          <a:ln/>
        </p:spPr>
        <p:txBody>
          <a:bodyPr wrap="square" lIns="0" tIns="0" rIns="0" bIns="0" rtlCol="0" anchor="t"/>
          <a:lstStyle/>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어짊</a:t>
            </a: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분노 · 성급함</a:t>
            </a:r>
            <a:endParaRPr lang="en-US" sz="1700" dirty="0"/>
          </a:p>
          <a:p>
            <a:pPr algn="ctr" indent="0" marL="0">
              <a:lnSpc>
                <a:spcPct val="110000"/>
              </a:lnSpc>
              <a:buNone/>
            </a:pP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간 · 담</a:t>
            </a:r>
            <a:endParaRPr lang="en-US" sz="1700" dirty="0"/>
          </a:p>
        </p:txBody>
      </p:sp>
      <p:sp>
        <p:nvSpPr>
          <p:cNvPr id="9" name="Shape 7"/>
          <p:cNvSpPr/>
          <p:nvPr/>
        </p:nvSpPr>
        <p:spPr>
          <a:xfrm>
            <a:off x="2822387" y="1600200"/>
            <a:ext cx="1999427" cy="4572000"/>
          </a:xfrm>
          <a:prstGeom prst="roundRect">
            <a:avLst>
              <a:gd name="adj" fmla="val 5488"/>
            </a:avLst>
          </a:prstGeom>
          <a:solidFill>
            <a:srgbClr val="F3F1F6"/>
          </a:solidFill>
          <a:ln w="12700">
            <a:solidFill>
              <a:srgbClr val="F3F1F6"/>
            </a:solidFill>
            <a:prstDash val="solid"/>
          </a:ln>
        </p:spPr>
      </p:sp>
      <p:sp>
        <p:nvSpPr>
          <p:cNvPr id="10" name="Shape 8"/>
          <p:cNvSpPr/>
          <p:nvPr/>
        </p:nvSpPr>
        <p:spPr>
          <a:xfrm>
            <a:off x="3364901" y="1874520"/>
            <a:ext cx="914400" cy="914400"/>
          </a:xfrm>
          <a:prstGeom prst="ellipse">
            <a:avLst/>
          </a:prstGeom>
          <a:solidFill>
            <a:srgbClr val="C0392B"/>
          </a:solidFill>
          <a:ln w="12700">
            <a:solidFill>
              <a:srgbClr val="C0392B"/>
            </a:solidFill>
            <a:prstDash val="solid"/>
          </a:ln>
        </p:spPr>
      </p:sp>
      <p:sp>
        <p:nvSpPr>
          <p:cNvPr id="11" name="Text 9"/>
          <p:cNvSpPr txBox="1"/>
          <p:nvPr/>
        </p:nvSpPr>
        <p:spPr>
          <a:xfrm>
            <a:off x="3364901" y="18745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火</a:t>
            </a:r>
            <a:endParaRPr lang="en-US" sz="3400" dirty="0"/>
          </a:p>
        </p:txBody>
      </p:sp>
      <p:sp>
        <p:nvSpPr>
          <p:cNvPr id="12" name="Text 10"/>
          <p:cNvSpPr txBox="1"/>
          <p:nvPr/>
        </p:nvSpPr>
        <p:spPr>
          <a:xfrm>
            <a:off x="2913827" y="2880360"/>
            <a:ext cx="1816547" cy="384048"/>
          </a:xfrm>
          <a:prstGeom prst="rect">
            <a:avLst/>
          </a:prstGeom>
          <a:noFill/>
          <a:ln/>
        </p:spPr>
        <p:txBody>
          <a:bodyPr wrap="square" lIns="0" tIns="0" rIns="0" bIns="0" rtlCol="0" anchor="ct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禮 · 喜</a:t>
            </a:r>
            <a:endParaRPr lang="en-US" sz="1800" dirty="0"/>
          </a:p>
        </p:txBody>
      </p:sp>
      <p:sp>
        <p:nvSpPr>
          <p:cNvPr id="13" name="Text 11"/>
          <p:cNvSpPr txBox="1"/>
          <p:nvPr/>
        </p:nvSpPr>
        <p:spPr>
          <a:xfrm>
            <a:off x="2959547" y="3310128"/>
            <a:ext cx="1725107" cy="2788920"/>
          </a:xfrm>
          <a:prstGeom prst="rect">
            <a:avLst/>
          </a:prstGeom>
          <a:noFill/>
          <a:ln/>
        </p:spPr>
        <p:txBody>
          <a:bodyPr wrap="square" lIns="0" tIns="0" rIns="0" bIns="0" rtlCol="0" anchor="t"/>
          <a:lstStyle/>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예</a:t>
            </a: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즐거움 · 희비 교차</a:t>
            </a:r>
            <a:endParaRPr lang="en-US" sz="1700" dirty="0"/>
          </a:p>
          <a:p>
            <a:pPr algn="ctr" indent="0" marL="0">
              <a:lnSpc>
                <a:spcPct val="110000"/>
              </a:lnSpc>
              <a:buNone/>
            </a:pP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심장 · 소장</a:t>
            </a:r>
            <a:endParaRPr lang="en-US" sz="1700" dirty="0"/>
          </a:p>
        </p:txBody>
      </p:sp>
      <p:sp>
        <p:nvSpPr>
          <p:cNvPr id="14" name="Shape 12"/>
          <p:cNvSpPr/>
          <p:nvPr/>
        </p:nvSpPr>
        <p:spPr>
          <a:xfrm>
            <a:off x="5096134" y="1600200"/>
            <a:ext cx="1999427" cy="4572000"/>
          </a:xfrm>
          <a:prstGeom prst="roundRect">
            <a:avLst>
              <a:gd name="adj" fmla="val 5488"/>
            </a:avLst>
          </a:prstGeom>
          <a:solidFill>
            <a:srgbClr val="F3F1F6"/>
          </a:solidFill>
          <a:ln w="12700">
            <a:solidFill>
              <a:srgbClr val="F3F1F6"/>
            </a:solidFill>
            <a:prstDash val="solid"/>
          </a:ln>
        </p:spPr>
      </p:sp>
      <p:sp>
        <p:nvSpPr>
          <p:cNvPr id="15" name="Shape 13"/>
          <p:cNvSpPr/>
          <p:nvPr/>
        </p:nvSpPr>
        <p:spPr>
          <a:xfrm>
            <a:off x="5638648" y="1874520"/>
            <a:ext cx="914400" cy="914400"/>
          </a:xfrm>
          <a:prstGeom prst="ellipse">
            <a:avLst/>
          </a:prstGeom>
          <a:solidFill>
            <a:srgbClr val="B8892A"/>
          </a:solidFill>
          <a:ln w="12700">
            <a:solidFill>
              <a:srgbClr val="B8892A"/>
            </a:solidFill>
            <a:prstDash val="solid"/>
          </a:ln>
        </p:spPr>
      </p:sp>
      <p:sp>
        <p:nvSpPr>
          <p:cNvPr id="16" name="Text 14"/>
          <p:cNvSpPr txBox="1"/>
          <p:nvPr/>
        </p:nvSpPr>
        <p:spPr>
          <a:xfrm>
            <a:off x="5638648" y="18745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土</a:t>
            </a:r>
            <a:endParaRPr lang="en-US" sz="3400" dirty="0"/>
          </a:p>
        </p:txBody>
      </p:sp>
      <p:sp>
        <p:nvSpPr>
          <p:cNvPr id="17" name="Text 15"/>
          <p:cNvSpPr txBox="1"/>
          <p:nvPr/>
        </p:nvSpPr>
        <p:spPr>
          <a:xfrm>
            <a:off x="5187574" y="2880360"/>
            <a:ext cx="1816547" cy="384048"/>
          </a:xfrm>
          <a:prstGeom prst="rect">
            <a:avLst/>
          </a:prstGeom>
          <a:noFill/>
          <a:ln/>
        </p:spPr>
        <p:txBody>
          <a:bodyPr wrap="square" lIns="0" tIns="0" rIns="0" bIns="0" rtlCol="0" anchor="ct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信 · 思</a:t>
            </a:r>
            <a:endParaRPr lang="en-US" sz="1800" dirty="0"/>
          </a:p>
        </p:txBody>
      </p:sp>
      <p:sp>
        <p:nvSpPr>
          <p:cNvPr id="18" name="Text 16"/>
          <p:cNvSpPr txBox="1"/>
          <p:nvPr/>
        </p:nvSpPr>
        <p:spPr>
          <a:xfrm>
            <a:off x="5233294" y="3310128"/>
            <a:ext cx="1725107" cy="2788920"/>
          </a:xfrm>
          <a:prstGeom prst="rect">
            <a:avLst/>
          </a:prstGeom>
          <a:noFill/>
          <a:ln/>
        </p:spPr>
        <p:txBody>
          <a:bodyPr wrap="square" lIns="0" tIns="0" rIns="0" bIns="0" rtlCol="0" anchor="t"/>
          <a:lstStyle/>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믿음</a:t>
            </a: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근심 · 거짓 · 욕심</a:t>
            </a:r>
            <a:endParaRPr lang="en-US" sz="1700" dirty="0"/>
          </a:p>
          <a:p>
            <a:pPr algn="ctr" indent="0" marL="0">
              <a:lnSpc>
                <a:spcPct val="110000"/>
              </a:lnSpc>
              <a:buNone/>
            </a:pP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비장 · 위장</a:t>
            </a:r>
            <a:endParaRPr lang="en-US" sz="1700" dirty="0"/>
          </a:p>
        </p:txBody>
      </p:sp>
      <p:sp>
        <p:nvSpPr>
          <p:cNvPr id="19" name="Shape 17"/>
          <p:cNvSpPr/>
          <p:nvPr/>
        </p:nvSpPr>
        <p:spPr>
          <a:xfrm>
            <a:off x="7369881" y="1600200"/>
            <a:ext cx="1999427" cy="4572000"/>
          </a:xfrm>
          <a:prstGeom prst="roundRect">
            <a:avLst>
              <a:gd name="adj" fmla="val 5488"/>
            </a:avLst>
          </a:prstGeom>
          <a:solidFill>
            <a:srgbClr val="F3F1F6"/>
          </a:solidFill>
          <a:ln w="12700">
            <a:solidFill>
              <a:srgbClr val="F3F1F6"/>
            </a:solidFill>
            <a:prstDash val="solid"/>
          </a:ln>
        </p:spPr>
      </p:sp>
      <p:sp>
        <p:nvSpPr>
          <p:cNvPr id="20" name="Shape 18"/>
          <p:cNvSpPr/>
          <p:nvPr/>
        </p:nvSpPr>
        <p:spPr>
          <a:xfrm>
            <a:off x="7912395" y="1874520"/>
            <a:ext cx="914400" cy="914400"/>
          </a:xfrm>
          <a:prstGeom prst="ellipse">
            <a:avLst/>
          </a:prstGeom>
          <a:solidFill>
            <a:srgbClr val="6E737B"/>
          </a:solidFill>
          <a:ln w="12700">
            <a:solidFill>
              <a:srgbClr val="6E737B"/>
            </a:solidFill>
            <a:prstDash val="solid"/>
          </a:ln>
        </p:spPr>
      </p:sp>
      <p:sp>
        <p:nvSpPr>
          <p:cNvPr id="21" name="Text 19"/>
          <p:cNvSpPr txBox="1"/>
          <p:nvPr/>
        </p:nvSpPr>
        <p:spPr>
          <a:xfrm>
            <a:off x="7912395" y="18745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金</a:t>
            </a:r>
            <a:endParaRPr lang="en-US" sz="3400" dirty="0"/>
          </a:p>
        </p:txBody>
      </p:sp>
      <p:sp>
        <p:nvSpPr>
          <p:cNvPr id="22" name="Text 20"/>
          <p:cNvSpPr txBox="1"/>
          <p:nvPr/>
        </p:nvSpPr>
        <p:spPr>
          <a:xfrm>
            <a:off x="7461321" y="2880360"/>
            <a:ext cx="1816547" cy="384048"/>
          </a:xfrm>
          <a:prstGeom prst="rect">
            <a:avLst/>
          </a:prstGeom>
          <a:noFill/>
          <a:ln/>
        </p:spPr>
        <p:txBody>
          <a:bodyPr wrap="square" lIns="0" tIns="0" rIns="0" bIns="0" rtlCol="0" anchor="ct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義 · 哀</a:t>
            </a:r>
            <a:endParaRPr lang="en-US" sz="1800" dirty="0"/>
          </a:p>
        </p:txBody>
      </p:sp>
      <p:sp>
        <p:nvSpPr>
          <p:cNvPr id="23" name="Text 21"/>
          <p:cNvSpPr txBox="1"/>
          <p:nvPr/>
        </p:nvSpPr>
        <p:spPr>
          <a:xfrm>
            <a:off x="7507041" y="3310128"/>
            <a:ext cx="1725107" cy="2788920"/>
          </a:xfrm>
          <a:prstGeom prst="rect">
            <a:avLst/>
          </a:prstGeom>
          <a:noFill/>
          <a:ln/>
        </p:spPr>
        <p:txBody>
          <a:bodyPr wrap="square" lIns="0" tIns="0" rIns="0" bIns="0" rtlCol="0" anchor="t"/>
          <a:lstStyle/>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의로움</a:t>
            </a: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비통 · 우울</a:t>
            </a:r>
            <a:endParaRPr lang="en-US" sz="1700" dirty="0"/>
          </a:p>
          <a:p>
            <a:pPr algn="ctr" indent="0" marL="0">
              <a:lnSpc>
                <a:spcPct val="110000"/>
              </a:lnSpc>
              <a:buNone/>
            </a:pP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폐 · 대장</a:t>
            </a:r>
            <a:endParaRPr lang="en-US" sz="1700" dirty="0"/>
          </a:p>
        </p:txBody>
      </p:sp>
      <p:sp>
        <p:nvSpPr>
          <p:cNvPr id="24" name="Shape 22"/>
          <p:cNvSpPr/>
          <p:nvPr/>
        </p:nvSpPr>
        <p:spPr>
          <a:xfrm>
            <a:off x="9643628" y="1600200"/>
            <a:ext cx="1999427" cy="4572000"/>
          </a:xfrm>
          <a:prstGeom prst="roundRect">
            <a:avLst>
              <a:gd name="adj" fmla="val 5488"/>
            </a:avLst>
          </a:prstGeom>
          <a:solidFill>
            <a:srgbClr val="F3F1F6"/>
          </a:solidFill>
          <a:ln w="12700">
            <a:solidFill>
              <a:srgbClr val="F3F1F6"/>
            </a:solidFill>
            <a:prstDash val="solid"/>
          </a:ln>
        </p:spPr>
      </p:sp>
      <p:sp>
        <p:nvSpPr>
          <p:cNvPr id="25" name="Shape 23"/>
          <p:cNvSpPr/>
          <p:nvPr/>
        </p:nvSpPr>
        <p:spPr>
          <a:xfrm>
            <a:off x="10186142" y="1874520"/>
            <a:ext cx="914400" cy="914400"/>
          </a:xfrm>
          <a:prstGeom prst="ellipse">
            <a:avLst/>
          </a:prstGeom>
          <a:solidFill>
            <a:srgbClr val="22406E"/>
          </a:solidFill>
          <a:ln w="12700">
            <a:solidFill>
              <a:srgbClr val="22406E"/>
            </a:solidFill>
            <a:prstDash val="solid"/>
          </a:ln>
        </p:spPr>
      </p:sp>
      <p:sp>
        <p:nvSpPr>
          <p:cNvPr id="26" name="Text 24"/>
          <p:cNvSpPr txBox="1"/>
          <p:nvPr/>
        </p:nvSpPr>
        <p:spPr>
          <a:xfrm>
            <a:off x="10186142" y="1874520"/>
            <a:ext cx="914400" cy="91440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水</a:t>
            </a:r>
            <a:endParaRPr lang="en-US" sz="3400" dirty="0"/>
          </a:p>
        </p:txBody>
      </p:sp>
      <p:sp>
        <p:nvSpPr>
          <p:cNvPr id="27" name="Text 25"/>
          <p:cNvSpPr txBox="1"/>
          <p:nvPr/>
        </p:nvSpPr>
        <p:spPr>
          <a:xfrm>
            <a:off x="9735068" y="2880360"/>
            <a:ext cx="1816547" cy="384048"/>
          </a:xfrm>
          <a:prstGeom prst="rect">
            <a:avLst/>
          </a:prstGeom>
          <a:noFill/>
          <a:ln/>
        </p:spPr>
        <p:txBody>
          <a:bodyPr wrap="square" lIns="0" tIns="0" rIns="0" bIns="0" rtlCol="0" anchor="ct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智 · 恐</a:t>
            </a:r>
            <a:endParaRPr lang="en-US" sz="1800" dirty="0"/>
          </a:p>
        </p:txBody>
      </p:sp>
      <p:sp>
        <p:nvSpPr>
          <p:cNvPr id="28" name="Text 26"/>
          <p:cNvSpPr txBox="1"/>
          <p:nvPr/>
        </p:nvSpPr>
        <p:spPr>
          <a:xfrm>
            <a:off x="9780788" y="3310128"/>
            <a:ext cx="1725107" cy="2788920"/>
          </a:xfrm>
          <a:prstGeom prst="rect">
            <a:avLst/>
          </a:prstGeom>
          <a:noFill/>
          <a:ln/>
        </p:spPr>
        <p:txBody>
          <a:bodyPr wrap="square" lIns="0" tIns="0" rIns="0" bIns="0" rtlCol="0" anchor="t"/>
          <a:lstStyle/>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지혜</a:t>
            </a: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두려움 · 건망</a:t>
            </a:r>
            <a:endParaRPr lang="en-US" sz="1700" dirty="0"/>
          </a:p>
          <a:p>
            <a:pPr algn="ctr" indent="0" marL="0">
              <a:lnSpc>
                <a:spcPct val="110000"/>
              </a:lnSpc>
              <a:buNone/>
            </a:pPr>
            <a:endParaRPr lang="en-US" sz="1700" dirty="0"/>
          </a:p>
          <a:p>
            <a:pPr algn="ctr" indent="0" marL="0">
              <a:lnSpc>
                <a:spcPct val="110000"/>
              </a:lnSpc>
              <a:buNone/>
            </a:pPr>
            <a:r>
              <a:rPr lang="en-US" sz="1700" dirty="0">
                <a:solidFill>
                  <a:srgbClr val="22212A"/>
                </a:solidFill>
                <a:latin typeface="Malgun Gothic" pitchFamily="34" charset="0"/>
                <a:ea typeface="Malgun Gothic" pitchFamily="34" charset="-122"/>
                <a:cs typeface="Malgun Gothic" pitchFamily="34" charset="-120"/>
              </a:rPr>
              <a:t>신장 · 방광</a:t>
            </a:r>
            <a:endParaRPr lang="en-US" sz="1700" dirty="0"/>
          </a:p>
        </p:txBody>
      </p:sp>
      <p:sp>
        <p:nvSpPr>
          <p:cNvPr id="29" name="Text 2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30" name="Text 2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03</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오행과 천지 만물</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같은 오행에 속한 것끼리는 서로 통한다</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오행과 천지 만물</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오행의 구분 — 방위 · 기후 · 계절 · 때</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371600"/>
                <a:gridCol w="1828800"/>
                <a:gridCol w="1828800"/>
                <a:gridCol w="2862072"/>
                <a:gridCol w="1600200"/>
                <a:gridCol w="1600200"/>
              </a:tblGrid>
              <a:tr h="685800">
                <a:tc>
                  <a:txBody>
                    <a:bodyPr/>
                    <a:lstStyle/>
                    <a:p>
                      <a:pPr algn="ctr" indent="0" marL="0">
                        <a:buNone/>
                      </a:pP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木</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3F7D4E"/>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火</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C0392B"/>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土</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B8892A"/>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金</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6E737B"/>
                    </a:solidFill>
                  </a:tcPr>
                </a:tc>
                <a:tc>
                  <a:txBody>
                    <a:bodyP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水</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22406E"/>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방위</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동쪽</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남쪽</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중앙 (동남·서남·서북·동북)</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서쪽</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북쪽</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기후</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따뜻함 風</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더위 暑</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냉·습·조·건</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건조함 燥</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추위 寒</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계절</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봄</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여름</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환절기</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가을</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겨울</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700" b="1" dirty="0">
                          <a:solidFill>
                            <a:srgbClr val="22212A"/>
                          </a:solidFill>
                          <a:latin typeface="Malgun Gothic" pitchFamily="34" charset="0"/>
                          <a:ea typeface="Malgun Gothic" pitchFamily="34" charset="-122"/>
                          <a:cs typeface="Malgun Gothic" pitchFamily="34" charset="-120"/>
                        </a:rPr>
                        <a:t>하루</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아침</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낮</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정오·자정 (전환점)</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저녁</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2212A"/>
                          </a:solidFill>
                          <a:latin typeface="Malgun Gothic" pitchFamily="34" charset="0"/>
                          <a:ea typeface="Malgun Gothic" pitchFamily="34" charset="-122"/>
                          <a:cs typeface="Malgun Gothic" pitchFamily="34" charset="-120"/>
                        </a:rPr>
                        <a:t>밤</a:t>
                      </a:r>
                      <a:endParaRPr lang="en-US" sz="17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"날씨" = 날(하루) + 씨(오행 氣의 씨알)</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오행과 천지 만물</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오행과 오장육부</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371600"/>
                <a:gridCol w="1920240"/>
                <a:gridCol w="2286000"/>
                <a:gridCol w="1920240"/>
                <a:gridCol w="1920240"/>
                <a:gridCol w="1673352"/>
              </a:tblGrid>
              <a:tr h="585216">
                <a:tc>
                  <a:txBody>
                    <a:bodyPr/>
                    <a:lstStyle/>
                    <a:p>
                      <a:pPr algn="ctr" indent="0" marL="0">
                        <a:buNone/>
                      </a:pP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3F7D4E"/>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火</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C0392B"/>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土</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B8892A"/>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金</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6E737B"/>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22406E"/>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오장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심장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비장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폐</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신장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육부</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소장 · 삼초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위장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대장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방광</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오관</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눈 · 시각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혀 · 미각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코 · 후각 *</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피부 · 촉각 *</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귀 · 청각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오체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근육</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맥</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살(肉)</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피부(皮)</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뼈(骨)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오상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禮</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信</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義</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智</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오정</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분노(怒)</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기쁨(喜) · 슬픔(悲)</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근심(思)</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비통(哀)</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공포(恐)</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 텍스트 추출본 기준. 일반적인 배속(土=입, 金=코)과 다르므로 원본 표를 확인할 것 · 삼초 = 상초(횡격막 위)·중초·하초(배꼽 아래)</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오행과 천지 만물</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오행과 음식 · 색 · 소리</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737360"/>
                <a:gridCol w="1828800"/>
                <a:gridCol w="2103120"/>
                <a:gridCol w="1828800"/>
                <a:gridCol w="1828800"/>
                <a:gridCol w="1764792"/>
              </a:tblGrid>
              <a:tr h="462280">
                <a:tc>
                  <a:txBody>
                    <a:bodyPr/>
                    <a:lstStyle/>
                    <a:p>
                      <a:pPr algn="ctr" indent="0" marL="0">
                        <a:buNone/>
                      </a:pP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木</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3F7D4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火</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C0392B"/>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土</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B8892A"/>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金</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6E737B"/>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22406E"/>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오미 (맛)</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신맛</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쓴맛</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단맛</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매운맛</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짠맛</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오곡</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보리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수수</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기장</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벼(현미)</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콩</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오축</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닭</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양</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말</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돼지</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녹색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붉은색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황색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흰색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검은색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각(角)</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치(徵)</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궁(宮)</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상(商)</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우(羽)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소리오행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아음 ㄱ·ㅋ</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설음 ㄴ·ㄷ·ㄹ·ㅌ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순음 ㅁ·ㅂ·ㅍ</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치음 ㅅ·ㅈ·ㅊ</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후음 ㅇ·ㅎ</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오취 (냄새)</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누린내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탄내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향내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비린내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썩은내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46228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오성 (소리)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외치는 소리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웃음소리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노랫소리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우는 소리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앓는 소리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저자: 작명계 상당수가 土와 水의 소리오행을 바꿔 쓰는 오류를 범한다 — 근거는 『훈민정음해례본』</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04</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오행의 작용</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상생 · 상극 · 조화 · 부조화</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오행의 작용</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상생(相生) — 어머니가 자식을 낳듯</a:t>
            </a:r>
            <a:endParaRPr lang="en-US" sz="3000" dirty="0"/>
          </a:p>
        </p:txBody>
      </p:sp>
      <p:sp>
        <p:nvSpPr>
          <p:cNvPr id="4" name="Shape 2"/>
          <p:cNvSpPr/>
          <p:nvPr/>
        </p:nvSpPr>
        <p:spPr>
          <a:xfrm>
            <a:off x="3739398" y="2245410"/>
            <a:ext cx="887659" cy="644922"/>
          </a:xfrm>
          <a:prstGeom prst="line">
            <a:avLst/>
          </a:prstGeom>
          <a:noFill/>
          <a:ln w="28575">
            <a:solidFill>
              <a:srgbClr val="8E8A99"/>
            </a:solidFill>
            <a:prstDash val="solid"/>
            <a:tailEnd type="triangle"/>
          </a:ln>
        </p:spPr>
      </p:sp>
      <p:sp>
        <p:nvSpPr>
          <p:cNvPr id="5" name="Shape 3"/>
          <p:cNvSpPr/>
          <p:nvPr/>
        </p:nvSpPr>
        <p:spPr>
          <a:xfrm flipH="1">
            <a:off x="4564607" y="3741637"/>
            <a:ext cx="339055" cy="1043505"/>
          </a:xfrm>
          <a:prstGeom prst="line">
            <a:avLst/>
          </a:prstGeom>
          <a:noFill/>
          <a:ln w="28575">
            <a:solidFill>
              <a:srgbClr val="8E8A99"/>
            </a:solidFill>
            <a:prstDash val="solid"/>
            <a:tailEnd type="triangle"/>
          </a:ln>
        </p:spPr>
      </p:sp>
      <p:sp>
        <p:nvSpPr>
          <p:cNvPr id="6" name="Shape 4"/>
          <p:cNvSpPr/>
          <p:nvPr/>
        </p:nvSpPr>
        <p:spPr>
          <a:xfrm flipH="1">
            <a:off x="2743237" y="5311279"/>
            <a:ext cx="1097206" cy="9144"/>
          </a:xfrm>
          <a:prstGeom prst="line">
            <a:avLst/>
          </a:prstGeom>
          <a:noFill/>
          <a:ln w="28575">
            <a:solidFill>
              <a:srgbClr val="8E8A99"/>
            </a:solidFill>
            <a:prstDash val="solid"/>
            <a:tailEnd type="triangle"/>
          </a:ln>
        </p:spPr>
      </p:sp>
      <p:sp>
        <p:nvSpPr>
          <p:cNvPr id="7" name="Shape 5"/>
          <p:cNvSpPr/>
          <p:nvPr/>
        </p:nvSpPr>
        <p:spPr>
          <a:xfrm flipH="1" flipV="1">
            <a:off x="1680017" y="3741637"/>
            <a:ext cx="339055" cy="1043505"/>
          </a:xfrm>
          <a:prstGeom prst="line">
            <a:avLst/>
          </a:prstGeom>
          <a:noFill/>
          <a:ln w="28575">
            <a:solidFill>
              <a:srgbClr val="8E8A99"/>
            </a:solidFill>
            <a:prstDash val="solid"/>
            <a:tailEnd type="triangle"/>
          </a:ln>
        </p:spPr>
      </p:sp>
      <p:sp>
        <p:nvSpPr>
          <p:cNvPr id="8" name="Shape 6"/>
          <p:cNvSpPr/>
          <p:nvPr/>
        </p:nvSpPr>
        <p:spPr>
          <a:xfrm flipV="1">
            <a:off x="1956623" y="2245410"/>
            <a:ext cx="887659" cy="644922"/>
          </a:xfrm>
          <a:prstGeom prst="line">
            <a:avLst/>
          </a:prstGeom>
          <a:noFill/>
          <a:ln w="28575">
            <a:solidFill>
              <a:srgbClr val="8E8A99"/>
            </a:solidFill>
            <a:prstDash val="solid"/>
            <a:tailEnd type="triangle"/>
          </a:ln>
        </p:spPr>
      </p:sp>
      <p:sp>
        <p:nvSpPr>
          <p:cNvPr id="9" name="Shape 7"/>
          <p:cNvSpPr/>
          <p:nvPr/>
        </p:nvSpPr>
        <p:spPr>
          <a:xfrm>
            <a:off x="2811780" y="1440180"/>
            <a:ext cx="960120" cy="960120"/>
          </a:xfrm>
          <a:prstGeom prst="ellipse">
            <a:avLst/>
          </a:prstGeom>
          <a:solidFill>
            <a:srgbClr val="3F7D4E"/>
          </a:solidFill>
          <a:ln w="12700">
            <a:solidFill>
              <a:srgbClr val="3F7D4E"/>
            </a:solidFill>
            <a:prstDash val="solid"/>
          </a:ln>
        </p:spPr>
      </p:sp>
      <p:sp>
        <p:nvSpPr>
          <p:cNvPr id="10" name="Text 8"/>
          <p:cNvSpPr txBox="1"/>
          <p:nvPr/>
        </p:nvSpPr>
        <p:spPr>
          <a:xfrm>
            <a:off x="2811780" y="1440180"/>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木</a:t>
            </a:r>
            <a:endParaRPr lang="en-US" sz="3400" dirty="0"/>
          </a:p>
        </p:txBody>
      </p:sp>
      <p:sp>
        <p:nvSpPr>
          <p:cNvPr id="11" name="Shape 9"/>
          <p:cNvSpPr/>
          <p:nvPr/>
        </p:nvSpPr>
        <p:spPr>
          <a:xfrm>
            <a:off x="4594554" y="2735441"/>
            <a:ext cx="960120" cy="960120"/>
          </a:xfrm>
          <a:prstGeom prst="ellipse">
            <a:avLst/>
          </a:prstGeom>
          <a:solidFill>
            <a:srgbClr val="C0392B"/>
          </a:solidFill>
          <a:ln w="12700">
            <a:solidFill>
              <a:srgbClr val="C0392B"/>
            </a:solidFill>
            <a:prstDash val="solid"/>
          </a:ln>
        </p:spPr>
      </p:sp>
      <p:sp>
        <p:nvSpPr>
          <p:cNvPr id="12" name="Text 10"/>
          <p:cNvSpPr txBox="1"/>
          <p:nvPr/>
        </p:nvSpPr>
        <p:spPr>
          <a:xfrm>
            <a:off x="4594554" y="2735441"/>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火</a:t>
            </a:r>
            <a:endParaRPr lang="en-US" sz="3400" dirty="0"/>
          </a:p>
        </p:txBody>
      </p:sp>
      <p:sp>
        <p:nvSpPr>
          <p:cNvPr id="13" name="Shape 11"/>
          <p:cNvSpPr/>
          <p:nvPr/>
        </p:nvSpPr>
        <p:spPr>
          <a:xfrm>
            <a:off x="3913595" y="4831219"/>
            <a:ext cx="960120" cy="960120"/>
          </a:xfrm>
          <a:prstGeom prst="ellipse">
            <a:avLst/>
          </a:prstGeom>
          <a:solidFill>
            <a:srgbClr val="B8892A"/>
          </a:solidFill>
          <a:ln w="12700">
            <a:solidFill>
              <a:srgbClr val="B8892A"/>
            </a:solidFill>
            <a:prstDash val="solid"/>
          </a:ln>
        </p:spPr>
      </p:sp>
      <p:sp>
        <p:nvSpPr>
          <p:cNvPr id="14" name="Text 12"/>
          <p:cNvSpPr txBox="1"/>
          <p:nvPr/>
        </p:nvSpPr>
        <p:spPr>
          <a:xfrm>
            <a:off x="3913595" y="4831219"/>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土</a:t>
            </a:r>
            <a:endParaRPr lang="en-US" sz="3400" dirty="0"/>
          </a:p>
        </p:txBody>
      </p:sp>
      <p:sp>
        <p:nvSpPr>
          <p:cNvPr id="15" name="Shape 13"/>
          <p:cNvSpPr/>
          <p:nvPr/>
        </p:nvSpPr>
        <p:spPr>
          <a:xfrm>
            <a:off x="1709965" y="4831219"/>
            <a:ext cx="960120" cy="960120"/>
          </a:xfrm>
          <a:prstGeom prst="ellipse">
            <a:avLst/>
          </a:prstGeom>
          <a:solidFill>
            <a:srgbClr val="6E737B"/>
          </a:solidFill>
          <a:ln w="12700">
            <a:solidFill>
              <a:srgbClr val="6E737B"/>
            </a:solidFill>
            <a:prstDash val="solid"/>
          </a:ln>
        </p:spPr>
      </p:sp>
      <p:sp>
        <p:nvSpPr>
          <p:cNvPr id="16" name="Text 14"/>
          <p:cNvSpPr txBox="1"/>
          <p:nvPr/>
        </p:nvSpPr>
        <p:spPr>
          <a:xfrm>
            <a:off x="1709965" y="4831219"/>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金</a:t>
            </a:r>
            <a:endParaRPr lang="en-US" sz="3400" dirty="0"/>
          </a:p>
        </p:txBody>
      </p:sp>
      <p:sp>
        <p:nvSpPr>
          <p:cNvPr id="17" name="Shape 15"/>
          <p:cNvSpPr/>
          <p:nvPr/>
        </p:nvSpPr>
        <p:spPr>
          <a:xfrm>
            <a:off x="1029006" y="2735441"/>
            <a:ext cx="960120" cy="960120"/>
          </a:xfrm>
          <a:prstGeom prst="ellipse">
            <a:avLst/>
          </a:prstGeom>
          <a:solidFill>
            <a:srgbClr val="22406E"/>
          </a:solidFill>
          <a:ln w="12700">
            <a:solidFill>
              <a:srgbClr val="22406E"/>
            </a:solidFill>
            <a:prstDash val="solid"/>
          </a:ln>
        </p:spPr>
      </p:sp>
      <p:sp>
        <p:nvSpPr>
          <p:cNvPr id="18" name="Text 16"/>
          <p:cNvSpPr txBox="1"/>
          <p:nvPr/>
        </p:nvSpPr>
        <p:spPr>
          <a:xfrm>
            <a:off x="1029006" y="2735441"/>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水</a:t>
            </a:r>
            <a:endParaRPr lang="en-US" sz="3400" dirty="0"/>
          </a:p>
        </p:txBody>
      </p:sp>
      <p:sp>
        <p:nvSpPr>
          <p:cNvPr id="19" name="Text 17"/>
          <p:cNvSpPr txBox="1"/>
          <p:nvPr/>
        </p:nvSpPr>
        <p:spPr>
          <a:xfrm>
            <a:off x="2560320" y="3520440"/>
            <a:ext cx="1463040" cy="548640"/>
          </a:xfrm>
          <a:prstGeom prst="rect">
            <a:avLst/>
          </a:prstGeom>
          <a:noFill/>
          <a:ln/>
        </p:spPr>
        <p:txBody>
          <a:bodyPr wrap="square" lIns="0" tIns="0" rIns="0" bIns="0" rtlCol="0" anchor="ctr"/>
          <a:lstStyle/>
          <a:p>
            <a:pPr algn="ctr" indent="0" marL="0">
              <a:buNone/>
            </a:pPr>
            <a:r>
              <a:rPr lang="en-US" sz="1800" b="1" dirty="0">
                <a:solidFill>
                  <a:srgbClr val="6B6778"/>
                </a:solidFill>
                <a:latin typeface="Malgun Gothic" pitchFamily="34" charset="0"/>
                <a:ea typeface="Malgun Gothic" pitchFamily="34" charset="-122"/>
                <a:cs typeface="Malgun Gothic" pitchFamily="34" charset="-120"/>
              </a:rPr>
              <a:t>상생</a:t>
            </a:r>
            <a:endParaRPr lang="en-US" sz="1800" dirty="0"/>
          </a:p>
        </p:txBody>
      </p:sp>
      <p:sp>
        <p:nvSpPr>
          <p:cNvPr id="20" name="Text 18"/>
          <p:cNvSpPr txBox="1"/>
          <p:nvPr/>
        </p:nvSpPr>
        <p:spPr>
          <a:xfrm>
            <a:off x="6583680" y="1600200"/>
            <a:ext cx="5059375" cy="365760"/>
          </a:xfrm>
          <a:prstGeom prst="rect">
            <a:avLst/>
          </a:prstGeom>
          <a:noFill/>
          <a:ln/>
        </p:spPr>
        <p:txBody>
          <a:bodyPr wrap="square" lIns="0" tIns="0" rIns="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천지에 사랑과 평화를 가져온다</a:t>
            </a:r>
            <a:endParaRPr lang="en-US" sz="1500" dirty="0"/>
          </a:p>
        </p:txBody>
      </p:sp>
      <p:sp>
        <p:nvSpPr>
          <p:cNvPr id="21" name="Text 19"/>
          <p:cNvSpPr txBox="1"/>
          <p:nvPr/>
        </p:nvSpPr>
        <p:spPr>
          <a:xfrm>
            <a:off x="6583680" y="2103120"/>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목생화 木→火</a:t>
            </a:r>
            <a:endParaRPr lang="en-US" sz="1600" dirty="0"/>
          </a:p>
        </p:txBody>
      </p:sp>
      <p:sp>
        <p:nvSpPr>
          <p:cNvPr id="22" name="Text 20"/>
          <p:cNvSpPr txBox="1"/>
          <p:nvPr/>
        </p:nvSpPr>
        <p:spPr>
          <a:xfrm>
            <a:off x="8046720" y="2103120"/>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나무는 자신을 태워 불을 살린다</a:t>
            </a:r>
            <a:endParaRPr lang="en-US" sz="1300" dirty="0"/>
          </a:p>
        </p:txBody>
      </p:sp>
      <p:sp>
        <p:nvSpPr>
          <p:cNvPr id="23" name="Text 21"/>
          <p:cNvSpPr txBox="1"/>
          <p:nvPr/>
        </p:nvSpPr>
        <p:spPr>
          <a:xfrm>
            <a:off x="6583680" y="2907792"/>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화생토 火→土</a:t>
            </a:r>
            <a:endParaRPr lang="en-US" sz="1600" dirty="0"/>
          </a:p>
        </p:txBody>
      </p:sp>
      <p:sp>
        <p:nvSpPr>
          <p:cNvPr id="24" name="Text 22"/>
          <p:cNvSpPr txBox="1"/>
          <p:nvPr/>
        </p:nvSpPr>
        <p:spPr>
          <a:xfrm>
            <a:off x="8046720" y="2907792"/>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불은 재를 만들어 흙을 살린다</a:t>
            </a:r>
            <a:endParaRPr lang="en-US" sz="1300" dirty="0"/>
          </a:p>
        </p:txBody>
      </p:sp>
      <p:sp>
        <p:nvSpPr>
          <p:cNvPr id="25" name="Text 23"/>
          <p:cNvSpPr txBox="1"/>
          <p:nvPr/>
        </p:nvSpPr>
        <p:spPr>
          <a:xfrm>
            <a:off x="6583680" y="3712464"/>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토생금 土→金</a:t>
            </a:r>
            <a:endParaRPr lang="en-US" sz="1600" dirty="0"/>
          </a:p>
        </p:txBody>
      </p:sp>
      <p:sp>
        <p:nvSpPr>
          <p:cNvPr id="26" name="Text 24"/>
          <p:cNvSpPr txBox="1"/>
          <p:nvPr/>
        </p:nvSpPr>
        <p:spPr>
          <a:xfrm>
            <a:off x="8046720" y="3712464"/>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흙은 오랜 시간 굳어져 쇠를 만든다</a:t>
            </a:r>
            <a:endParaRPr lang="en-US" sz="1300" dirty="0"/>
          </a:p>
        </p:txBody>
      </p:sp>
      <p:sp>
        <p:nvSpPr>
          <p:cNvPr id="27" name="Text 25"/>
          <p:cNvSpPr txBox="1"/>
          <p:nvPr/>
        </p:nvSpPr>
        <p:spPr>
          <a:xfrm>
            <a:off x="6583680" y="4517136"/>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금생수 金→水</a:t>
            </a:r>
            <a:endParaRPr lang="en-US" sz="1600" dirty="0"/>
          </a:p>
        </p:txBody>
      </p:sp>
      <p:sp>
        <p:nvSpPr>
          <p:cNvPr id="28" name="Text 26"/>
          <p:cNvSpPr txBox="1"/>
          <p:nvPr/>
        </p:nvSpPr>
        <p:spPr>
          <a:xfrm>
            <a:off x="8046720" y="4517136"/>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쇠는 습기를 불러들여 물을 만든다</a:t>
            </a:r>
            <a:endParaRPr lang="en-US" sz="1300" dirty="0"/>
          </a:p>
        </p:txBody>
      </p:sp>
      <p:sp>
        <p:nvSpPr>
          <p:cNvPr id="29" name="Text 27"/>
          <p:cNvSpPr txBox="1"/>
          <p:nvPr/>
        </p:nvSpPr>
        <p:spPr>
          <a:xfrm>
            <a:off x="6583680" y="5321808"/>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수생목 水→木</a:t>
            </a:r>
            <a:endParaRPr lang="en-US" sz="1600" dirty="0"/>
          </a:p>
        </p:txBody>
      </p:sp>
      <p:sp>
        <p:nvSpPr>
          <p:cNvPr id="30" name="Text 28"/>
          <p:cNvSpPr txBox="1"/>
          <p:nvPr/>
        </p:nvSpPr>
        <p:spPr>
          <a:xfrm>
            <a:off x="8046720" y="5321808"/>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물은 자양분을 주어 나무를 기른다</a:t>
            </a:r>
            <a:endParaRPr lang="en-US" sz="1300" dirty="0"/>
          </a:p>
        </p:txBody>
      </p:sp>
      <p:sp>
        <p:nvSpPr>
          <p:cNvPr id="31" name="Text 29"/>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32" name="Text 3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오행의 작용</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상극(相剋) — 적절한 자극</a:t>
            </a:r>
            <a:endParaRPr lang="en-US" sz="3000" dirty="0"/>
          </a:p>
        </p:txBody>
      </p:sp>
      <p:sp>
        <p:nvSpPr>
          <p:cNvPr id="4" name="Shape 2"/>
          <p:cNvSpPr/>
          <p:nvPr/>
        </p:nvSpPr>
        <p:spPr>
          <a:xfrm>
            <a:off x="3462792" y="2446376"/>
            <a:ext cx="759911" cy="2338767"/>
          </a:xfrm>
          <a:prstGeom prst="line">
            <a:avLst/>
          </a:prstGeom>
          <a:noFill/>
          <a:ln w="28575">
            <a:solidFill>
              <a:srgbClr val="B23A2E"/>
            </a:solidFill>
            <a:prstDash val="solid"/>
            <a:tailEnd type="triangle"/>
          </a:ln>
        </p:spPr>
      </p:sp>
      <p:sp>
        <p:nvSpPr>
          <p:cNvPr id="5" name="Shape 3"/>
          <p:cNvSpPr/>
          <p:nvPr/>
        </p:nvSpPr>
        <p:spPr>
          <a:xfrm flipH="1">
            <a:off x="2637583" y="3540671"/>
            <a:ext cx="1989474" cy="1445437"/>
          </a:xfrm>
          <a:prstGeom prst="line">
            <a:avLst/>
          </a:prstGeom>
          <a:noFill/>
          <a:ln w="28575">
            <a:solidFill>
              <a:srgbClr val="B23A2E"/>
            </a:solidFill>
            <a:prstDash val="solid"/>
            <a:tailEnd type="triangle"/>
          </a:ln>
        </p:spPr>
      </p:sp>
      <p:sp>
        <p:nvSpPr>
          <p:cNvPr id="6" name="Shape 4"/>
          <p:cNvSpPr/>
          <p:nvPr/>
        </p:nvSpPr>
        <p:spPr>
          <a:xfrm flipH="1" flipV="1">
            <a:off x="1956623" y="3540671"/>
            <a:ext cx="1989474" cy="1445437"/>
          </a:xfrm>
          <a:prstGeom prst="line">
            <a:avLst/>
          </a:prstGeom>
          <a:noFill/>
          <a:ln w="28575">
            <a:solidFill>
              <a:srgbClr val="B23A2E"/>
            </a:solidFill>
            <a:prstDash val="solid"/>
            <a:tailEnd type="triangle"/>
          </a:ln>
        </p:spPr>
      </p:sp>
      <p:sp>
        <p:nvSpPr>
          <p:cNvPr id="7" name="Shape 5"/>
          <p:cNvSpPr/>
          <p:nvPr/>
        </p:nvSpPr>
        <p:spPr>
          <a:xfrm flipV="1">
            <a:off x="2360977" y="2446376"/>
            <a:ext cx="759911" cy="2338767"/>
          </a:xfrm>
          <a:prstGeom prst="line">
            <a:avLst/>
          </a:prstGeom>
          <a:noFill/>
          <a:ln w="28575">
            <a:solidFill>
              <a:srgbClr val="B23A2E"/>
            </a:solidFill>
            <a:prstDash val="solid"/>
            <a:tailEnd type="triangle"/>
          </a:ln>
        </p:spPr>
      </p:sp>
      <p:sp>
        <p:nvSpPr>
          <p:cNvPr id="8" name="Shape 6"/>
          <p:cNvSpPr/>
          <p:nvPr/>
        </p:nvSpPr>
        <p:spPr>
          <a:xfrm>
            <a:off x="2062278" y="3215501"/>
            <a:ext cx="2459125" cy="9144"/>
          </a:xfrm>
          <a:prstGeom prst="line">
            <a:avLst/>
          </a:prstGeom>
          <a:noFill/>
          <a:ln w="28575">
            <a:solidFill>
              <a:srgbClr val="B23A2E"/>
            </a:solidFill>
            <a:prstDash val="solid"/>
            <a:tailEnd type="triangle"/>
          </a:ln>
        </p:spPr>
      </p:sp>
      <p:sp>
        <p:nvSpPr>
          <p:cNvPr id="9" name="Shape 7"/>
          <p:cNvSpPr/>
          <p:nvPr/>
        </p:nvSpPr>
        <p:spPr>
          <a:xfrm>
            <a:off x="2811780" y="1440180"/>
            <a:ext cx="960120" cy="960120"/>
          </a:xfrm>
          <a:prstGeom prst="ellipse">
            <a:avLst/>
          </a:prstGeom>
          <a:solidFill>
            <a:srgbClr val="3F7D4E"/>
          </a:solidFill>
          <a:ln w="12700">
            <a:solidFill>
              <a:srgbClr val="3F7D4E"/>
            </a:solidFill>
            <a:prstDash val="solid"/>
          </a:ln>
        </p:spPr>
      </p:sp>
      <p:sp>
        <p:nvSpPr>
          <p:cNvPr id="10" name="Text 8"/>
          <p:cNvSpPr txBox="1"/>
          <p:nvPr/>
        </p:nvSpPr>
        <p:spPr>
          <a:xfrm>
            <a:off x="2811780" y="1440180"/>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木</a:t>
            </a:r>
            <a:endParaRPr lang="en-US" sz="3400" dirty="0"/>
          </a:p>
        </p:txBody>
      </p:sp>
      <p:sp>
        <p:nvSpPr>
          <p:cNvPr id="11" name="Shape 9"/>
          <p:cNvSpPr/>
          <p:nvPr/>
        </p:nvSpPr>
        <p:spPr>
          <a:xfrm>
            <a:off x="4594554" y="2735441"/>
            <a:ext cx="960120" cy="960120"/>
          </a:xfrm>
          <a:prstGeom prst="ellipse">
            <a:avLst/>
          </a:prstGeom>
          <a:solidFill>
            <a:srgbClr val="C0392B"/>
          </a:solidFill>
          <a:ln w="12700">
            <a:solidFill>
              <a:srgbClr val="C0392B"/>
            </a:solidFill>
            <a:prstDash val="solid"/>
          </a:ln>
        </p:spPr>
      </p:sp>
      <p:sp>
        <p:nvSpPr>
          <p:cNvPr id="12" name="Text 10"/>
          <p:cNvSpPr txBox="1"/>
          <p:nvPr/>
        </p:nvSpPr>
        <p:spPr>
          <a:xfrm>
            <a:off x="4594554" y="2735441"/>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火</a:t>
            </a:r>
            <a:endParaRPr lang="en-US" sz="3400" dirty="0"/>
          </a:p>
        </p:txBody>
      </p:sp>
      <p:sp>
        <p:nvSpPr>
          <p:cNvPr id="13" name="Shape 11"/>
          <p:cNvSpPr/>
          <p:nvPr/>
        </p:nvSpPr>
        <p:spPr>
          <a:xfrm>
            <a:off x="3913595" y="4831219"/>
            <a:ext cx="960120" cy="960120"/>
          </a:xfrm>
          <a:prstGeom prst="ellipse">
            <a:avLst/>
          </a:prstGeom>
          <a:solidFill>
            <a:srgbClr val="B8892A"/>
          </a:solidFill>
          <a:ln w="12700">
            <a:solidFill>
              <a:srgbClr val="B8892A"/>
            </a:solidFill>
            <a:prstDash val="solid"/>
          </a:ln>
        </p:spPr>
      </p:sp>
      <p:sp>
        <p:nvSpPr>
          <p:cNvPr id="14" name="Text 12"/>
          <p:cNvSpPr txBox="1"/>
          <p:nvPr/>
        </p:nvSpPr>
        <p:spPr>
          <a:xfrm>
            <a:off x="3913595" y="4831219"/>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土</a:t>
            </a:r>
            <a:endParaRPr lang="en-US" sz="3400" dirty="0"/>
          </a:p>
        </p:txBody>
      </p:sp>
      <p:sp>
        <p:nvSpPr>
          <p:cNvPr id="15" name="Shape 13"/>
          <p:cNvSpPr/>
          <p:nvPr/>
        </p:nvSpPr>
        <p:spPr>
          <a:xfrm>
            <a:off x="1709965" y="4831219"/>
            <a:ext cx="960120" cy="960120"/>
          </a:xfrm>
          <a:prstGeom prst="ellipse">
            <a:avLst/>
          </a:prstGeom>
          <a:solidFill>
            <a:srgbClr val="6E737B"/>
          </a:solidFill>
          <a:ln w="12700">
            <a:solidFill>
              <a:srgbClr val="6E737B"/>
            </a:solidFill>
            <a:prstDash val="solid"/>
          </a:ln>
        </p:spPr>
      </p:sp>
      <p:sp>
        <p:nvSpPr>
          <p:cNvPr id="16" name="Text 14"/>
          <p:cNvSpPr txBox="1"/>
          <p:nvPr/>
        </p:nvSpPr>
        <p:spPr>
          <a:xfrm>
            <a:off x="1709965" y="4831219"/>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金</a:t>
            </a:r>
            <a:endParaRPr lang="en-US" sz="3400" dirty="0"/>
          </a:p>
        </p:txBody>
      </p:sp>
      <p:sp>
        <p:nvSpPr>
          <p:cNvPr id="17" name="Shape 15"/>
          <p:cNvSpPr/>
          <p:nvPr/>
        </p:nvSpPr>
        <p:spPr>
          <a:xfrm>
            <a:off x="1029006" y="2735441"/>
            <a:ext cx="960120" cy="960120"/>
          </a:xfrm>
          <a:prstGeom prst="ellipse">
            <a:avLst/>
          </a:prstGeom>
          <a:solidFill>
            <a:srgbClr val="22406E"/>
          </a:solidFill>
          <a:ln w="12700">
            <a:solidFill>
              <a:srgbClr val="22406E"/>
            </a:solidFill>
            <a:prstDash val="solid"/>
          </a:ln>
        </p:spPr>
      </p:sp>
      <p:sp>
        <p:nvSpPr>
          <p:cNvPr id="18" name="Text 16"/>
          <p:cNvSpPr txBox="1"/>
          <p:nvPr/>
        </p:nvSpPr>
        <p:spPr>
          <a:xfrm>
            <a:off x="1029006" y="2735441"/>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水</a:t>
            </a:r>
            <a:endParaRPr lang="en-US" sz="3400" dirty="0"/>
          </a:p>
        </p:txBody>
      </p:sp>
      <p:sp>
        <p:nvSpPr>
          <p:cNvPr id="19" name="Text 17"/>
          <p:cNvSpPr txBox="1"/>
          <p:nvPr/>
        </p:nvSpPr>
        <p:spPr>
          <a:xfrm>
            <a:off x="2560320" y="3520440"/>
            <a:ext cx="1463040" cy="548640"/>
          </a:xfrm>
          <a:prstGeom prst="rect">
            <a:avLst/>
          </a:prstGeom>
          <a:noFill/>
          <a:ln/>
        </p:spPr>
        <p:txBody>
          <a:bodyPr wrap="square" lIns="0" tIns="0" rIns="0" bIns="0" rtlCol="0" anchor="ctr"/>
          <a:lstStyle/>
          <a:p>
            <a:pPr algn="ctr" indent="0" marL="0">
              <a:buNone/>
            </a:pPr>
            <a:r>
              <a:rPr lang="en-US" sz="1800" b="1" dirty="0">
                <a:solidFill>
                  <a:srgbClr val="6B6778"/>
                </a:solidFill>
                <a:latin typeface="Malgun Gothic" pitchFamily="34" charset="0"/>
                <a:ea typeface="Malgun Gothic" pitchFamily="34" charset="-122"/>
                <a:cs typeface="Malgun Gothic" pitchFamily="34" charset="-120"/>
              </a:rPr>
              <a:t>상극</a:t>
            </a:r>
            <a:endParaRPr lang="en-US" sz="1800" dirty="0"/>
          </a:p>
        </p:txBody>
      </p:sp>
      <p:sp>
        <p:nvSpPr>
          <p:cNvPr id="20" name="Text 18"/>
          <p:cNvSpPr txBox="1"/>
          <p:nvPr/>
        </p:nvSpPr>
        <p:spPr>
          <a:xfrm>
            <a:off x="6583680" y="1600200"/>
            <a:ext cx="5059375" cy="365760"/>
          </a:xfrm>
          <a:prstGeom prst="rect">
            <a:avLst/>
          </a:prstGeom>
          <a:noFill/>
          <a:ln/>
        </p:spPr>
        <p:txBody>
          <a:bodyPr wrap="square" lIns="0" tIns="0" rIns="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상생 + 상생 = 상극  (木生火 + 火生土 → 木剋土)</a:t>
            </a:r>
            <a:endParaRPr lang="en-US" sz="1500" dirty="0"/>
          </a:p>
        </p:txBody>
      </p:sp>
      <p:sp>
        <p:nvSpPr>
          <p:cNvPr id="21" name="Text 19"/>
          <p:cNvSpPr txBox="1"/>
          <p:nvPr/>
        </p:nvSpPr>
        <p:spPr>
          <a:xfrm>
            <a:off x="6583680" y="2103120"/>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목극토 木→土</a:t>
            </a:r>
            <a:endParaRPr lang="en-US" sz="1600" dirty="0"/>
          </a:p>
        </p:txBody>
      </p:sp>
      <p:sp>
        <p:nvSpPr>
          <p:cNvPr id="22" name="Text 20"/>
          <p:cNvSpPr txBox="1"/>
          <p:nvPr/>
        </p:nvSpPr>
        <p:spPr>
          <a:xfrm>
            <a:off x="8046720" y="2103120"/>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뿌리를 내려 흙을 자극하고 비옥하게 한다</a:t>
            </a:r>
            <a:endParaRPr lang="en-US" sz="1300" dirty="0"/>
          </a:p>
        </p:txBody>
      </p:sp>
      <p:sp>
        <p:nvSpPr>
          <p:cNvPr id="23" name="Text 21"/>
          <p:cNvSpPr txBox="1"/>
          <p:nvPr/>
        </p:nvSpPr>
        <p:spPr>
          <a:xfrm>
            <a:off x="6583680" y="2907792"/>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토극수 土→水</a:t>
            </a:r>
            <a:endParaRPr lang="en-US" sz="1600" dirty="0"/>
          </a:p>
        </p:txBody>
      </p:sp>
      <p:sp>
        <p:nvSpPr>
          <p:cNvPr id="24" name="Text 22"/>
          <p:cNvSpPr txBox="1"/>
          <p:nvPr/>
        </p:nvSpPr>
        <p:spPr>
          <a:xfrm>
            <a:off x="8046720" y="2907792"/>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둑이 되어 물을 한곳에 모은다</a:t>
            </a:r>
            <a:endParaRPr lang="en-US" sz="1300" dirty="0"/>
          </a:p>
        </p:txBody>
      </p:sp>
      <p:sp>
        <p:nvSpPr>
          <p:cNvPr id="25" name="Text 23"/>
          <p:cNvSpPr txBox="1"/>
          <p:nvPr/>
        </p:nvSpPr>
        <p:spPr>
          <a:xfrm>
            <a:off x="6583680" y="3712464"/>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수극화 水→火</a:t>
            </a:r>
            <a:endParaRPr lang="en-US" sz="1600" dirty="0"/>
          </a:p>
        </p:txBody>
      </p:sp>
      <p:sp>
        <p:nvSpPr>
          <p:cNvPr id="26" name="Text 24"/>
          <p:cNvSpPr txBox="1"/>
          <p:nvPr/>
        </p:nvSpPr>
        <p:spPr>
          <a:xfrm>
            <a:off x="8046720" y="3712464"/>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불이 다 타 버리지 않게 화력을 조절한다</a:t>
            </a:r>
            <a:endParaRPr lang="en-US" sz="1300" dirty="0"/>
          </a:p>
        </p:txBody>
      </p:sp>
      <p:sp>
        <p:nvSpPr>
          <p:cNvPr id="27" name="Text 25"/>
          <p:cNvSpPr txBox="1"/>
          <p:nvPr/>
        </p:nvSpPr>
        <p:spPr>
          <a:xfrm>
            <a:off x="6583680" y="4517136"/>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화극금 火→金</a:t>
            </a:r>
            <a:endParaRPr lang="en-US" sz="1600" dirty="0"/>
          </a:p>
        </p:txBody>
      </p:sp>
      <p:sp>
        <p:nvSpPr>
          <p:cNvPr id="28" name="Text 26"/>
          <p:cNvSpPr txBox="1"/>
          <p:nvPr/>
        </p:nvSpPr>
        <p:spPr>
          <a:xfrm>
            <a:off x="8046720" y="4517136"/>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쇠를 녹여 단단하게 제련한다</a:t>
            </a:r>
            <a:endParaRPr lang="en-US" sz="1300" dirty="0"/>
          </a:p>
        </p:txBody>
      </p:sp>
      <p:sp>
        <p:nvSpPr>
          <p:cNvPr id="29" name="Text 27"/>
          <p:cNvSpPr txBox="1"/>
          <p:nvPr/>
        </p:nvSpPr>
        <p:spPr>
          <a:xfrm>
            <a:off x="6583680" y="5321808"/>
            <a:ext cx="1417320" cy="713232"/>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금극목 金→木</a:t>
            </a:r>
            <a:endParaRPr lang="en-US" sz="1600" dirty="0"/>
          </a:p>
        </p:txBody>
      </p:sp>
      <p:sp>
        <p:nvSpPr>
          <p:cNvPr id="30" name="Text 28"/>
          <p:cNvSpPr txBox="1"/>
          <p:nvPr/>
        </p:nvSpPr>
        <p:spPr>
          <a:xfrm>
            <a:off x="8046720" y="5321808"/>
            <a:ext cx="3596335" cy="713232"/>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나무를 잘라 재목으로 다듬는다</a:t>
            </a:r>
            <a:endParaRPr lang="en-US" sz="1300" dirty="0"/>
          </a:p>
        </p:txBody>
      </p:sp>
      <p:sp>
        <p:nvSpPr>
          <p:cNvPr id="31" name="Text 29"/>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32" name="Text 30"/>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오행의 작용</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조화 — 생극제화(生剋制化)와 중용</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하나의 오행은 네 방향으로 관계를 맺는다</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木의 경우: 水에게 생을 받고, 金에게 극을 받으며, 土를 극하고, 火를 생한다.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상생과 상극은 떼어 놓을 수 없다</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木은 水에게 받은 에너지로 金의 극에 대처하고, 土를 극하고, 火를 생한다.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조화 = 힘의 균형</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각 단계가 일정한 힘의 균형을 이루는 것. 이를 가장 완벽하게 구현한 것이 우주다.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23A2E"/>
          </a:solidFill>
          <a:ln w="12700">
            <a:solidFill>
              <a:srgbClr val="B23A2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中庸</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"상생 상극이 균형을 이루는 것,</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이것이 곧 중용(中庸)이며</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우주의 마음이다."</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오행의 작용</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부조화 — 치우치면 연쇄 반응이 일어난다</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371600"/>
                <a:gridCol w="2560320"/>
                <a:gridCol w="3017520"/>
                <a:gridCol w="4142232"/>
              </a:tblGrid>
              <a:tr h="685800">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유형</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뜻</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비유</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고서 표현 (예)</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300" b="1" dirty="0">
                          <a:solidFill>
                            <a:srgbClr val="22212A"/>
                          </a:solidFill>
                          <a:latin typeface="Malgun Gothic" pitchFamily="34" charset="0"/>
                          <a:ea typeface="Malgun Gothic" pitchFamily="34" charset="-122"/>
                          <a:cs typeface="Malgun Gothic" pitchFamily="34" charset="-120"/>
                        </a:rPr>
                        <a:t>불생 ①</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생하는 쪽이 너무 강함</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극성스러운 어머니 밑에서 주눅 든 자식</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목다화식(木多火熄) — 장작 한 짐에 모닥불이 꺼짐</a:t>
                      </a:r>
                      <a:endParaRPr lang="en-US" sz="1300" dirty="0">
                        <a:latin typeface="Malgun Gothic" charset="0"/>
                        <a:ea typeface="Malgun Gothic" charset="0"/>
                        <a:cs typeface="Malgun Gothic" charset="0"/>
                      </a:endParaRPr>
                    </a:p>
                    <a:p>
                      <a:pPr algn="l" indent="0" marL="0">
                        <a:buNone/>
                      </a:pPr>
                      <a:r>
                        <a:rPr lang="en-US" sz="1300" dirty="0">
                          <a:solidFill>
                            <a:srgbClr val="22212A"/>
                          </a:solidFill>
                          <a:latin typeface="Malgun Gothic" pitchFamily="34" charset="0"/>
                          <a:ea typeface="Malgun Gothic" pitchFamily="34" charset="-122"/>
                          <a:cs typeface="Malgun Gothic" pitchFamily="34" charset="-120"/>
                        </a:rPr>
                        <a:t>수다목부(水多木浮) — 홍수에 작은 나무가 떠내려감</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300" b="1" dirty="0">
                          <a:solidFill>
                            <a:srgbClr val="22212A"/>
                          </a:solidFill>
                          <a:latin typeface="Malgun Gothic" pitchFamily="34" charset="0"/>
                          <a:ea typeface="Malgun Gothic" pitchFamily="34" charset="-122"/>
                          <a:cs typeface="Malgun Gothic" pitchFamily="34" charset="-120"/>
                        </a:rPr>
                        <a:t>불생 ②</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생을 받는 쪽이 너무 강함</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병약한 어머니와 탐욕스러운 자식</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화다목분(火多木焚) — 큰 불에 낙엽이 타 버림</a:t>
                      </a:r>
                      <a:endParaRPr lang="en-US" sz="1300" dirty="0">
                        <a:latin typeface="Malgun Gothic" charset="0"/>
                        <a:ea typeface="Malgun Gothic" charset="0"/>
                        <a:cs typeface="Malgun Gothic" charset="0"/>
                      </a:endParaRPr>
                    </a:p>
                    <a:p>
                      <a:pPr algn="l" indent="0" marL="0">
                        <a:buNone/>
                      </a:pPr>
                      <a:r>
                        <a:rPr lang="en-US" sz="1300" dirty="0">
                          <a:solidFill>
                            <a:srgbClr val="22212A"/>
                          </a:solidFill>
                          <a:latin typeface="Malgun Gothic" pitchFamily="34" charset="0"/>
                          <a:ea typeface="Malgun Gothic" pitchFamily="34" charset="-122"/>
                          <a:cs typeface="Malgun Gothic" pitchFamily="34" charset="-120"/>
                        </a:rPr>
                        <a:t>목다수축(木多水縮) — 아름드리나무에 물 한 방울</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300" b="1" dirty="0">
                          <a:solidFill>
                            <a:srgbClr val="22212A"/>
                          </a:solidFill>
                          <a:latin typeface="Malgun Gothic" pitchFamily="34" charset="0"/>
                          <a:ea typeface="Malgun Gothic" pitchFamily="34" charset="-122"/>
                          <a:cs typeface="Malgun Gothic" pitchFamily="34" charset="-120"/>
                        </a:rPr>
                        <a:t>반극(反剋)</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극하는 쪽이 약하고 극을 받는 쪽이 강함</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작은 칼로 큰 나무를 베려다 칼이 부러짐</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목다금결(木多金缺) · 수다토붕(水多土崩)</a:t>
                      </a:r>
                      <a:endParaRPr lang="en-US" sz="1300" dirty="0">
                        <a:latin typeface="Malgun Gothic" charset="0"/>
                        <a:ea typeface="Malgun Gothic" charset="0"/>
                        <a:cs typeface="Malgun Gothic" charset="0"/>
                      </a:endParaRPr>
                    </a:p>
                    <a:p>
                      <a:pPr algn="l" indent="0" marL="0">
                        <a:buNone/>
                      </a:pPr>
                      <a:r>
                        <a:rPr lang="en-US" sz="1300" dirty="0">
                          <a:solidFill>
                            <a:srgbClr val="22212A"/>
                          </a:solidFill>
                          <a:latin typeface="Malgun Gothic" pitchFamily="34" charset="0"/>
                          <a:ea typeface="Malgun Gothic" pitchFamily="34" charset="-122"/>
                          <a:cs typeface="Malgun Gothic" pitchFamily="34" charset="-120"/>
                        </a:rPr>
                        <a:t>화다수증(火多水蒸) — 용광로에 물 한 바가지</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300" b="1" dirty="0">
                          <a:solidFill>
                            <a:srgbClr val="22212A"/>
                          </a:solidFill>
                          <a:latin typeface="Malgun Gothic" pitchFamily="34" charset="0"/>
                          <a:ea typeface="Malgun Gothic" pitchFamily="34" charset="-122"/>
                          <a:cs typeface="Malgun Gothic" pitchFamily="34" charset="-120"/>
                        </a:rPr>
                        <a:t>파극(破剋)</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극하는 쪽이 너무 강해 상대를 무너뜨림</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용광로 불이 작은 쇳덩이를 녹여 버림</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12A"/>
                          </a:solidFill>
                          <a:latin typeface="Malgun Gothic" pitchFamily="34" charset="0"/>
                          <a:ea typeface="Malgun Gothic" pitchFamily="34" charset="-122"/>
                          <a:cs typeface="Malgun Gothic" pitchFamily="34" charset="-120"/>
                        </a:rPr>
                        <a:t>화다금용(火多金熔) · 토다수색(土多水塞)</a:t>
                      </a:r>
                      <a:endParaRPr lang="en-US" sz="1300" dirty="0">
                        <a:latin typeface="Malgun Gothic" charset="0"/>
                        <a:ea typeface="Malgun Gothic" charset="0"/>
                        <a:cs typeface="Malgun Gothic" charset="0"/>
                      </a:endParaRPr>
                    </a:p>
                    <a:p>
                      <a:pPr algn="l" indent="0" marL="0">
                        <a:buNone/>
                      </a:pPr>
                      <a:r>
                        <a:rPr lang="en-US" sz="1300" dirty="0">
                          <a:solidFill>
                            <a:srgbClr val="22212A"/>
                          </a:solidFill>
                          <a:latin typeface="Malgun Gothic" pitchFamily="34" charset="0"/>
                          <a:ea typeface="Malgun Gothic" pitchFamily="34" charset="-122"/>
                          <a:cs typeface="Malgun Gothic" pitchFamily="34" charset="-120"/>
                        </a:rPr>
                        <a:t>수다화식(水多火熄) — 바다에 작은 불씨</a:t>
                      </a:r>
                      <a:endParaRPr lang="en-US" sz="13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예: 木이 넘치고 火가 없으면 → 土는 황폐해지고, 水는 말라 버리고, 金은 오히려 반극을 당한다</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828800" cy="1828800"/>
          </a:xfrm>
          <a:prstGeom prst="rect">
            <a:avLst/>
          </a:prstGeom>
          <a:noFill/>
          <a:ln/>
        </p:spPr>
        <p:txBody>
          <a:bodyPr wrap="square" lIns="0" tIns="0" rIns="0" bIns="0" rtlCol="0" anchor="ctr"/>
          <a:lstStyle/>
          <a:p>
            <a:pPr indent="0" marL="0">
              <a:buNone/>
            </a:pPr>
            <a:r>
              <a:rPr lang="en-US" sz="15000" b="1" dirty="0">
                <a:solidFill>
                  <a:srgbClr val="B23A2E"/>
                </a:solidFill>
                <a:latin typeface="Malgun Gothic" pitchFamily="34" charset="0"/>
                <a:ea typeface="Malgun Gothic" pitchFamily="34" charset="-122"/>
                <a:cs typeface="Malgun Gothic" pitchFamily="34" charset="-120"/>
              </a:rPr>
              <a:t>“</a:t>
            </a:r>
            <a:endParaRPr lang="en-US" sz="15000" dirty="0"/>
          </a:p>
        </p:txBody>
      </p:sp>
      <p:sp>
        <p:nvSpPr>
          <p:cNvPr id="3" name="Text 1"/>
          <p:cNvSpPr txBox="1"/>
          <p:nvPr/>
        </p:nvSpPr>
        <p:spPr>
          <a:xfrm>
            <a:off x="1371600" y="1828800"/>
            <a:ext cx="9448495" cy="2926080"/>
          </a:xfrm>
          <a:prstGeom prst="rect">
            <a:avLst/>
          </a:prstGeom>
          <a:noFill/>
          <a:ln/>
        </p:spPr>
        <p:txBody>
          <a:bodyPr wrap="square" lIns="0" tIns="0" rIns="0" bIns="0" rtlCol="0" anchor="ctr"/>
          <a:lstStyle/>
          <a:p>
            <a:pPr indent="0" marL="0">
              <a:lnSpc>
                <a:spcPct val="130000"/>
              </a:lnSpc>
              <a:buNone/>
            </a:pPr>
            <a:r>
              <a:rPr lang="en-US" sz="3000" b="1" dirty="0">
                <a:solidFill>
                  <a:srgbClr val="F4F1EA"/>
                </a:solidFill>
                <a:latin typeface="Malgun Gothic" pitchFamily="34" charset="0"/>
                <a:ea typeface="Malgun Gothic" pitchFamily="34" charset="-122"/>
                <a:cs typeface="Malgun Gothic" pitchFamily="34" charset="-120"/>
              </a:rPr>
              <a:t>세상은 수많은 음양오행이 때로는 크게, 때로는 작게, 때로는 길게, 때로는 짧게 동시다발적으로 작용하며 만들어내는 거대한 콘서트와 같다.</a:t>
            </a:r>
            <a:endParaRPr lang="en-US" sz="3000" dirty="0"/>
          </a:p>
        </p:txBody>
      </p:sp>
      <p:sp>
        <p:nvSpPr>
          <p:cNvPr id="4" name="Text 2"/>
          <p:cNvSpPr txBox="1"/>
          <p:nvPr/>
        </p:nvSpPr>
        <p:spPr>
          <a:xfrm>
            <a:off x="1371600" y="4937760"/>
            <a:ext cx="9448495" cy="457200"/>
          </a:xfrm>
          <a:prstGeom prst="rect">
            <a:avLst/>
          </a:prstGeom>
          <a:noFill/>
          <a:ln/>
        </p:spPr>
        <p:txBody>
          <a:bodyPr wrap="square" lIns="0" tIns="0" rIns="0" bIns="0" rtlCol="0" anchor="ctr"/>
          <a:lstStyle/>
          <a:p>
            <a:pPr indent="0" marL="0">
              <a:buNone/>
            </a:pPr>
            <a:r>
              <a:rPr lang="en-US" sz="1500" dirty="0">
                <a:solidFill>
                  <a:srgbClr val="A9A4B5"/>
                </a:solidFill>
                <a:latin typeface="Malgun Gothic" pitchFamily="34" charset="0"/>
                <a:ea typeface="Malgun Gothic" pitchFamily="34" charset="-122"/>
                <a:cs typeface="Malgun Gothic" pitchFamily="34" charset="-120"/>
              </a:rPr>
              <a:t>— 제2장 음양과 오행</a:t>
            </a:r>
            <a:endParaRPr lang="en-US" sz="15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정리</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핵심 정리</a:t>
            </a:r>
            <a:endParaRPr lang="en-US" sz="3000" dirty="0"/>
          </a:p>
        </p:txBody>
      </p:sp>
      <p:sp>
        <p:nvSpPr>
          <p:cNvPr id="4" name="Shape 2"/>
          <p:cNvSpPr/>
          <p:nvPr/>
        </p:nvSpPr>
        <p:spPr>
          <a:xfrm>
            <a:off x="548640" y="1746504"/>
            <a:ext cx="457200" cy="457200"/>
          </a:xfrm>
          <a:prstGeom prst="ellipse">
            <a:avLst/>
          </a:prstGeom>
          <a:solidFill>
            <a:srgbClr val="B23A2E"/>
          </a:solidFill>
          <a:ln w="12700">
            <a:solidFill>
              <a:srgbClr val="B23A2E"/>
            </a:solidFill>
            <a:prstDash val="solid"/>
          </a:ln>
        </p:spPr>
      </p:sp>
      <p:sp>
        <p:nvSpPr>
          <p:cNvPr id="5" name="Text 3"/>
          <p:cNvSpPr txBox="1"/>
          <p:nvPr/>
        </p:nvSpPr>
        <p:spPr>
          <a:xfrm>
            <a:off x="548640" y="1746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6" name="Text 4"/>
          <p:cNvSpPr txBox="1"/>
          <p:nvPr/>
        </p:nvSpPr>
        <p:spPr>
          <a:xfrm>
            <a:off x="1234440" y="1600200"/>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음양: 대립하면서 조화를 이루는 두 기운. 절대적인 음·양은 없고, 끊임없이 순환한다</a:t>
            </a:r>
            <a:endParaRPr lang="en-US" sz="1600" dirty="0"/>
          </a:p>
        </p:txBody>
      </p:sp>
      <p:sp>
        <p:nvSpPr>
          <p:cNvPr id="7" name="Shape 5"/>
          <p:cNvSpPr/>
          <p:nvPr/>
        </p:nvSpPr>
        <p:spPr>
          <a:xfrm>
            <a:off x="548640" y="2496312"/>
            <a:ext cx="457200" cy="457200"/>
          </a:xfrm>
          <a:prstGeom prst="ellipse">
            <a:avLst/>
          </a:prstGeom>
          <a:solidFill>
            <a:srgbClr val="B23A2E"/>
          </a:solidFill>
          <a:ln w="12700">
            <a:solidFill>
              <a:srgbClr val="B23A2E"/>
            </a:solidFill>
            <a:prstDash val="solid"/>
          </a:ln>
        </p:spPr>
      </p:sp>
      <p:sp>
        <p:nvSpPr>
          <p:cNvPr id="8" name="Text 6"/>
          <p:cNvSpPr txBox="1"/>
          <p:nvPr/>
        </p:nvSpPr>
        <p:spPr>
          <a:xfrm>
            <a:off x="548640" y="24963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9" name="Text 7"/>
          <p:cNvSpPr txBox="1"/>
          <p:nvPr/>
        </p:nvSpPr>
        <p:spPr>
          <a:xfrm>
            <a:off x="1234440" y="2350008"/>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오행은 음양 순환의 다섯 단계 — 木(분출) · 火(확산) · 土(중재) · 金(수렴) · 水(응축)</a:t>
            </a:r>
            <a:endParaRPr lang="en-US" sz="1600" dirty="0"/>
          </a:p>
        </p:txBody>
      </p:sp>
      <p:sp>
        <p:nvSpPr>
          <p:cNvPr id="10" name="Shape 8"/>
          <p:cNvSpPr/>
          <p:nvPr/>
        </p:nvSpPr>
        <p:spPr>
          <a:xfrm>
            <a:off x="548640" y="3246120"/>
            <a:ext cx="457200" cy="457200"/>
          </a:xfrm>
          <a:prstGeom prst="ellipse">
            <a:avLst/>
          </a:prstGeom>
          <a:solidFill>
            <a:srgbClr val="B23A2E"/>
          </a:solidFill>
          <a:ln w="12700">
            <a:solidFill>
              <a:srgbClr val="B23A2E"/>
            </a:solidFill>
            <a:prstDash val="solid"/>
          </a:ln>
        </p:spPr>
      </p:sp>
      <p:sp>
        <p:nvSpPr>
          <p:cNvPr id="11" name="Text 9"/>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2" name="Text 10"/>
          <p:cNvSpPr txBox="1"/>
          <p:nvPr/>
        </p:nvSpPr>
        <p:spPr>
          <a:xfrm>
            <a:off x="1234440" y="3099816"/>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본성과 속성: 木 仁·怒 / 火 禮·喜 / 土 信·思 / 金 義·哀 / 水 智·恐</a:t>
            </a:r>
            <a:endParaRPr lang="en-US" sz="1600" dirty="0"/>
          </a:p>
        </p:txBody>
      </p:sp>
      <p:sp>
        <p:nvSpPr>
          <p:cNvPr id="13" name="Shape 11"/>
          <p:cNvSpPr/>
          <p:nvPr/>
        </p:nvSpPr>
        <p:spPr>
          <a:xfrm>
            <a:off x="548640" y="3995928"/>
            <a:ext cx="457200" cy="457200"/>
          </a:xfrm>
          <a:prstGeom prst="ellipse">
            <a:avLst/>
          </a:prstGeom>
          <a:solidFill>
            <a:srgbClr val="B23A2E"/>
          </a:solidFill>
          <a:ln w="12700">
            <a:solidFill>
              <a:srgbClr val="B23A2E"/>
            </a:solidFill>
            <a:prstDash val="solid"/>
          </a:ln>
        </p:spPr>
      </p:sp>
      <p:sp>
        <p:nvSpPr>
          <p:cNvPr id="14" name="Text 12"/>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5" name="Text 13"/>
          <p:cNvSpPr txBox="1"/>
          <p:nvPr/>
        </p:nvSpPr>
        <p:spPr>
          <a:xfrm>
            <a:off x="1234440" y="3849624"/>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상생은 이웃을 살리고(木→火→土→金→水), 상극은 하나 건너 자극한다(木→土→水→火→金)</a:t>
            </a:r>
            <a:endParaRPr lang="en-US" sz="1600" dirty="0"/>
          </a:p>
        </p:txBody>
      </p:sp>
      <p:sp>
        <p:nvSpPr>
          <p:cNvPr id="16" name="Shape 14"/>
          <p:cNvSpPr/>
          <p:nvPr/>
        </p:nvSpPr>
        <p:spPr>
          <a:xfrm>
            <a:off x="548640" y="4745736"/>
            <a:ext cx="457200" cy="457200"/>
          </a:xfrm>
          <a:prstGeom prst="ellipse">
            <a:avLst/>
          </a:prstGeom>
          <a:solidFill>
            <a:srgbClr val="B23A2E"/>
          </a:solidFill>
          <a:ln w="12700">
            <a:solidFill>
              <a:srgbClr val="B23A2E"/>
            </a:solidFill>
            <a:prstDash val="solid"/>
          </a:ln>
        </p:spPr>
      </p:sp>
      <p:sp>
        <p:nvSpPr>
          <p:cNvPr id="17" name="Text 15"/>
          <p:cNvSpPr txBox="1"/>
          <p:nvPr/>
        </p:nvSpPr>
        <p:spPr>
          <a:xfrm>
            <a:off x="548640" y="47457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18" name="Text 16"/>
          <p:cNvSpPr txBox="1"/>
          <p:nvPr/>
        </p:nvSpPr>
        <p:spPr>
          <a:xfrm>
            <a:off x="1234440" y="4599432"/>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상생·상극의 균형이 중용 — 치우치면 불생·반극·파극의 부조화가 생긴다</a:t>
            </a:r>
            <a:endParaRPr lang="en-US" sz="1600" dirty="0"/>
          </a:p>
        </p:txBody>
      </p:sp>
      <p:sp>
        <p:nvSpPr>
          <p:cNvPr id="19" name="Text 17"/>
          <p:cNvSpPr txBox="1"/>
          <p:nvPr/>
        </p:nvSpPr>
        <p:spPr>
          <a:xfrm>
            <a:off x="548640" y="5532120"/>
            <a:ext cx="11094415" cy="640080"/>
          </a:xfrm>
          <a:prstGeom prst="rect">
            <a:avLst/>
          </a:prstGeom>
          <a:solidFill>
            <a:srgbClr val="F3F1F6"/>
          </a:solidFill>
          <a:ln/>
        </p:spPr>
        <p:txBody>
          <a:bodyPr wrap="square" lIns="0" tIns="2540" rIns="254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다음 시간  </a:t>
            </a:r>
            <a:pPr indent="0" marL="0">
              <a:buNone/>
            </a:pPr>
            <a:r>
              <a:rPr lang="en-US" sz="1500" dirty="0">
                <a:solidFill>
                  <a:srgbClr val="22212A"/>
                </a:solidFill>
                <a:latin typeface="Malgun Gothic" pitchFamily="34" charset="0"/>
                <a:ea typeface="Malgun Gothic" pitchFamily="34" charset="-122"/>
                <a:cs typeface="Malgun Gothic" pitchFamily="34" charset="-120"/>
              </a:rPr>
              <a:t>제3장 천간과 지지 — 10천간과 12지지, 지장간, 합과 충</a:t>
            </a:r>
            <a:endParaRPr lang="en-US" sz="1500" dirty="0"/>
          </a:p>
        </p:txBody>
      </p:sp>
      <p:sp>
        <p:nvSpPr>
          <p:cNvPr id="20" name="Text 1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21"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200" b="1" dirty="0">
                <a:solidFill>
                  <a:srgbClr val="F4F1EA"/>
                </a:solidFill>
                <a:latin typeface="Malgun Gothic" pitchFamily="34" charset="0"/>
                <a:ea typeface="Malgun Gothic" pitchFamily="34" charset="-122"/>
                <a:cs typeface="Malgun Gothic" pitchFamily="34" charset="-120"/>
              </a:rPr>
              <a:t>함께 생각해 볼 질문</a:t>
            </a:r>
            <a:endParaRPr lang="en-US" sz="3200" dirty="0"/>
          </a:p>
        </p:txBody>
      </p:sp>
      <p:sp>
        <p:nvSpPr>
          <p:cNvPr id="3" name="Shape 1"/>
          <p:cNvSpPr/>
          <p:nvPr/>
        </p:nvSpPr>
        <p:spPr>
          <a:xfrm>
            <a:off x="548640" y="1874520"/>
            <a:ext cx="594360" cy="594360"/>
          </a:xfrm>
          <a:prstGeom prst="ellipse">
            <a:avLst/>
          </a:prstGeom>
          <a:solidFill>
            <a:srgbClr val="B23A2E"/>
          </a:solidFill>
          <a:ln w="12700">
            <a:solidFill>
              <a:srgbClr val="B23A2E"/>
            </a:solidFill>
            <a:prstDash val="solid"/>
          </a:ln>
        </p:spPr>
      </p:sp>
      <p:sp>
        <p:nvSpPr>
          <p:cNvPr id="4" name="Text 2"/>
          <p:cNvSpPr txBox="1"/>
          <p:nvPr/>
        </p:nvSpPr>
        <p:spPr>
          <a:xfrm>
            <a:off x="548640" y="187452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Q1</a:t>
            </a:r>
            <a:endParaRPr lang="en-US" sz="1500" dirty="0"/>
          </a:p>
        </p:txBody>
      </p:sp>
      <p:sp>
        <p:nvSpPr>
          <p:cNvPr id="5" name="Text 3"/>
          <p:cNvSpPr txBox="1"/>
          <p:nvPr/>
        </p:nvSpPr>
        <p:spPr>
          <a:xfrm>
            <a:off x="1371600" y="164592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나 자신은 다섯 오행의 본성·속성 중 어느 쪽에 가깝다고 느끼나요?</a:t>
            </a:r>
            <a:endParaRPr lang="en-US" sz="1700" dirty="0"/>
          </a:p>
        </p:txBody>
      </p:sp>
      <p:sp>
        <p:nvSpPr>
          <p:cNvPr id="6" name="Shape 4"/>
          <p:cNvSpPr/>
          <p:nvPr/>
        </p:nvSpPr>
        <p:spPr>
          <a:xfrm>
            <a:off x="548640" y="2926080"/>
            <a:ext cx="594360" cy="594360"/>
          </a:xfrm>
          <a:prstGeom prst="ellipse">
            <a:avLst/>
          </a:prstGeom>
          <a:solidFill>
            <a:srgbClr val="B23A2E"/>
          </a:solidFill>
          <a:ln w="12700">
            <a:solidFill>
              <a:srgbClr val="B23A2E"/>
            </a:solidFill>
            <a:prstDash val="solid"/>
          </a:ln>
        </p:spPr>
      </p:sp>
      <p:sp>
        <p:nvSpPr>
          <p:cNvPr id="7" name="Text 5"/>
          <p:cNvSpPr txBox="1"/>
          <p:nvPr/>
        </p:nvSpPr>
        <p:spPr>
          <a:xfrm>
            <a:off x="548640" y="292608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Q2</a:t>
            </a:r>
            <a:endParaRPr lang="en-US" sz="1500" dirty="0"/>
          </a:p>
        </p:txBody>
      </p:sp>
      <p:sp>
        <p:nvSpPr>
          <p:cNvPr id="8" name="Text 6"/>
          <p:cNvSpPr txBox="1"/>
          <p:nvPr/>
        </p:nvSpPr>
        <p:spPr>
          <a:xfrm>
            <a:off x="1371600" y="269748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"극한다 = 적절한 자극"이라는 해석을 일상의 예로 설명해 볼 수 있을까요?</a:t>
            </a:r>
            <a:endParaRPr lang="en-US" sz="1700" dirty="0"/>
          </a:p>
        </p:txBody>
      </p:sp>
      <p:sp>
        <p:nvSpPr>
          <p:cNvPr id="9" name="Shape 7"/>
          <p:cNvSpPr/>
          <p:nvPr/>
        </p:nvSpPr>
        <p:spPr>
          <a:xfrm>
            <a:off x="548640" y="3977640"/>
            <a:ext cx="594360" cy="594360"/>
          </a:xfrm>
          <a:prstGeom prst="ellipse">
            <a:avLst/>
          </a:prstGeom>
          <a:solidFill>
            <a:srgbClr val="B23A2E"/>
          </a:solidFill>
          <a:ln w="12700">
            <a:solidFill>
              <a:srgbClr val="B23A2E"/>
            </a:solidFill>
            <a:prstDash val="solid"/>
          </a:ln>
        </p:spPr>
      </p:sp>
      <p:sp>
        <p:nvSpPr>
          <p:cNvPr id="10" name="Text 8"/>
          <p:cNvSpPr txBox="1"/>
          <p:nvPr/>
        </p:nvSpPr>
        <p:spPr>
          <a:xfrm>
            <a:off x="548640" y="397764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Q3</a:t>
            </a:r>
            <a:endParaRPr lang="en-US" sz="1500" dirty="0"/>
          </a:p>
        </p:txBody>
      </p:sp>
      <p:sp>
        <p:nvSpPr>
          <p:cNvPr id="11" name="Text 9"/>
          <p:cNvSpPr txBox="1"/>
          <p:nvPr/>
        </p:nvSpPr>
        <p:spPr>
          <a:xfrm>
            <a:off x="1371600" y="374904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생성 순서(水→火→木→金→土)와 작용 순서(木→火→土→金→水)가 다른 이유는 무엇일까요?</a:t>
            </a:r>
            <a:endParaRPr lang="en-US" sz="1700" dirty="0"/>
          </a:p>
        </p:txBody>
      </p:sp>
      <p:sp>
        <p:nvSpPr>
          <p:cNvPr id="12" name="Shape 10"/>
          <p:cNvSpPr/>
          <p:nvPr/>
        </p:nvSpPr>
        <p:spPr>
          <a:xfrm>
            <a:off x="548640" y="5029200"/>
            <a:ext cx="594360" cy="594360"/>
          </a:xfrm>
          <a:prstGeom prst="ellipse">
            <a:avLst/>
          </a:prstGeom>
          <a:solidFill>
            <a:srgbClr val="B23A2E"/>
          </a:solidFill>
          <a:ln w="12700">
            <a:solidFill>
              <a:srgbClr val="B23A2E"/>
            </a:solidFill>
            <a:prstDash val="solid"/>
          </a:ln>
        </p:spPr>
      </p:sp>
      <p:sp>
        <p:nvSpPr>
          <p:cNvPr id="13" name="Text 11"/>
          <p:cNvSpPr txBox="1"/>
          <p:nvPr/>
        </p:nvSpPr>
        <p:spPr>
          <a:xfrm>
            <a:off x="548640" y="502920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Q4</a:t>
            </a:r>
            <a:endParaRPr lang="en-US" sz="1500" dirty="0"/>
          </a:p>
        </p:txBody>
      </p:sp>
      <p:sp>
        <p:nvSpPr>
          <p:cNvPr id="14" name="Text 12"/>
          <p:cNvSpPr txBox="1"/>
          <p:nvPr/>
        </p:nvSpPr>
        <p:spPr>
          <a:xfrm>
            <a:off x="1371600" y="480060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부조화 네 유형 중 하나를 골라 인간관계나 건강에 빗대어 이야기해 봅시다.</a:t>
            </a:r>
            <a:endParaRPr lang="en-US" sz="1700" dirty="0"/>
          </a:p>
        </p:txBody>
      </p:sp>
      <p:sp>
        <p:nvSpPr>
          <p:cNvPr id="15" name="Text 1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제2장 음양과 오행</a:t>
            </a:r>
            <a:endParaRPr lang="en-US" sz="1000" dirty="0"/>
          </a:p>
        </p:txBody>
      </p:sp>
      <p:sp>
        <p:nvSpPr>
          <p:cNvPr id="16" name="Text 1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의명보감 1 기초편 제2장 음양과 오행</dc:title>
  <dc:subject>PptxGenJS Presentation</dc:subject>
  <dc:creator>의명보감 스터디</dc:creator>
  <cp:lastModifiedBy>의명보감 스터디</cp:lastModifiedBy>
  <cp:revision>1</cp:revision>
  <dcterms:created xsi:type="dcterms:W3CDTF">2026-09-30T09:07:13Z</dcterms:created>
  <dcterms:modified xsi:type="dcterms:W3CDTF">2026-09-30T09:07:13Z</dcterms:modified>
</cp:coreProperties>
</file>