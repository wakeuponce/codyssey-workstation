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제3장은 오행에 음양이 결합해 생긴 22개의 글자, 곧 10천간과 12지지를 다룹니다. 분량이 가장 많은 장이지만, 글자 하나하나에 담긴 이미지를 잡아 두면 5장의 공식 풀이가 훨씬 쉬워집니다.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꼭지로 진행합니다. 천간 → 지지 → 지장간 → 합과 충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천간과 지지가 무엇인지 정의부터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천간은 하늘의 오행이 음양과 결합한 10가지 기운이고, 지지는 땅의 오행이 음양과 결합한 12가지 기운입니다. 왜 지지는 12개일까요? 땅은 형상을 갖추고 있고, 만물이 모습을 갖추려면 土가 꼭 필요합니다. 그래서 土가 음양 두 개로 끝나지 않고 계절마다 하나씩, 辰·未·戌·丑 네 개가 됩니다. 또 천간은 순수한 기운인 반면, 지지에는 하늘의 기운이 섞여 있다는 점이 뒤에 나올 지장간의 근거가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지지는 네 가지를 동시에 나타냅니다. 첫째, 12달입니다. 중요한 것은 양력이나 음력 날짜가 아니라 절기를 기준으로 한다는 점입니다. 이것이 5장에서 공식을 세울 때 핵심 규칙이 됩니다. 둘째, 하루 24시간을 두 시간씩 나눈 12시진입니다. 셋째, 양기와 음기가 태어나고 자라고 사라지는 순환입니다. 띠의 매듭처럼 시작과 끝이 이어져 있습니다. 넷째, 우리가 잘 아는 띠 동물입니다.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꼭지, 10천간입니다. 글자마다 책이 제시하는 이미지를 먼저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양간, 아래 줄은 음간입니다. 같은 오행이라도 양은 크고 거대한 것, 음은 작고 사람이 다룰 수 있는 것으로 대비됩니다. 甲은 모든 생명의 껍질을 터뜨려 펴는 모양이고, 乙은 그렇게 터져 나온 여린 새싹입니다. 丙은 태양, 丁은 촛불입니다. 戊는 몸 밖의 태산 같은 흙, 己는 몸 안의 흙으로 위장을 돕는 안방마님에 비유됩니다. 庚은 무쇠, 辛은 다듬은 쇠이고, 壬은 큰 바다, 癸는 그 바다를 이루는 강물과 냇물입니다.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천간에도 지지처럼 방위와 절기, 시간을 배정합니다. 대부분 같은 오행의 지지와 겹칩니다. 인체 배속은 양간이 부(腑), 음간이 장(臟)이라는 규칙이 보입니다. 甲 담, 乙 간, 丙 소장, 丁 심장, 戊 위, 己 비장, 庚 대장, 辛 폐, 壬 방광, 癸 신장입니다. 庚의 월과 辛의 시간은 원문 표기에 오기가 있어 바로잡아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꼭지, 천간끼리의 관계입니다.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천간의 상생·상극은 2장의 오행 원리를 그대로 따르되 음양이 더해집니다. 상생은 같은 음양끼리일 때 강하고, 다른 음양일 때 부드럽습니다. 상극은 같은 음양끼리만 일어납니다. 예를 들어 甲木은 戊土를 극하지만, 己土와는 극하지 않고 합을 합니다. 이것이 다음 슬라이드의 천간합입니다.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천간합은 극하는 양간과 극을 받는 음간이 만나 새로운 오행을 낳는 관계입니다. 甲은 己를, 乙은 庚에게, 丙은 辛을, 丁은 壬에게, 戊는 癸를 극하는 관계인데, 음양이 다르기 때문에 싸우지 않고 합칩니다. 남녀가 화합해 자식을 낳는 것에 비유합니다. 이 합은 5장에서 월간과 시간을 구하는 암산법(월두법·시두법)에 그대로 쓰입니다. 꼭 외워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꼭지, 12지지입니다.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12지지를 원으로 배치했습니다. 맨 위 子가 한겨울, 오른쪽 아래로 돌아 午가 한여름입니다. 양기는 亥에서 처음 생겨 子에서 잉태되고, 丑에서 가득 찹니다. 寅에서 막을 뚫고 나와 卯에서 자라고 辰에서 크게 성장하며, 巳에서 피어 午에서 만개합니다. 午에서 음기가 나타나 未에서 자라고, 申에서 여물고 酉에서 굳고 戌에서 가득 찹니다. 그리고 亥에서 음기 속에 다시 양기를 잉태합니다.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12지지의 상세표입니다. 별표를 친 子·巳·午·亥는 본래의 음양이 땅에서 바뀐다고 설명합니다. 이것이 헷갈리기 쉬운 부분이므로 꼭 짚고 넘어가세요. 책에는 동물마다 불교적 교훈이 붙어 있습니다. 소는 진리와 고통, 범은 중생심의 경계, 양은 속죄의 제물, 닭은 죽음과 환생, 개는 무덤의 수문장, 돼지는 혼의 심판자입니다. 참고로 원문에서 未의 방위·계절이 卯의 내용과 같게 적혀 있는데, 본문 설명대로 음력 6월이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꼭지, 지장간입니다. 지지가 "순수하지 않은 기운"이라는 말의 구체적인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지장간은 지지 속에 숨어 있는 천간입니다. 앞 지지에서 넘어온 여기, 필요에 따라 더해지는 중기, 같은 방위의 천기로 가장 비중이 큰 본기로 이루어집니다. 예를 들어 寅에는 戊·丙·甲이 들어 있습니다. 丑의 본기인 己가 세상에 나오면서 戊로 바뀌어 여기가 되고, 봄의 양기인 丙이 중기, 寅 자신의 木인 甲이 본기입니다. 4장의 통근과 삼합 검증에서 이 표를 다시 쓰게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꼭지, 지지끼리의 관계입니다.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지지의 상생과 상극은 천간과 같은 원리이지만, 土가 넷이라는 점이 다릅니다. 같은 土라도 계절의 성질을 품고 있어서 水를 대하는 방식이 제각각입니다. 봄의 辰은 물을 머금은 흙이라 오히려 물이 되기 쉽고, 겨울의 丑은 찬 흙이라 물을 막지 못합니다. 가을의 戌과 여름의 未만 어느 정도 물을 극할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육합은 두 지지가 짝을 지어 새 오행을 만드는 관계입니다. 책은 모두 "시작과 끝이 하나로 묶여 있다"는 논리로 설명합니다. 합의 결과물에 원래 두 지지의 성질이 남아 있다는 점이 재미있습니다. 子丑이 합한 土는 얼어붙은 흙이고, 亥寅이 합한 木은 물에 젖은 나무입니다. 午未는 새 오행을 만들지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삼합은 한 오행이 태어나고, 절정에 이르고, 저무는 세 지지의 모임입니다. 원 위에서 이으면 정삼각형이 됩니다. 가운데 卯·午·酉·子가 중심 지지이고, 중심 지지를 포함한 두 지지만 모여도 반합이 됩니다. 삼합이 맞다는 것은 지장간으로 확인할 수 있습니다. 亥에는 甲, 卯에는 甲·乙, 未에는 乙이 들어 있어 모두 木을 품고 있습니다. 방합은 같은 방위와 계절의 세 지지가 모인 것입니다. 반합의 작용은 없지만 두 개만 모여도 그 방향의 세력이 매우 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충은 보통 "부딪친다"로 이해하지만, 이 책은 독특하게 "부드럽게 한다"로 정의합니다. 충을 받는 대상의 강한 힘을 누그러뜨린다는 것입니다. 다만 충하는 쪽이 강하거나 일대일로 맞서면 충이 아니라 극이 된다고 봅니다. 원 위에서 서로 마주 보는 지지끼리 충이 됩니다. 책의 부록 박스에 형·파·해·원진도 나오는데, 크게 우려할 것은 아니지만 많으면 번뇌가 많고 대인관계가 순조롭지 않다고 합니다. 이 박스는 텍스트 추출이 많이 깨져 있어서 원본으로 확인하는 것을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장을 한 문장으로 요약하면 이것입니다. 천간은 순수하고, 지지는 복합적입니다. 그래서 지지를 볼 때는 겉의 오행뿐 아니라 속에 숨은 지장간까지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다섯 줄입니다. 다음 장에서는 천간과 지지를 짝지은 육십갑자를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질문입니다. 두 번째 질문은 1장의 "음수와 양화가 합해 木을 낳았다"는 창조 순서와 연결해서 생각해 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6583680" y="182880"/>
            <a:ext cx="5486400" cy="6400800"/>
          </a:xfrm>
          <a:prstGeom prst="rect">
            <a:avLst/>
          </a:prstGeom>
          <a:noFill/>
          <a:ln/>
        </p:spPr>
        <p:txBody>
          <a:bodyPr wrap="square" lIns="0" tIns="0" rIns="0" bIns="0" rtlCol="0" anchor="ctr"/>
          <a:lstStyle/>
          <a:p>
            <a:pPr algn="ctr" indent="0" marL="0">
              <a:buNone/>
            </a:pPr>
            <a:r>
              <a:rPr lang="en-US" sz="38000" b="1" dirty="0">
                <a:solidFill>
                  <a:srgbClr val="2B2933"/>
                </a:solidFill>
                <a:latin typeface="Malgun Gothic" pitchFamily="34" charset="0"/>
                <a:ea typeface="Malgun Gothic" pitchFamily="34" charset="-122"/>
                <a:cs typeface="Malgun Gothic" pitchFamily="34" charset="-120"/>
              </a:rPr>
              <a:t>干</a:t>
            </a:r>
            <a:endParaRPr lang="en-US" sz="38000" dirty="0"/>
          </a:p>
        </p:txBody>
      </p:sp>
      <p:sp>
        <p:nvSpPr>
          <p:cNvPr id="3" name="Shape 1"/>
          <p:cNvSpPr/>
          <p:nvPr/>
        </p:nvSpPr>
        <p:spPr>
          <a:xfrm>
            <a:off x="548640" y="1280160"/>
            <a:ext cx="1005840" cy="1005840"/>
          </a:xfrm>
          <a:prstGeom prst="ellipse">
            <a:avLst/>
          </a:prstGeom>
          <a:solidFill>
            <a:srgbClr val="B23A2E"/>
          </a:solidFill>
          <a:ln w="12700">
            <a:solidFill>
              <a:srgbClr val="B23A2E"/>
            </a:solidFill>
            <a:prstDash val="solid"/>
          </a:ln>
        </p:spPr>
      </p:sp>
      <p:sp>
        <p:nvSpPr>
          <p:cNvPr id="4" name="Text 2"/>
          <p:cNvSpPr txBox="1"/>
          <p:nvPr/>
        </p:nvSpPr>
        <p:spPr>
          <a:xfrm>
            <a:off x="548640" y="1280160"/>
            <a:ext cx="10058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제3장</a:t>
            </a:r>
            <a:endParaRPr lang="en-US" sz="1800" dirty="0"/>
          </a:p>
        </p:txBody>
      </p:sp>
      <p:sp>
        <p:nvSpPr>
          <p:cNvPr id="5" name="Text 3"/>
          <p:cNvSpPr txBox="1"/>
          <p:nvPr/>
        </p:nvSpPr>
        <p:spPr>
          <a:xfrm>
            <a:off x="548640" y="2560320"/>
            <a:ext cx="7772400" cy="1188720"/>
          </a:xfrm>
          <a:prstGeom prst="rect">
            <a:avLst/>
          </a:prstGeom>
          <a:noFill/>
          <a:ln/>
        </p:spPr>
        <p:txBody>
          <a:bodyPr wrap="square" lIns="0" tIns="0" rIns="0" bIns="0" rtlCol="0" anchor="ctr"/>
          <a:lstStyle/>
          <a:p>
            <a:pPr indent="0" marL="0">
              <a:buNone/>
            </a:pPr>
            <a:r>
              <a:rPr lang="en-US" sz="4800" b="1" dirty="0">
                <a:solidFill>
                  <a:srgbClr val="F4F1EA"/>
                </a:solidFill>
                <a:latin typeface="Malgun Gothic" pitchFamily="34" charset="0"/>
                <a:ea typeface="Malgun Gothic" pitchFamily="34" charset="-122"/>
                <a:cs typeface="Malgun Gothic" pitchFamily="34" charset="-120"/>
              </a:rPr>
              <a:t>천간과 지지</a:t>
            </a:r>
            <a:endParaRPr lang="en-US" sz="4800" dirty="0"/>
          </a:p>
        </p:txBody>
      </p:sp>
      <p:sp>
        <p:nvSpPr>
          <p:cNvPr id="6" name="Text 4"/>
          <p:cNvSpPr txBox="1"/>
          <p:nvPr/>
        </p:nvSpPr>
        <p:spPr>
          <a:xfrm>
            <a:off x="548640" y="3749040"/>
            <a:ext cx="7772400" cy="548640"/>
          </a:xfrm>
          <a:prstGeom prst="rect">
            <a:avLst/>
          </a:prstGeom>
          <a:noFill/>
          <a:ln/>
        </p:spPr>
        <p:txBody>
          <a:bodyPr wrap="square" lIns="0" tIns="0" rIns="0" bIns="0" rtlCol="0" anchor="ctr"/>
          <a:lstStyle/>
          <a:p>
            <a:pPr indent="0" marL="0">
              <a:buNone/>
            </a:pPr>
            <a:r>
              <a:rPr lang="en-US" sz="2200" dirty="0">
                <a:solidFill>
                  <a:srgbClr val="A9A4B5"/>
                </a:solidFill>
                <a:latin typeface="Malgun Gothic" pitchFamily="34" charset="0"/>
                <a:ea typeface="Malgun Gothic" pitchFamily="34" charset="-122"/>
                <a:cs typeface="Malgun Gothic" pitchFamily="34" charset="-120"/>
              </a:rPr>
              <a:t>天干과 地支</a:t>
            </a:r>
            <a:endParaRPr lang="en-US" sz="2200" dirty="0"/>
          </a:p>
        </p:txBody>
      </p:sp>
      <p:sp>
        <p:nvSpPr>
          <p:cNvPr id="7" name="Text 5"/>
          <p:cNvSpPr txBox="1"/>
          <p:nvPr/>
        </p:nvSpPr>
        <p:spPr>
          <a:xfrm>
            <a:off x="548640" y="4846320"/>
            <a:ext cx="7315200" cy="731520"/>
          </a:xfrm>
          <a:prstGeom prst="rect">
            <a:avLst/>
          </a:prstGeom>
          <a:noFill/>
          <a:ln/>
        </p:spPr>
        <p:txBody>
          <a:bodyPr wrap="square" lIns="0" tIns="0" rIns="0" bIns="0" rtlCol="0" anchor="ctr"/>
          <a:lstStyle/>
          <a:p>
            <a:pPr indent="0" marL="0">
              <a:buNone/>
            </a:pPr>
            <a:r>
              <a:rPr lang="en-US" sz="1400" dirty="0">
                <a:solidFill>
                  <a:srgbClr val="A9A4B5"/>
                </a:solidFill>
                <a:latin typeface="Malgun Gothic" pitchFamily="34" charset="0"/>
                <a:ea typeface="Malgun Gothic" pitchFamily="34" charset="-122"/>
                <a:cs typeface="Malgun Gothic" pitchFamily="34" charset="-120"/>
              </a:rPr>
              <a:t>의명보감 1 기초편 스터디 · 10천간 · 12지지 · 지장간 · 합과 충</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목차</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오늘 공부할 내용</a:t>
            </a:r>
            <a:endParaRPr lang="en-US" sz="3000" dirty="0"/>
          </a:p>
        </p:txBody>
      </p:sp>
      <p:sp>
        <p:nvSpPr>
          <p:cNvPr id="4" name="Shape 2"/>
          <p:cNvSpPr/>
          <p:nvPr/>
        </p:nvSpPr>
        <p:spPr>
          <a:xfrm>
            <a:off x="548640" y="1673352"/>
            <a:ext cx="502920" cy="502920"/>
          </a:xfrm>
          <a:prstGeom prst="ellipse">
            <a:avLst/>
          </a:prstGeom>
          <a:solidFill>
            <a:srgbClr val="B23A2E"/>
          </a:solidFill>
          <a:ln w="12700">
            <a:solidFill>
              <a:srgbClr val="B23A2E"/>
            </a:solidFill>
            <a:prstDash val="solid"/>
          </a:ln>
        </p:spPr>
      </p:sp>
      <p:sp>
        <p:nvSpPr>
          <p:cNvPr id="5" name="Text 3"/>
          <p:cNvSpPr txBox="1"/>
          <p:nvPr/>
        </p:nvSpPr>
        <p:spPr>
          <a:xfrm>
            <a:off x="548640"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234440"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천간과 지지란</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하늘의 10기운, 땅의 12기운</a:t>
            </a:r>
            <a:endParaRPr lang="en-US" sz="1700" dirty="0"/>
          </a:p>
        </p:txBody>
      </p:sp>
      <p:sp>
        <p:nvSpPr>
          <p:cNvPr id="7" name="Shape 5"/>
          <p:cNvSpPr/>
          <p:nvPr/>
        </p:nvSpPr>
        <p:spPr>
          <a:xfrm>
            <a:off x="548640" y="2542032"/>
            <a:ext cx="502920" cy="502920"/>
          </a:xfrm>
          <a:prstGeom prst="ellipse">
            <a:avLst/>
          </a:prstGeom>
          <a:solidFill>
            <a:srgbClr val="B23A2E"/>
          </a:solidFill>
          <a:ln w="12700">
            <a:solidFill>
              <a:srgbClr val="B23A2E"/>
            </a:solidFill>
            <a:prstDash val="solid"/>
          </a:ln>
        </p:spPr>
      </p:sp>
      <p:sp>
        <p:nvSpPr>
          <p:cNvPr id="8" name="Text 6"/>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9" name="Text 7"/>
          <p:cNvSpPr txBox="1"/>
          <p:nvPr/>
        </p:nvSpPr>
        <p:spPr>
          <a:xfrm>
            <a:off x="1234440"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10천간</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甲乙丙丁戊己庚辛壬癸</a:t>
            </a:r>
            <a:endParaRPr lang="en-US" sz="1700" dirty="0"/>
          </a:p>
        </p:txBody>
      </p:sp>
      <p:sp>
        <p:nvSpPr>
          <p:cNvPr id="10" name="Shape 8"/>
          <p:cNvSpPr/>
          <p:nvPr/>
        </p:nvSpPr>
        <p:spPr>
          <a:xfrm>
            <a:off x="548640" y="3410712"/>
            <a:ext cx="502920" cy="502920"/>
          </a:xfrm>
          <a:prstGeom prst="ellipse">
            <a:avLst/>
          </a:prstGeom>
          <a:solidFill>
            <a:srgbClr val="B23A2E"/>
          </a:solidFill>
          <a:ln w="12700">
            <a:solidFill>
              <a:srgbClr val="B23A2E"/>
            </a:solidFill>
            <a:prstDash val="solid"/>
          </a:ln>
        </p:spPr>
      </p:sp>
      <p:sp>
        <p:nvSpPr>
          <p:cNvPr id="11" name="Text 9"/>
          <p:cNvSpPr txBox="1"/>
          <p:nvPr/>
        </p:nvSpPr>
        <p:spPr>
          <a:xfrm>
            <a:off x="548640"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2" name="Text 10"/>
          <p:cNvSpPr txBox="1"/>
          <p:nvPr/>
        </p:nvSpPr>
        <p:spPr>
          <a:xfrm>
            <a:off x="1234440" y="333756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천간의 상생·상극·합</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양은 양끼리, 음은 음끼리</a:t>
            </a:r>
            <a:endParaRPr lang="en-US" sz="1700" dirty="0"/>
          </a:p>
        </p:txBody>
      </p:sp>
      <p:sp>
        <p:nvSpPr>
          <p:cNvPr id="13" name="Shape 11"/>
          <p:cNvSpPr/>
          <p:nvPr/>
        </p:nvSpPr>
        <p:spPr>
          <a:xfrm>
            <a:off x="6324448" y="1673352"/>
            <a:ext cx="502920" cy="502920"/>
          </a:xfrm>
          <a:prstGeom prst="ellipse">
            <a:avLst/>
          </a:prstGeom>
          <a:solidFill>
            <a:srgbClr val="B23A2E"/>
          </a:solidFill>
          <a:ln w="12700">
            <a:solidFill>
              <a:srgbClr val="B23A2E"/>
            </a:solidFill>
            <a:prstDash val="solid"/>
          </a:ln>
        </p:spPr>
      </p:sp>
      <p:sp>
        <p:nvSpPr>
          <p:cNvPr id="14" name="Text 12"/>
          <p:cNvSpPr txBox="1"/>
          <p:nvPr/>
        </p:nvSpPr>
        <p:spPr>
          <a:xfrm>
            <a:off x="6324448"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15" name="Text 13"/>
          <p:cNvSpPr txBox="1"/>
          <p:nvPr/>
        </p:nvSpPr>
        <p:spPr>
          <a:xfrm>
            <a:off x="7010248"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12지지</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子丑寅卯辰巳午未申酉戌亥</a:t>
            </a:r>
            <a:endParaRPr lang="en-US" sz="1700" dirty="0"/>
          </a:p>
        </p:txBody>
      </p:sp>
      <p:sp>
        <p:nvSpPr>
          <p:cNvPr id="16" name="Shape 14"/>
          <p:cNvSpPr/>
          <p:nvPr/>
        </p:nvSpPr>
        <p:spPr>
          <a:xfrm>
            <a:off x="6324448" y="2542032"/>
            <a:ext cx="502920" cy="502920"/>
          </a:xfrm>
          <a:prstGeom prst="ellipse">
            <a:avLst/>
          </a:prstGeom>
          <a:solidFill>
            <a:srgbClr val="B23A2E"/>
          </a:solidFill>
          <a:ln w="12700">
            <a:solidFill>
              <a:srgbClr val="B23A2E"/>
            </a:solidFill>
            <a:prstDash val="solid"/>
          </a:ln>
        </p:spPr>
      </p:sp>
      <p:sp>
        <p:nvSpPr>
          <p:cNvPr id="17" name="Text 15"/>
          <p:cNvSpPr txBox="1"/>
          <p:nvPr/>
        </p:nvSpPr>
        <p:spPr>
          <a:xfrm>
            <a:off x="6324448"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18" name="Text 16"/>
          <p:cNvSpPr txBox="1"/>
          <p:nvPr/>
        </p:nvSpPr>
        <p:spPr>
          <a:xfrm>
            <a:off x="7010248"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지장간(地藏干)</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지지 속에 숨은 천간</a:t>
            </a:r>
            <a:endParaRPr lang="en-US" sz="1700" dirty="0"/>
          </a:p>
        </p:txBody>
      </p:sp>
      <p:sp>
        <p:nvSpPr>
          <p:cNvPr id="19" name="Shape 17"/>
          <p:cNvSpPr/>
          <p:nvPr/>
        </p:nvSpPr>
        <p:spPr>
          <a:xfrm>
            <a:off x="6324448" y="3410712"/>
            <a:ext cx="502920" cy="502920"/>
          </a:xfrm>
          <a:prstGeom prst="ellipse">
            <a:avLst/>
          </a:prstGeom>
          <a:solidFill>
            <a:srgbClr val="B23A2E"/>
          </a:solidFill>
          <a:ln w="12700">
            <a:solidFill>
              <a:srgbClr val="B23A2E"/>
            </a:solidFill>
            <a:prstDash val="solid"/>
          </a:ln>
        </p:spPr>
      </p:sp>
      <p:sp>
        <p:nvSpPr>
          <p:cNvPr id="20" name="Text 18"/>
          <p:cNvSpPr txBox="1"/>
          <p:nvPr/>
        </p:nvSpPr>
        <p:spPr>
          <a:xfrm>
            <a:off x="6324448"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6</a:t>
            </a:r>
            <a:endParaRPr lang="en-US" sz="1600" dirty="0"/>
          </a:p>
        </p:txBody>
      </p:sp>
      <p:sp>
        <p:nvSpPr>
          <p:cNvPr id="21" name="Text 19"/>
          <p:cNvSpPr txBox="1"/>
          <p:nvPr/>
        </p:nvSpPr>
        <p:spPr>
          <a:xfrm>
            <a:off x="7010248" y="333756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지지의 관계</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상생·상극·육합·삼합·방합·육충</a:t>
            </a:r>
            <a:endParaRPr lang="en-US" sz="1700" dirty="0"/>
          </a:p>
        </p:txBody>
      </p:sp>
      <p:sp>
        <p:nvSpPr>
          <p:cNvPr id="22" name="Text 20"/>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23" name="Text 2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01</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천간과 지지란</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하늘의 오행과 땅의 오행이 음양과 결합하다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천간과 지지란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하늘의 10기운, 땅의 12기운</a:t>
            </a:r>
            <a:endParaRPr lang="en-US" sz="3000" dirty="0"/>
          </a:p>
        </p:txBody>
      </p:sp>
      <p:sp>
        <p:nvSpPr>
          <p:cNvPr id="4" name="Shape 2"/>
          <p:cNvSpPr/>
          <p:nvPr/>
        </p:nvSpPr>
        <p:spPr>
          <a:xfrm>
            <a:off x="548640" y="1554480"/>
            <a:ext cx="5364328" cy="4526280"/>
          </a:xfrm>
          <a:prstGeom prst="roundRect">
            <a:avLst>
              <a:gd name="adj" fmla="val 2424"/>
            </a:avLst>
          </a:prstGeom>
          <a:solidFill>
            <a:srgbClr val="F3F1F6"/>
          </a:solidFill>
          <a:ln w="12700">
            <a:solidFill>
              <a:srgbClr val="F3F1F6"/>
            </a:solidFill>
            <a:prstDash val="solid"/>
          </a:ln>
        </p:spPr>
      </p:sp>
      <p:sp>
        <p:nvSpPr>
          <p:cNvPr id="5" name="Shape 3"/>
          <p:cNvSpPr/>
          <p:nvPr/>
        </p:nvSpPr>
        <p:spPr>
          <a:xfrm>
            <a:off x="822960" y="1783080"/>
            <a:ext cx="822960" cy="822960"/>
          </a:xfrm>
          <a:prstGeom prst="ellipse">
            <a:avLst/>
          </a:prstGeom>
          <a:solidFill>
            <a:srgbClr val="22406E"/>
          </a:solidFill>
          <a:ln w="12700">
            <a:solidFill>
              <a:srgbClr val="22406E"/>
            </a:solidFill>
            <a:prstDash val="solid"/>
          </a:ln>
        </p:spPr>
      </p:sp>
      <p:sp>
        <p:nvSpPr>
          <p:cNvPr id="6" name="Text 4"/>
          <p:cNvSpPr txBox="1"/>
          <p:nvPr/>
        </p:nvSpPr>
        <p:spPr>
          <a:xfrm>
            <a:off x="822960"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天</a:t>
            </a:r>
            <a:endParaRPr lang="en-US" sz="3200" dirty="0"/>
          </a:p>
        </p:txBody>
      </p:sp>
      <p:sp>
        <p:nvSpPr>
          <p:cNvPr id="7" name="Text 5"/>
          <p:cNvSpPr txBox="1"/>
          <p:nvPr/>
        </p:nvSpPr>
        <p:spPr>
          <a:xfrm>
            <a:off x="1828800"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천간(天干) — 10천기</a:t>
            </a:r>
            <a:endParaRPr lang="en-US" sz="2000" dirty="0"/>
          </a:p>
        </p:txBody>
      </p:sp>
      <p:sp>
        <p:nvSpPr>
          <p:cNvPr id="8" name="Text 6"/>
          <p:cNvSpPr txBox="1"/>
          <p:nvPr/>
        </p:nvSpPr>
        <p:spPr>
          <a:xfrm>
            <a:off x="822960"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하늘의 오행 × 음양 = 10가지 천기(天氣)</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甲乙 · 丙丁 · 戊己 · 庚辛 · 壬癸</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순수한 기운</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천간에도 방위·월·시간·별자리·장부를 배정함</a:t>
            </a:r>
            <a:endParaRPr lang="en-US" sz="1700" dirty="0"/>
          </a:p>
        </p:txBody>
      </p:sp>
      <p:sp>
        <p:nvSpPr>
          <p:cNvPr id="9" name="Shape 7"/>
          <p:cNvSpPr/>
          <p:nvPr/>
        </p:nvSpPr>
        <p:spPr>
          <a:xfrm>
            <a:off x="6278728" y="1554480"/>
            <a:ext cx="5364328" cy="4526280"/>
          </a:xfrm>
          <a:prstGeom prst="roundRect">
            <a:avLst>
              <a:gd name="adj" fmla="val 2424"/>
            </a:avLst>
          </a:prstGeom>
          <a:solidFill>
            <a:srgbClr val="F3F1F6"/>
          </a:solidFill>
          <a:ln w="12700">
            <a:solidFill>
              <a:srgbClr val="F3F1F6"/>
            </a:solidFill>
            <a:prstDash val="solid"/>
          </a:ln>
        </p:spPr>
      </p:sp>
      <p:sp>
        <p:nvSpPr>
          <p:cNvPr id="10" name="Shape 8"/>
          <p:cNvSpPr/>
          <p:nvPr/>
        </p:nvSpPr>
        <p:spPr>
          <a:xfrm>
            <a:off x="6553048" y="1783080"/>
            <a:ext cx="822960" cy="822960"/>
          </a:xfrm>
          <a:prstGeom prst="ellipse">
            <a:avLst/>
          </a:prstGeom>
          <a:solidFill>
            <a:srgbClr val="B8892A"/>
          </a:solidFill>
          <a:ln w="12700">
            <a:solidFill>
              <a:srgbClr val="B8892A"/>
            </a:solidFill>
            <a:prstDash val="solid"/>
          </a:ln>
        </p:spPr>
      </p:sp>
      <p:sp>
        <p:nvSpPr>
          <p:cNvPr id="11" name="Text 9"/>
          <p:cNvSpPr txBox="1"/>
          <p:nvPr/>
        </p:nvSpPr>
        <p:spPr>
          <a:xfrm>
            <a:off x="6553048"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地</a:t>
            </a:r>
            <a:endParaRPr lang="en-US" sz="3200" dirty="0"/>
          </a:p>
        </p:txBody>
      </p:sp>
      <p:sp>
        <p:nvSpPr>
          <p:cNvPr id="12" name="Text 10"/>
          <p:cNvSpPr txBox="1"/>
          <p:nvPr/>
        </p:nvSpPr>
        <p:spPr>
          <a:xfrm>
            <a:off x="7558888"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지지(地支) — 12지기</a:t>
            </a:r>
            <a:endParaRPr lang="en-US" sz="2000" dirty="0"/>
          </a:p>
        </p:txBody>
      </p:sp>
      <p:sp>
        <p:nvSpPr>
          <p:cNvPr id="13" name="Text 11"/>
          <p:cNvSpPr txBox="1"/>
          <p:nvPr/>
        </p:nvSpPr>
        <p:spPr>
          <a:xfrm>
            <a:off x="6553048"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땅의 오행 × 음양 = 12가지 지기(地氣)</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땅은 형상을 갖추므로 土의 작용이 필수 → 土가 사계절에 맞춰 넷(辰·未·戌·丑)</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하늘의 기운이 복합적으로 배어 있는, 순수하지 않은 기운</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 지장간 개념의 근거</a:t>
            </a:r>
            <a:endParaRPr lang="en-US" sz="1700" dirty="0"/>
          </a:p>
        </p:txBody>
      </p:sp>
      <p:sp>
        <p:nvSpPr>
          <p:cNvPr id="14"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천간과 지지란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지지가 나타내는 네 가지</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① 12달 — 절기 기준</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양력·음력이 아니라 황도 위 태양의 위치로 정한 12절기. 예: 子월 = 대설부터 소한 전까지</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② 12시진 — 하루</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1시진 = 2시간. 子시 = 밤 11시 ~ 새벽 1시</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③ 양기와 음기의 생장·소멸</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양기는 亥에서 생겨 子에서 잉태되고 寅에서 뚫고 나와 午에서 만개. 午에서 음기가 나타나 戌에서 가득 차고, 亥에서 다시 양기를 잉태</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④ 12동물 — 띠</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중생일 수밖에 없는 인간의 모습을 비춘 것. 나라마다 한두 동물이 달라도(인도: 범 → 사자) 상징은 같다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節</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"절기는 글자 그대로</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'기(氣)의 마디'라는 뜻으로,</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기의 성질이 변하는 분기점"</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02</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10천간</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甲 乙 丙 丁 戊 己 庚 辛 壬 癸</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10천간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10천간의 이미지</a:t>
            </a:r>
            <a:endParaRPr lang="en-US" sz="3000" dirty="0"/>
          </a:p>
        </p:txBody>
      </p:sp>
      <p:sp>
        <p:nvSpPr>
          <p:cNvPr id="4" name="Shape 2"/>
          <p:cNvSpPr/>
          <p:nvPr/>
        </p:nvSpPr>
        <p:spPr>
          <a:xfrm>
            <a:off x="548640" y="1600200"/>
            <a:ext cx="1999427" cy="2148840"/>
          </a:xfrm>
          <a:prstGeom prst="roundRect">
            <a:avLst>
              <a:gd name="adj" fmla="val 5488"/>
            </a:avLst>
          </a:prstGeom>
          <a:solidFill>
            <a:srgbClr val="F3F1F6"/>
          </a:solidFill>
          <a:ln w="12700">
            <a:solidFill>
              <a:srgbClr val="F3F1F6"/>
            </a:solidFill>
            <a:prstDash val="solid"/>
          </a:ln>
        </p:spPr>
      </p:sp>
      <p:sp>
        <p:nvSpPr>
          <p:cNvPr id="5" name="Shape 3"/>
          <p:cNvSpPr/>
          <p:nvPr/>
        </p:nvSpPr>
        <p:spPr>
          <a:xfrm>
            <a:off x="1205454" y="1783080"/>
            <a:ext cx="685800" cy="685800"/>
          </a:xfrm>
          <a:prstGeom prst="ellipse">
            <a:avLst/>
          </a:prstGeom>
          <a:solidFill>
            <a:srgbClr val="3F7D4E"/>
          </a:solidFill>
          <a:ln w="12700">
            <a:solidFill>
              <a:srgbClr val="3F7D4E"/>
            </a:solidFill>
            <a:prstDash val="solid"/>
          </a:ln>
        </p:spPr>
      </p:sp>
      <p:sp>
        <p:nvSpPr>
          <p:cNvPr id="6" name="Text 4"/>
          <p:cNvSpPr txBox="1"/>
          <p:nvPr/>
        </p:nvSpPr>
        <p:spPr>
          <a:xfrm>
            <a:off x="1205454" y="17830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甲</a:t>
            </a:r>
            <a:endParaRPr lang="en-US" sz="2600" dirty="0"/>
          </a:p>
        </p:txBody>
      </p:sp>
      <p:sp>
        <p:nvSpPr>
          <p:cNvPr id="7" name="Text 5"/>
          <p:cNvSpPr txBox="1"/>
          <p:nvPr/>
        </p:nvSpPr>
        <p:spPr>
          <a:xfrm>
            <a:off x="640080" y="256032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갑 · 양목</a:t>
            </a:r>
            <a:endParaRPr lang="en-US" sz="1500" dirty="0"/>
          </a:p>
        </p:txBody>
      </p:sp>
      <p:sp>
        <p:nvSpPr>
          <p:cNvPr id="8" name="Text 6"/>
          <p:cNvSpPr txBox="1"/>
          <p:nvPr/>
        </p:nvSpPr>
        <p:spPr>
          <a:xfrm>
            <a:off x="685800" y="299008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씨껍질을 이고 돋는 싹</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대림목(大林木)</a:t>
            </a:r>
            <a:endParaRPr lang="en-US" sz="1300" dirty="0"/>
          </a:p>
        </p:txBody>
      </p:sp>
      <p:sp>
        <p:nvSpPr>
          <p:cNvPr id="9" name="Shape 7"/>
          <p:cNvSpPr/>
          <p:nvPr/>
        </p:nvSpPr>
        <p:spPr>
          <a:xfrm>
            <a:off x="2822387" y="1600200"/>
            <a:ext cx="1999427" cy="2148840"/>
          </a:xfrm>
          <a:prstGeom prst="roundRect">
            <a:avLst>
              <a:gd name="adj" fmla="val 5488"/>
            </a:avLst>
          </a:prstGeom>
          <a:solidFill>
            <a:srgbClr val="F3F1F6"/>
          </a:solidFill>
          <a:ln w="12700">
            <a:solidFill>
              <a:srgbClr val="F3F1F6"/>
            </a:solidFill>
            <a:prstDash val="solid"/>
          </a:ln>
        </p:spPr>
      </p:sp>
      <p:sp>
        <p:nvSpPr>
          <p:cNvPr id="10" name="Shape 8"/>
          <p:cNvSpPr/>
          <p:nvPr/>
        </p:nvSpPr>
        <p:spPr>
          <a:xfrm>
            <a:off x="3479201" y="1783080"/>
            <a:ext cx="685800" cy="685800"/>
          </a:xfrm>
          <a:prstGeom prst="ellipse">
            <a:avLst/>
          </a:prstGeom>
          <a:solidFill>
            <a:srgbClr val="C0392B"/>
          </a:solidFill>
          <a:ln w="12700">
            <a:solidFill>
              <a:srgbClr val="C0392B"/>
            </a:solidFill>
            <a:prstDash val="solid"/>
          </a:ln>
        </p:spPr>
      </p:sp>
      <p:sp>
        <p:nvSpPr>
          <p:cNvPr id="11" name="Text 9"/>
          <p:cNvSpPr txBox="1"/>
          <p:nvPr/>
        </p:nvSpPr>
        <p:spPr>
          <a:xfrm>
            <a:off x="3479201" y="17830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丙</a:t>
            </a:r>
            <a:endParaRPr lang="en-US" sz="2600" dirty="0"/>
          </a:p>
        </p:txBody>
      </p:sp>
      <p:sp>
        <p:nvSpPr>
          <p:cNvPr id="12" name="Text 10"/>
          <p:cNvSpPr txBox="1"/>
          <p:nvPr/>
        </p:nvSpPr>
        <p:spPr>
          <a:xfrm>
            <a:off x="2913827" y="256032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병 · 양화</a:t>
            </a:r>
            <a:endParaRPr lang="en-US" sz="1500" dirty="0"/>
          </a:p>
        </p:txBody>
      </p:sp>
      <p:sp>
        <p:nvSpPr>
          <p:cNvPr id="13" name="Text 11"/>
          <p:cNvSpPr txBox="1"/>
          <p:nvPr/>
        </p:nvSpPr>
        <p:spPr>
          <a:xfrm>
            <a:off x="2959547" y="299008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태양, 활활 타는 불</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"밝다"</a:t>
            </a:r>
            <a:endParaRPr lang="en-US" sz="1300" dirty="0"/>
          </a:p>
        </p:txBody>
      </p:sp>
      <p:sp>
        <p:nvSpPr>
          <p:cNvPr id="14" name="Shape 12"/>
          <p:cNvSpPr/>
          <p:nvPr/>
        </p:nvSpPr>
        <p:spPr>
          <a:xfrm>
            <a:off x="5096134" y="1600200"/>
            <a:ext cx="1999427" cy="2148840"/>
          </a:xfrm>
          <a:prstGeom prst="roundRect">
            <a:avLst>
              <a:gd name="adj" fmla="val 5488"/>
            </a:avLst>
          </a:prstGeom>
          <a:solidFill>
            <a:srgbClr val="F3F1F6"/>
          </a:solidFill>
          <a:ln w="12700">
            <a:solidFill>
              <a:srgbClr val="F3F1F6"/>
            </a:solidFill>
            <a:prstDash val="solid"/>
          </a:ln>
        </p:spPr>
      </p:sp>
      <p:sp>
        <p:nvSpPr>
          <p:cNvPr id="15" name="Shape 13"/>
          <p:cNvSpPr/>
          <p:nvPr/>
        </p:nvSpPr>
        <p:spPr>
          <a:xfrm>
            <a:off x="5752948" y="1783080"/>
            <a:ext cx="685800" cy="685800"/>
          </a:xfrm>
          <a:prstGeom prst="ellipse">
            <a:avLst/>
          </a:prstGeom>
          <a:solidFill>
            <a:srgbClr val="B8892A"/>
          </a:solidFill>
          <a:ln w="12700">
            <a:solidFill>
              <a:srgbClr val="B8892A"/>
            </a:solidFill>
            <a:prstDash val="solid"/>
          </a:ln>
        </p:spPr>
      </p:sp>
      <p:sp>
        <p:nvSpPr>
          <p:cNvPr id="16" name="Text 14"/>
          <p:cNvSpPr txBox="1"/>
          <p:nvPr/>
        </p:nvSpPr>
        <p:spPr>
          <a:xfrm>
            <a:off x="5752948" y="17830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戊</a:t>
            </a:r>
            <a:endParaRPr lang="en-US" sz="2600" dirty="0"/>
          </a:p>
        </p:txBody>
      </p:sp>
      <p:sp>
        <p:nvSpPr>
          <p:cNvPr id="17" name="Text 15"/>
          <p:cNvSpPr txBox="1"/>
          <p:nvPr/>
        </p:nvSpPr>
        <p:spPr>
          <a:xfrm>
            <a:off x="5187574" y="256032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무 · 양토</a:t>
            </a:r>
            <a:endParaRPr lang="en-US" sz="1500" dirty="0"/>
          </a:p>
        </p:txBody>
      </p:sp>
      <p:sp>
        <p:nvSpPr>
          <p:cNvPr id="18" name="Text 16"/>
          <p:cNvSpPr txBox="1"/>
          <p:nvPr/>
        </p:nvSpPr>
        <p:spPr>
          <a:xfrm>
            <a:off x="5233294" y="299008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태산 같은 흙</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몸 밖의 土</a:t>
            </a:r>
            <a:endParaRPr lang="en-US" sz="1300" dirty="0"/>
          </a:p>
        </p:txBody>
      </p:sp>
      <p:sp>
        <p:nvSpPr>
          <p:cNvPr id="19" name="Shape 17"/>
          <p:cNvSpPr/>
          <p:nvPr/>
        </p:nvSpPr>
        <p:spPr>
          <a:xfrm>
            <a:off x="7369881" y="1600200"/>
            <a:ext cx="1999427" cy="2148840"/>
          </a:xfrm>
          <a:prstGeom prst="roundRect">
            <a:avLst>
              <a:gd name="adj" fmla="val 5488"/>
            </a:avLst>
          </a:prstGeom>
          <a:solidFill>
            <a:srgbClr val="F3F1F6"/>
          </a:solidFill>
          <a:ln w="12700">
            <a:solidFill>
              <a:srgbClr val="F3F1F6"/>
            </a:solidFill>
            <a:prstDash val="solid"/>
          </a:ln>
        </p:spPr>
      </p:sp>
      <p:sp>
        <p:nvSpPr>
          <p:cNvPr id="20" name="Shape 18"/>
          <p:cNvSpPr/>
          <p:nvPr/>
        </p:nvSpPr>
        <p:spPr>
          <a:xfrm>
            <a:off x="8026695" y="1783080"/>
            <a:ext cx="685800" cy="685800"/>
          </a:xfrm>
          <a:prstGeom prst="ellipse">
            <a:avLst/>
          </a:prstGeom>
          <a:solidFill>
            <a:srgbClr val="6E737B"/>
          </a:solidFill>
          <a:ln w="12700">
            <a:solidFill>
              <a:srgbClr val="6E737B"/>
            </a:solidFill>
            <a:prstDash val="solid"/>
          </a:ln>
        </p:spPr>
      </p:sp>
      <p:sp>
        <p:nvSpPr>
          <p:cNvPr id="21" name="Text 19"/>
          <p:cNvSpPr txBox="1"/>
          <p:nvPr/>
        </p:nvSpPr>
        <p:spPr>
          <a:xfrm>
            <a:off x="8026695" y="17830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庚</a:t>
            </a:r>
            <a:endParaRPr lang="en-US" sz="2600" dirty="0"/>
          </a:p>
        </p:txBody>
      </p:sp>
      <p:sp>
        <p:nvSpPr>
          <p:cNvPr id="22" name="Text 20"/>
          <p:cNvSpPr txBox="1"/>
          <p:nvPr/>
        </p:nvSpPr>
        <p:spPr>
          <a:xfrm>
            <a:off x="7461321" y="256032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경 · 양금</a:t>
            </a:r>
            <a:endParaRPr lang="en-US" sz="1500" dirty="0"/>
          </a:p>
        </p:txBody>
      </p:sp>
      <p:sp>
        <p:nvSpPr>
          <p:cNvPr id="23" name="Text 21"/>
          <p:cNvSpPr txBox="1"/>
          <p:nvPr/>
        </p:nvSpPr>
        <p:spPr>
          <a:xfrm>
            <a:off x="7507041" y="299008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무쇠, 단단한 상태</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무엇이든 만드는 조화물</a:t>
            </a:r>
            <a:endParaRPr lang="en-US" sz="1300" dirty="0"/>
          </a:p>
        </p:txBody>
      </p:sp>
      <p:sp>
        <p:nvSpPr>
          <p:cNvPr id="24" name="Shape 22"/>
          <p:cNvSpPr/>
          <p:nvPr/>
        </p:nvSpPr>
        <p:spPr>
          <a:xfrm>
            <a:off x="9643628" y="1600200"/>
            <a:ext cx="1999427" cy="2148840"/>
          </a:xfrm>
          <a:prstGeom prst="roundRect">
            <a:avLst>
              <a:gd name="adj" fmla="val 5488"/>
            </a:avLst>
          </a:prstGeom>
          <a:solidFill>
            <a:srgbClr val="F3F1F6"/>
          </a:solidFill>
          <a:ln w="12700">
            <a:solidFill>
              <a:srgbClr val="F3F1F6"/>
            </a:solidFill>
            <a:prstDash val="solid"/>
          </a:ln>
        </p:spPr>
      </p:sp>
      <p:sp>
        <p:nvSpPr>
          <p:cNvPr id="25" name="Shape 23"/>
          <p:cNvSpPr/>
          <p:nvPr/>
        </p:nvSpPr>
        <p:spPr>
          <a:xfrm>
            <a:off x="10300442" y="1783080"/>
            <a:ext cx="685800" cy="685800"/>
          </a:xfrm>
          <a:prstGeom prst="ellipse">
            <a:avLst/>
          </a:prstGeom>
          <a:solidFill>
            <a:srgbClr val="22406E"/>
          </a:solidFill>
          <a:ln w="12700">
            <a:solidFill>
              <a:srgbClr val="22406E"/>
            </a:solidFill>
            <a:prstDash val="solid"/>
          </a:ln>
        </p:spPr>
      </p:sp>
      <p:sp>
        <p:nvSpPr>
          <p:cNvPr id="26" name="Text 24"/>
          <p:cNvSpPr txBox="1"/>
          <p:nvPr/>
        </p:nvSpPr>
        <p:spPr>
          <a:xfrm>
            <a:off x="10300442" y="17830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壬</a:t>
            </a:r>
            <a:endParaRPr lang="en-US" sz="2600" dirty="0"/>
          </a:p>
        </p:txBody>
      </p:sp>
      <p:sp>
        <p:nvSpPr>
          <p:cNvPr id="27" name="Text 25"/>
          <p:cNvSpPr txBox="1"/>
          <p:nvPr/>
        </p:nvSpPr>
        <p:spPr>
          <a:xfrm>
            <a:off x="9735068" y="256032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임 · 양수</a:t>
            </a:r>
            <a:endParaRPr lang="en-US" sz="1500" dirty="0"/>
          </a:p>
        </p:txBody>
      </p:sp>
      <p:sp>
        <p:nvSpPr>
          <p:cNvPr id="28" name="Text 26"/>
          <p:cNvSpPr txBox="1"/>
          <p:nvPr/>
        </p:nvSpPr>
        <p:spPr>
          <a:xfrm>
            <a:off x="9780788" y="299008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대해수(大海水)</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"임신하다"</a:t>
            </a:r>
            <a:endParaRPr lang="en-US" sz="1300" dirty="0"/>
          </a:p>
        </p:txBody>
      </p:sp>
      <p:sp>
        <p:nvSpPr>
          <p:cNvPr id="29" name="Shape 27"/>
          <p:cNvSpPr/>
          <p:nvPr/>
        </p:nvSpPr>
        <p:spPr>
          <a:xfrm>
            <a:off x="548640" y="4023360"/>
            <a:ext cx="1999427" cy="2148840"/>
          </a:xfrm>
          <a:prstGeom prst="roundRect">
            <a:avLst>
              <a:gd name="adj" fmla="val 5488"/>
            </a:avLst>
          </a:prstGeom>
          <a:solidFill>
            <a:srgbClr val="F3F1F6"/>
          </a:solidFill>
          <a:ln w="12700">
            <a:solidFill>
              <a:srgbClr val="F3F1F6"/>
            </a:solidFill>
            <a:prstDash val="solid"/>
          </a:ln>
        </p:spPr>
      </p:sp>
      <p:sp>
        <p:nvSpPr>
          <p:cNvPr id="30" name="Shape 28"/>
          <p:cNvSpPr/>
          <p:nvPr/>
        </p:nvSpPr>
        <p:spPr>
          <a:xfrm>
            <a:off x="1205454" y="4206240"/>
            <a:ext cx="685800" cy="685800"/>
          </a:xfrm>
          <a:prstGeom prst="ellipse">
            <a:avLst/>
          </a:prstGeom>
          <a:solidFill>
            <a:srgbClr val="3F7D4E"/>
          </a:solidFill>
          <a:ln w="12700">
            <a:solidFill>
              <a:srgbClr val="3F7D4E"/>
            </a:solidFill>
            <a:prstDash val="solid"/>
          </a:ln>
        </p:spPr>
      </p:sp>
      <p:sp>
        <p:nvSpPr>
          <p:cNvPr id="31" name="Text 29"/>
          <p:cNvSpPr txBox="1"/>
          <p:nvPr/>
        </p:nvSpPr>
        <p:spPr>
          <a:xfrm>
            <a:off x="1205454" y="4206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乙</a:t>
            </a:r>
            <a:endParaRPr lang="en-US" sz="2600" dirty="0"/>
          </a:p>
        </p:txBody>
      </p:sp>
      <p:sp>
        <p:nvSpPr>
          <p:cNvPr id="32" name="Text 30"/>
          <p:cNvSpPr txBox="1"/>
          <p:nvPr/>
        </p:nvSpPr>
        <p:spPr>
          <a:xfrm>
            <a:off x="640080" y="498348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을 · 음목</a:t>
            </a:r>
            <a:endParaRPr lang="en-US" sz="1500" dirty="0"/>
          </a:p>
        </p:txBody>
      </p:sp>
      <p:sp>
        <p:nvSpPr>
          <p:cNvPr id="33" name="Text 31"/>
          <p:cNvSpPr txBox="1"/>
          <p:nvPr/>
        </p:nvSpPr>
        <p:spPr>
          <a:xfrm>
            <a:off x="685800" y="541324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甲이 터뜨린 새싹</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영기(靈氣)의 싹</a:t>
            </a:r>
            <a:endParaRPr lang="en-US" sz="1300" dirty="0"/>
          </a:p>
        </p:txBody>
      </p:sp>
      <p:sp>
        <p:nvSpPr>
          <p:cNvPr id="34" name="Shape 32"/>
          <p:cNvSpPr/>
          <p:nvPr/>
        </p:nvSpPr>
        <p:spPr>
          <a:xfrm>
            <a:off x="2822387" y="4023360"/>
            <a:ext cx="1999427" cy="2148840"/>
          </a:xfrm>
          <a:prstGeom prst="roundRect">
            <a:avLst>
              <a:gd name="adj" fmla="val 5488"/>
            </a:avLst>
          </a:prstGeom>
          <a:solidFill>
            <a:srgbClr val="F3F1F6"/>
          </a:solidFill>
          <a:ln w="12700">
            <a:solidFill>
              <a:srgbClr val="F3F1F6"/>
            </a:solidFill>
            <a:prstDash val="solid"/>
          </a:ln>
        </p:spPr>
      </p:sp>
      <p:sp>
        <p:nvSpPr>
          <p:cNvPr id="35" name="Shape 33"/>
          <p:cNvSpPr/>
          <p:nvPr/>
        </p:nvSpPr>
        <p:spPr>
          <a:xfrm>
            <a:off x="3479201" y="4206240"/>
            <a:ext cx="685800" cy="685800"/>
          </a:xfrm>
          <a:prstGeom prst="ellipse">
            <a:avLst/>
          </a:prstGeom>
          <a:solidFill>
            <a:srgbClr val="C0392B"/>
          </a:solidFill>
          <a:ln w="12700">
            <a:solidFill>
              <a:srgbClr val="C0392B"/>
            </a:solidFill>
            <a:prstDash val="solid"/>
          </a:ln>
        </p:spPr>
      </p:sp>
      <p:sp>
        <p:nvSpPr>
          <p:cNvPr id="36" name="Text 34"/>
          <p:cNvSpPr txBox="1"/>
          <p:nvPr/>
        </p:nvSpPr>
        <p:spPr>
          <a:xfrm>
            <a:off x="3479201" y="4206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丁</a:t>
            </a:r>
            <a:endParaRPr lang="en-US" sz="2600" dirty="0"/>
          </a:p>
        </p:txBody>
      </p:sp>
      <p:sp>
        <p:nvSpPr>
          <p:cNvPr id="37" name="Text 35"/>
          <p:cNvSpPr txBox="1"/>
          <p:nvPr/>
        </p:nvSpPr>
        <p:spPr>
          <a:xfrm>
            <a:off x="2913827" y="498348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정 · 음화</a:t>
            </a:r>
            <a:endParaRPr lang="en-US" sz="1500" dirty="0"/>
          </a:p>
        </p:txBody>
      </p:sp>
      <p:sp>
        <p:nvSpPr>
          <p:cNvPr id="38" name="Text 36"/>
          <p:cNvSpPr txBox="1"/>
          <p:nvPr/>
        </p:nvSpPr>
        <p:spPr>
          <a:xfrm>
            <a:off x="2959547" y="541324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은근한 불씨, 촛불</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만물을 따뜻하게 기름</a:t>
            </a:r>
            <a:endParaRPr lang="en-US" sz="1300" dirty="0"/>
          </a:p>
        </p:txBody>
      </p:sp>
      <p:sp>
        <p:nvSpPr>
          <p:cNvPr id="39" name="Shape 37"/>
          <p:cNvSpPr/>
          <p:nvPr/>
        </p:nvSpPr>
        <p:spPr>
          <a:xfrm>
            <a:off x="5096134" y="4023360"/>
            <a:ext cx="1999427" cy="2148840"/>
          </a:xfrm>
          <a:prstGeom prst="roundRect">
            <a:avLst>
              <a:gd name="adj" fmla="val 5488"/>
            </a:avLst>
          </a:prstGeom>
          <a:solidFill>
            <a:srgbClr val="F3F1F6"/>
          </a:solidFill>
          <a:ln w="12700">
            <a:solidFill>
              <a:srgbClr val="F3F1F6"/>
            </a:solidFill>
            <a:prstDash val="solid"/>
          </a:ln>
        </p:spPr>
      </p:sp>
      <p:sp>
        <p:nvSpPr>
          <p:cNvPr id="40" name="Shape 38"/>
          <p:cNvSpPr/>
          <p:nvPr/>
        </p:nvSpPr>
        <p:spPr>
          <a:xfrm>
            <a:off x="5752948" y="4206240"/>
            <a:ext cx="685800" cy="685800"/>
          </a:xfrm>
          <a:prstGeom prst="ellipse">
            <a:avLst/>
          </a:prstGeom>
          <a:solidFill>
            <a:srgbClr val="B8892A"/>
          </a:solidFill>
          <a:ln w="12700">
            <a:solidFill>
              <a:srgbClr val="B8892A"/>
            </a:solidFill>
            <a:prstDash val="solid"/>
          </a:ln>
        </p:spPr>
      </p:sp>
      <p:sp>
        <p:nvSpPr>
          <p:cNvPr id="41" name="Text 39"/>
          <p:cNvSpPr txBox="1"/>
          <p:nvPr/>
        </p:nvSpPr>
        <p:spPr>
          <a:xfrm>
            <a:off x="5752948" y="4206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己</a:t>
            </a:r>
            <a:endParaRPr lang="en-US" sz="2600" dirty="0"/>
          </a:p>
        </p:txBody>
      </p:sp>
      <p:sp>
        <p:nvSpPr>
          <p:cNvPr id="42" name="Text 40"/>
          <p:cNvSpPr txBox="1"/>
          <p:nvPr/>
        </p:nvSpPr>
        <p:spPr>
          <a:xfrm>
            <a:off x="5187574" y="498348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기 · 음토</a:t>
            </a:r>
            <a:endParaRPr lang="en-US" sz="1500" dirty="0"/>
          </a:p>
        </p:txBody>
      </p:sp>
      <p:sp>
        <p:nvSpPr>
          <p:cNvPr id="43" name="Text 41"/>
          <p:cNvSpPr txBox="1"/>
          <p:nvPr/>
        </p:nvSpPr>
        <p:spPr>
          <a:xfrm>
            <a:off x="5233294" y="541324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몸을 굽힌 모양</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몸 안의 土, 안방마님</a:t>
            </a:r>
            <a:endParaRPr lang="en-US" sz="1300" dirty="0"/>
          </a:p>
        </p:txBody>
      </p:sp>
      <p:sp>
        <p:nvSpPr>
          <p:cNvPr id="44" name="Shape 42"/>
          <p:cNvSpPr/>
          <p:nvPr/>
        </p:nvSpPr>
        <p:spPr>
          <a:xfrm>
            <a:off x="7369881" y="4023360"/>
            <a:ext cx="1999427" cy="2148840"/>
          </a:xfrm>
          <a:prstGeom prst="roundRect">
            <a:avLst>
              <a:gd name="adj" fmla="val 5488"/>
            </a:avLst>
          </a:prstGeom>
          <a:solidFill>
            <a:srgbClr val="F3F1F6"/>
          </a:solidFill>
          <a:ln w="12700">
            <a:solidFill>
              <a:srgbClr val="F3F1F6"/>
            </a:solidFill>
            <a:prstDash val="solid"/>
          </a:ln>
        </p:spPr>
      </p:sp>
      <p:sp>
        <p:nvSpPr>
          <p:cNvPr id="45" name="Shape 43"/>
          <p:cNvSpPr/>
          <p:nvPr/>
        </p:nvSpPr>
        <p:spPr>
          <a:xfrm>
            <a:off x="8026695" y="4206240"/>
            <a:ext cx="685800" cy="685800"/>
          </a:xfrm>
          <a:prstGeom prst="ellipse">
            <a:avLst/>
          </a:prstGeom>
          <a:solidFill>
            <a:srgbClr val="6E737B"/>
          </a:solidFill>
          <a:ln w="12700">
            <a:solidFill>
              <a:srgbClr val="6E737B"/>
            </a:solidFill>
            <a:prstDash val="solid"/>
          </a:ln>
        </p:spPr>
      </p:sp>
      <p:sp>
        <p:nvSpPr>
          <p:cNvPr id="46" name="Text 44"/>
          <p:cNvSpPr txBox="1"/>
          <p:nvPr/>
        </p:nvSpPr>
        <p:spPr>
          <a:xfrm>
            <a:off x="8026695" y="4206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辛</a:t>
            </a:r>
            <a:endParaRPr lang="en-US" sz="2600" dirty="0"/>
          </a:p>
        </p:txBody>
      </p:sp>
      <p:sp>
        <p:nvSpPr>
          <p:cNvPr id="47" name="Text 45"/>
          <p:cNvSpPr txBox="1"/>
          <p:nvPr/>
        </p:nvSpPr>
        <p:spPr>
          <a:xfrm>
            <a:off x="7461321" y="498348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신 · 음금</a:t>
            </a:r>
            <a:endParaRPr lang="en-US" sz="1500" dirty="0"/>
          </a:p>
        </p:txBody>
      </p:sp>
      <p:sp>
        <p:nvSpPr>
          <p:cNvPr id="48" name="Text 46"/>
          <p:cNvSpPr txBox="1"/>
          <p:nvPr/>
        </p:nvSpPr>
        <p:spPr>
          <a:xfrm>
            <a:off x="7507041" y="541324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"괴롭다", "맵다"</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다듬어진 쇠</a:t>
            </a:r>
            <a:endParaRPr lang="en-US" sz="1300" dirty="0"/>
          </a:p>
        </p:txBody>
      </p:sp>
      <p:sp>
        <p:nvSpPr>
          <p:cNvPr id="49" name="Shape 47"/>
          <p:cNvSpPr/>
          <p:nvPr/>
        </p:nvSpPr>
        <p:spPr>
          <a:xfrm>
            <a:off x="9643628" y="4023360"/>
            <a:ext cx="1999427" cy="2148840"/>
          </a:xfrm>
          <a:prstGeom prst="roundRect">
            <a:avLst>
              <a:gd name="adj" fmla="val 5488"/>
            </a:avLst>
          </a:prstGeom>
          <a:solidFill>
            <a:srgbClr val="F3F1F6"/>
          </a:solidFill>
          <a:ln w="12700">
            <a:solidFill>
              <a:srgbClr val="F3F1F6"/>
            </a:solidFill>
            <a:prstDash val="solid"/>
          </a:ln>
        </p:spPr>
      </p:sp>
      <p:sp>
        <p:nvSpPr>
          <p:cNvPr id="50" name="Shape 48"/>
          <p:cNvSpPr/>
          <p:nvPr/>
        </p:nvSpPr>
        <p:spPr>
          <a:xfrm>
            <a:off x="10300442" y="4206240"/>
            <a:ext cx="685800" cy="685800"/>
          </a:xfrm>
          <a:prstGeom prst="ellipse">
            <a:avLst/>
          </a:prstGeom>
          <a:solidFill>
            <a:srgbClr val="22406E"/>
          </a:solidFill>
          <a:ln w="12700">
            <a:solidFill>
              <a:srgbClr val="22406E"/>
            </a:solidFill>
            <a:prstDash val="solid"/>
          </a:ln>
        </p:spPr>
      </p:sp>
      <p:sp>
        <p:nvSpPr>
          <p:cNvPr id="51" name="Text 49"/>
          <p:cNvSpPr txBox="1"/>
          <p:nvPr/>
        </p:nvSpPr>
        <p:spPr>
          <a:xfrm>
            <a:off x="10300442" y="4206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癸</a:t>
            </a:r>
            <a:endParaRPr lang="en-US" sz="2600" dirty="0"/>
          </a:p>
        </p:txBody>
      </p:sp>
      <p:sp>
        <p:nvSpPr>
          <p:cNvPr id="52" name="Text 50"/>
          <p:cNvSpPr txBox="1"/>
          <p:nvPr/>
        </p:nvSpPr>
        <p:spPr>
          <a:xfrm>
            <a:off x="9735068" y="4983480"/>
            <a:ext cx="1816547" cy="384048"/>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계 · 음수</a:t>
            </a:r>
            <a:endParaRPr lang="en-US" sz="1500" dirty="0"/>
          </a:p>
        </p:txBody>
      </p:sp>
      <p:sp>
        <p:nvSpPr>
          <p:cNvPr id="53" name="Text 51"/>
          <p:cNvSpPr txBox="1"/>
          <p:nvPr/>
        </p:nvSpPr>
        <p:spPr>
          <a:xfrm>
            <a:off x="9780788" y="5413248"/>
            <a:ext cx="1725107" cy="685800"/>
          </a:xfrm>
          <a:prstGeom prst="rect">
            <a:avLst/>
          </a:prstGeom>
          <a:noFill/>
          <a:ln/>
        </p:spPr>
        <p:txBody>
          <a:bodyPr wrap="square" lIns="0" tIns="0" rIns="0" bIns="0" rtlCol="0" anchor="t"/>
          <a:lstStyle/>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강물·냇물</a:t>
            </a:r>
            <a:endParaRPr lang="en-US" sz="1300" dirty="0"/>
          </a:p>
          <a:p>
            <a:pPr algn="ctr" indent="0" marL="0">
              <a:lnSpc>
                <a:spcPct val="110000"/>
              </a:lnSpc>
              <a:buNone/>
            </a:pPr>
            <a:r>
              <a:rPr lang="en-US" sz="1300" dirty="0">
                <a:solidFill>
                  <a:srgbClr val="22212A"/>
                </a:solidFill>
                <a:latin typeface="Malgun Gothic" pitchFamily="34" charset="0"/>
                <a:ea typeface="Malgun Gothic" pitchFamily="34" charset="-122"/>
                <a:cs typeface="Malgun Gothic" pitchFamily="34" charset="-120"/>
              </a:rPr>
              <a:t>壬보다 찬 성질</a:t>
            </a:r>
            <a:endParaRPr lang="en-US" sz="1300" dirty="0"/>
          </a:p>
        </p:txBody>
      </p:sp>
      <p:sp>
        <p:nvSpPr>
          <p:cNvPr id="54" name="Text 5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55" name="Text 5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10천간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10천간 상세표</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188720"/>
                <a:gridCol w="1463040"/>
                <a:gridCol w="1828800"/>
                <a:gridCol w="2194560"/>
                <a:gridCol w="2194560"/>
                <a:gridCol w="2221992"/>
              </a:tblGrid>
              <a:tr h="378229">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천간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음양·오행</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방위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절기 (음력 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시간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인체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甲 갑</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양목</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동쪽 첫머리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입춘 (1월)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03~05시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담 (근육·손발톱)</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乙 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음목</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동쪽 가운데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경칩 (2월)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05~07시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간 (눈)</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丙 병</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양화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남쪽</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입하 (4월)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09~11시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소장 (심장·혀에 영향)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丁 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음화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남쪽 가운데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망종 (5월)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11~13시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심장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戊 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양토</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중앙</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사계 · 환절기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위장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己 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음토</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중앙</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사계 · 환절기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07~09시, 19~21시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비장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庚 경</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양금</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서쪽 첫머리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입추 (7월) *</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15~17시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대장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辛 신</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음금</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서쪽 가운데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백로 (8월)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17~19시 *</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壬 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양수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북쪽 첫머리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입동 (10월)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21~23시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방광 (水 전체)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78229">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癸 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음수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북쪽 가운데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대설 (11월)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23~01시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신장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 원문은 庚을 "음력 10월", 辛을 "밤 5~7시"로 적고 있으나 입추·酉시와 맞추면 7월, 오후 5~7시가 맞다 · 甲=寅, 乙=卯, 丙=巳, 丁=午, 庚=申, 辛=酉, 壬=亥, 癸=子와 같은 시간·절기</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03</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천간의 상생 · 상극 · 합</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양은 양끼리, 음은 음끼리 — 음과 양 사이에는 합</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천간의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천간의 상생과 상극 규칙</a:t>
            </a:r>
            <a:endParaRPr lang="en-US" sz="3000" dirty="0"/>
          </a:p>
        </p:txBody>
      </p:sp>
      <p:sp>
        <p:nvSpPr>
          <p:cNvPr id="4" name="Shape 2"/>
          <p:cNvSpPr/>
          <p:nvPr/>
        </p:nvSpPr>
        <p:spPr>
          <a:xfrm>
            <a:off x="548640" y="1554480"/>
            <a:ext cx="5364328" cy="4526280"/>
          </a:xfrm>
          <a:prstGeom prst="roundRect">
            <a:avLst>
              <a:gd name="adj" fmla="val 2424"/>
            </a:avLst>
          </a:prstGeom>
          <a:solidFill>
            <a:srgbClr val="F3F1F6"/>
          </a:solidFill>
          <a:ln w="12700">
            <a:solidFill>
              <a:srgbClr val="F3F1F6"/>
            </a:solidFill>
            <a:prstDash val="solid"/>
          </a:ln>
        </p:spPr>
      </p:sp>
      <p:sp>
        <p:nvSpPr>
          <p:cNvPr id="5" name="Shape 3"/>
          <p:cNvSpPr/>
          <p:nvPr/>
        </p:nvSpPr>
        <p:spPr>
          <a:xfrm>
            <a:off x="822960" y="1783080"/>
            <a:ext cx="822960" cy="822960"/>
          </a:xfrm>
          <a:prstGeom prst="ellipse">
            <a:avLst/>
          </a:prstGeom>
          <a:solidFill>
            <a:srgbClr val="3F7D4E"/>
          </a:solidFill>
          <a:ln w="12700">
            <a:solidFill>
              <a:srgbClr val="3F7D4E"/>
            </a:solidFill>
            <a:prstDash val="solid"/>
          </a:ln>
        </p:spPr>
      </p:sp>
      <p:sp>
        <p:nvSpPr>
          <p:cNvPr id="6" name="Text 4"/>
          <p:cNvSpPr txBox="1"/>
          <p:nvPr/>
        </p:nvSpPr>
        <p:spPr>
          <a:xfrm>
            <a:off x="822960"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生</a:t>
            </a:r>
            <a:endParaRPr lang="en-US" sz="3200" dirty="0"/>
          </a:p>
        </p:txBody>
      </p:sp>
      <p:sp>
        <p:nvSpPr>
          <p:cNvPr id="7" name="Text 5"/>
          <p:cNvSpPr txBox="1"/>
          <p:nvPr/>
        </p:nvSpPr>
        <p:spPr>
          <a:xfrm>
            <a:off x="1828800"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상생</a:t>
            </a:r>
            <a:endParaRPr lang="en-US" sz="2000" dirty="0"/>
          </a:p>
        </p:txBody>
      </p:sp>
      <p:sp>
        <p:nvSpPr>
          <p:cNvPr id="8" name="Text 6"/>
          <p:cNvSpPr txBox="1"/>
          <p:nvPr/>
        </p:nvSpPr>
        <p:spPr>
          <a:xfrm>
            <a:off x="822960"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오행 원리 그대로: 甲乙 → 丙丁 → 戊己 → 庚辛 → 壬癸 → 甲乙</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양이 양을, 음이 음을 생할 때 강력하다</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양이 음을, 음이 양을 생할 때는 부드럽다</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양이 음을 생하는 힘 &gt; 음이 양을 생하는 힘</a:t>
            </a:r>
            <a:endParaRPr lang="en-US" sz="1700" dirty="0"/>
          </a:p>
        </p:txBody>
      </p:sp>
      <p:sp>
        <p:nvSpPr>
          <p:cNvPr id="9" name="Shape 7"/>
          <p:cNvSpPr/>
          <p:nvPr/>
        </p:nvSpPr>
        <p:spPr>
          <a:xfrm>
            <a:off x="6278728" y="1554480"/>
            <a:ext cx="5364328" cy="4526280"/>
          </a:xfrm>
          <a:prstGeom prst="roundRect">
            <a:avLst>
              <a:gd name="adj" fmla="val 2424"/>
            </a:avLst>
          </a:prstGeom>
          <a:solidFill>
            <a:srgbClr val="F3F1F6"/>
          </a:solidFill>
          <a:ln w="12700">
            <a:solidFill>
              <a:srgbClr val="F3F1F6"/>
            </a:solidFill>
            <a:prstDash val="solid"/>
          </a:ln>
        </p:spPr>
      </p:sp>
      <p:sp>
        <p:nvSpPr>
          <p:cNvPr id="10" name="Shape 8"/>
          <p:cNvSpPr/>
          <p:nvPr/>
        </p:nvSpPr>
        <p:spPr>
          <a:xfrm>
            <a:off x="6553048" y="1783080"/>
            <a:ext cx="822960" cy="822960"/>
          </a:xfrm>
          <a:prstGeom prst="ellipse">
            <a:avLst/>
          </a:prstGeom>
          <a:solidFill>
            <a:srgbClr val="B23A2E"/>
          </a:solidFill>
          <a:ln w="12700">
            <a:solidFill>
              <a:srgbClr val="B23A2E"/>
            </a:solidFill>
            <a:prstDash val="solid"/>
          </a:ln>
        </p:spPr>
      </p:sp>
      <p:sp>
        <p:nvSpPr>
          <p:cNvPr id="11" name="Text 9"/>
          <p:cNvSpPr txBox="1"/>
          <p:nvPr/>
        </p:nvSpPr>
        <p:spPr>
          <a:xfrm>
            <a:off x="6553048"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剋</a:t>
            </a:r>
            <a:endParaRPr lang="en-US" sz="3200" dirty="0"/>
          </a:p>
        </p:txBody>
      </p:sp>
      <p:sp>
        <p:nvSpPr>
          <p:cNvPr id="12" name="Text 10"/>
          <p:cNvSpPr txBox="1"/>
          <p:nvPr/>
        </p:nvSpPr>
        <p:spPr>
          <a:xfrm>
            <a:off x="7558888"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상극</a:t>
            </a:r>
            <a:endParaRPr lang="en-US" sz="2000" dirty="0"/>
          </a:p>
        </p:txBody>
      </p:sp>
      <p:sp>
        <p:nvSpPr>
          <p:cNvPr id="13" name="Text 11"/>
          <p:cNvSpPr txBox="1"/>
          <p:nvPr/>
        </p:nvSpPr>
        <p:spPr>
          <a:xfrm>
            <a:off x="6553048"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木剋土 · 土剋水 · 水剋火 · 火剋金 · 金剋木</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양은 양을, 음은 음을 극한다 (甲剋戊, 乙剋己)</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양과 음 사이에는 극이 없다</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대신 남녀처럼 합(合)해서 좋은 관계를 맺는다</a:t>
            </a:r>
            <a:endParaRPr lang="en-US" sz="1700" dirty="0"/>
          </a:p>
        </p:txBody>
      </p:sp>
      <p:sp>
        <p:nvSpPr>
          <p:cNvPr id="14"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천간의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천간합(天干合) — 강한 것과 부드러운 것이 만나 새 오행을 낳다</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1645920"/>
                <a:gridCol w="7616952"/>
              </a:tblGrid>
              <a:tr h="685800">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천간합</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결과</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책의 설명</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甲 己</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土</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木은 흙에서 나고, 흙으로 자라며, 죽어서 흙으로 돌아간다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乙 庚</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金</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목의 성분(乙)이 흙이 되고, 흙이 뭉쳐 단단한 금이 된다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丙 辛</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水</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불(丙)이 금(辛)을 만나 녹여서 물이 된다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丁 壬</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물(壬)에 따뜻한 양기(丁)가 더해져 나무를 자라게 한다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戊 癸</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火</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건조한 흙(戊)에 물(癸)이 스며들어 따뜻한 양기를 발산한다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규칙: 양간(극하는 쪽)과 음간(극을 받는 쪽)이 짝을 이룸 — 태초에 陰水가 陽火와 합해 木을 낳은 성질을 이어받았다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04</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12지지</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子 丑 寅 卯 辰 巳 午 未 申 酉 戌 亥</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12지지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12지지의 순환 — 양기와 음기의 일생</a:t>
            </a:r>
            <a:endParaRPr lang="en-US" sz="3000" dirty="0"/>
          </a:p>
        </p:txBody>
      </p:sp>
      <p:sp>
        <p:nvSpPr>
          <p:cNvPr id="4" name="Shape 2"/>
          <p:cNvSpPr/>
          <p:nvPr/>
        </p:nvSpPr>
        <p:spPr>
          <a:xfrm>
            <a:off x="2907792" y="1837944"/>
            <a:ext cx="676656" cy="676656"/>
          </a:xfrm>
          <a:prstGeom prst="ellipse">
            <a:avLst/>
          </a:prstGeom>
          <a:solidFill>
            <a:srgbClr val="22406E"/>
          </a:solidFill>
          <a:ln w="12700">
            <a:solidFill>
              <a:srgbClr val="22406E"/>
            </a:solidFill>
            <a:prstDash val="solid"/>
          </a:ln>
        </p:spPr>
      </p:sp>
      <p:sp>
        <p:nvSpPr>
          <p:cNvPr id="5" name="Text 3"/>
          <p:cNvSpPr txBox="1"/>
          <p:nvPr/>
        </p:nvSpPr>
        <p:spPr>
          <a:xfrm>
            <a:off x="2907792" y="183794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子</a:t>
            </a:r>
            <a:endParaRPr lang="en-US" sz="2400" dirty="0"/>
          </a:p>
        </p:txBody>
      </p:sp>
      <p:sp>
        <p:nvSpPr>
          <p:cNvPr id="6" name="Text 4"/>
          <p:cNvSpPr txBox="1"/>
          <p:nvPr/>
        </p:nvSpPr>
        <p:spPr>
          <a:xfrm>
            <a:off x="2697480" y="1499616"/>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쥐 · 11월</a:t>
            </a:r>
            <a:endParaRPr lang="en-US" sz="1000" dirty="0"/>
          </a:p>
        </p:txBody>
      </p:sp>
      <p:sp>
        <p:nvSpPr>
          <p:cNvPr id="7" name="Shape 5"/>
          <p:cNvSpPr/>
          <p:nvPr/>
        </p:nvSpPr>
        <p:spPr>
          <a:xfrm>
            <a:off x="3776472" y="2070706"/>
            <a:ext cx="676656" cy="676656"/>
          </a:xfrm>
          <a:prstGeom prst="ellipse">
            <a:avLst/>
          </a:prstGeom>
          <a:solidFill>
            <a:srgbClr val="B8892A"/>
          </a:solidFill>
          <a:ln w="12700">
            <a:solidFill>
              <a:srgbClr val="B8892A"/>
            </a:solidFill>
            <a:prstDash val="solid"/>
          </a:ln>
        </p:spPr>
      </p:sp>
      <p:sp>
        <p:nvSpPr>
          <p:cNvPr id="8" name="Text 6"/>
          <p:cNvSpPr txBox="1"/>
          <p:nvPr/>
        </p:nvSpPr>
        <p:spPr>
          <a:xfrm>
            <a:off x="3776472" y="2070706"/>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丑</a:t>
            </a:r>
            <a:endParaRPr lang="en-US" sz="2400" dirty="0"/>
          </a:p>
        </p:txBody>
      </p:sp>
      <p:sp>
        <p:nvSpPr>
          <p:cNvPr id="9" name="Text 7"/>
          <p:cNvSpPr txBox="1"/>
          <p:nvPr/>
        </p:nvSpPr>
        <p:spPr>
          <a:xfrm>
            <a:off x="3909060" y="1800982"/>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소 · 12월</a:t>
            </a:r>
            <a:endParaRPr lang="en-US" sz="1000" dirty="0"/>
          </a:p>
        </p:txBody>
      </p:sp>
      <p:sp>
        <p:nvSpPr>
          <p:cNvPr id="10" name="Shape 8"/>
          <p:cNvSpPr/>
          <p:nvPr/>
        </p:nvSpPr>
        <p:spPr>
          <a:xfrm>
            <a:off x="4412390" y="2706624"/>
            <a:ext cx="676656" cy="676656"/>
          </a:xfrm>
          <a:prstGeom prst="ellipse">
            <a:avLst/>
          </a:prstGeom>
          <a:solidFill>
            <a:srgbClr val="3F7D4E"/>
          </a:solidFill>
          <a:ln w="12700">
            <a:solidFill>
              <a:srgbClr val="3F7D4E"/>
            </a:solidFill>
            <a:prstDash val="solid"/>
          </a:ln>
        </p:spPr>
      </p:sp>
      <p:sp>
        <p:nvSpPr>
          <p:cNvPr id="11" name="Text 9"/>
          <p:cNvSpPr txBox="1"/>
          <p:nvPr/>
        </p:nvSpPr>
        <p:spPr>
          <a:xfrm>
            <a:off x="4412390" y="270662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寅</a:t>
            </a:r>
            <a:endParaRPr lang="en-US" sz="2400" dirty="0"/>
          </a:p>
        </p:txBody>
      </p:sp>
      <p:sp>
        <p:nvSpPr>
          <p:cNvPr id="12" name="Text 10"/>
          <p:cNvSpPr txBox="1"/>
          <p:nvPr/>
        </p:nvSpPr>
        <p:spPr>
          <a:xfrm>
            <a:off x="4795998" y="2624328"/>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범 · 1월</a:t>
            </a:r>
            <a:endParaRPr lang="en-US" sz="1000" dirty="0"/>
          </a:p>
        </p:txBody>
      </p:sp>
      <p:sp>
        <p:nvSpPr>
          <p:cNvPr id="13" name="Shape 11"/>
          <p:cNvSpPr/>
          <p:nvPr/>
        </p:nvSpPr>
        <p:spPr>
          <a:xfrm>
            <a:off x="4645152" y="3575304"/>
            <a:ext cx="676656" cy="676656"/>
          </a:xfrm>
          <a:prstGeom prst="ellipse">
            <a:avLst/>
          </a:prstGeom>
          <a:solidFill>
            <a:srgbClr val="3F7D4E"/>
          </a:solidFill>
          <a:ln w="12700">
            <a:solidFill>
              <a:srgbClr val="3F7D4E"/>
            </a:solidFill>
            <a:prstDash val="solid"/>
          </a:ln>
        </p:spPr>
      </p:sp>
      <p:sp>
        <p:nvSpPr>
          <p:cNvPr id="14" name="Text 12"/>
          <p:cNvSpPr txBox="1"/>
          <p:nvPr/>
        </p:nvSpPr>
        <p:spPr>
          <a:xfrm>
            <a:off x="4645152" y="357530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卯</a:t>
            </a:r>
            <a:endParaRPr lang="en-US" sz="2400" dirty="0"/>
          </a:p>
        </p:txBody>
      </p:sp>
      <p:sp>
        <p:nvSpPr>
          <p:cNvPr id="15" name="Text 13"/>
          <p:cNvSpPr txBox="1"/>
          <p:nvPr/>
        </p:nvSpPr>
        <p:spPr>
          <a:xfrm>
            <a:off x="5120640" y="3749040"/>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토끼 · 2월</a:t>
            </a:r>
            <a:endParaRPr lang="en-US" sz="1000" dirty="0"/>
          </a:p>
        </p:txBody>
      </p:sp>
      <p:sp>
        <p:nvSpPr>
          <p:cNvPr id="16" name="Shape 14"/>
          <p:cNvSpPr/>
          <p:nvPr/>
        </p:nvSpPr>
        <p:spPr>
          <a:xfrm>
            <a:off x="4412390" y="4443984"/>
            <a:ext cx="676656" cy="676656"/>
          </a:xfrm>
          <a:prstGeom prst="ellipse">
            <a:avLst/>
          </a:prstGeom>
          <a:solidFill>
            <a:srgbClr val="B8892A"/>
          </a:solidFill>
          <a:ln w="12700">
            <a:solidFill>
              <a:srgbClr val="B8892A"/>
            </a:solidFill>
            <a:prstDash val="solid"/>
          </a:ln>
        </p:spPr>
      </p:sp>
      <p:sp>
        <p:nvSpPr>
          <p:cNvPr id="17" name="Text 15"/>
          <p:cNvSpPr txBox="1"/>
          <p:nvPr/>
        </p:nvSpPr>
        <p:spPr>
          <a:xfrm>
            <a:off x="4412390" y="444398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辰</a:t>
            </a:r>
            <a:endParaRPr lang="en-US" sz="2400" dirty="0"/>
          </a:p>
        </p:txBody>
      </p:sp>
      <p:sp>
        <p:nvSpPr>
          <p:cNvPr id="18" name="Text 16"/>
          <p:cNvSpPr txBox="1"/>
          <p:nvPr/>
        </p:nvSpPr>
        <p:spPr>
          <a:xfrm>
            <a:off x="4795998" y="4873752"/>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용 · 3월</a:t>
            </a:r>
            <a:endParaRPr lang="en-US" sz="1000" dirty="0"/>
          </a:p>
        </p:txBody>
      </p:sp>
      <p:sp>
        <p:nvSpPr>
          <p:cNvPr id="19" name="Shape 17"/>
          <p:cNvSpPr/>
          <p:nvPr/>
        </p:nvSpPr>
        <p:spPr>
          <a:xfrm>
            <a:off x="3776472" y="5079902"/>
            <a:ext cx="676656" cy="676656"/>
          </a:xfrm>
          <a:prstGeom prst="ellipse">
            <a:avLst/>
          </a:prstGeom>
          <a:solidFill>
            <a:srgbClr val="C0392B"/>
          </a:solidFill>
          <a:ln w="12700">
            <a:solidFill>
              <a:srgbClr val="C0392B"/>
            </a:solidFill>
            <a:prstDash val="solid"/>
          </a:ln>
        </p:spPr>
      </p:sp>
      <p:sp>
        <p:nvSpPr>
          <p:cNvPr id="20" name="Text 18"/>
          <p:cNvSpPr txBox="1"/>
          <p:nvPr/>
        </p:nvSpPr>
        <p:spPr>
          <a:xfrm>
            <a:off x="3776472" y="5079902"/>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巳</a:t>
            </a:r>
            <a:endParaRPr lang="en-US" sz="2400" dirty="0"/>
          </a:p>
        </p:txBody>
      </p:sp>
      <p:sp>
        <p:nvSpPr>
          <p:cNvPr id="21" name="Text 19"/>
          <p:cNvSpPr txBox="1"/>
          <p:nvPr/>
        </p:nvSpPr>
        <p:spPr>
          <a:xfrm>
            <a:off x="3909060" y="5697098"/>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뱀 · 4월</a:t>
            </a:r>
            <a:endParaRPr lang="en-US" sz="1000" dirty="0"/>
          </a:p>
        </p:txBody>
      </p:sp>
      <p:sp>
        <p:nvSpPr>
          <p:cNvPr id="22" name="Shape 20"/>
          <p:cNvSpPr/>
          <p:nvPr/>
        </p:nvSpPr>
        <p:spPr>
          <a:xfrm>
            <a:off x="2907792" y="5312664"/>
            <a:ext cx="676656" cy="676656"/>
          </a:xfrm>
          <a:prstGeom prst="ellipse">
            <a:avLst/>
          </a:prstGeom>
          <a:solidFill>
            <a:srgbClr val="C0392B"/>
          </a:solidFill>
          <a:ln w="12700">
            <a:solidFill>
              <a:srgbClr val="C0392B"/>
            </a:solidFill>
            <a:prstDash val="solid"/>
          </a:ln>
        </p:spPr>
      </p:sp>
      <p:sp>
        <p:nvSpPr>
          <p:cNvPr id="23" name="Text 21"/>
          <p:cNvSpPr txBox="1"/>
          <p:nvPr/>
        </p:nvSpPr>
        <p:spPr>
          <a:xfrm>
            <a:off x="2907792" y="531266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午</a:t>
            </a:r>
            <a:endParaRPr lang="en-US" sz="2400" dirty="0"/>
          </a:p>
        </p:txBody>
      </p:sp>
      <p:sp>
        <p:nvSpPr>
          <p:cNvPr id="24" name="Text 22"/>
          <p:cNvSpPr txBox="1"/>
          <p:nvPr/>
        </p:nvSpPr>
        <p:spPr>
          <a:xfrm>
            <a:off x="2697480" y="5998464"/>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말 · 5월</a:t>
            </a:r>
            <a:endParaRPr lang="en-US" sz="1000" dirty="0"/>
          </a:p>
        </p:txBody>
      </p:sp>
      <p:sp>
        <p:nvSpPr>
          <p:cNvPr id="25" name="Shape 23"/>
          <p:cNvSpPr/>
          <p:nvPr/>
        </p:nvSpPr>
        <p:spPr>
          <a:xfrm>
            <a:off x="2039112" y="5079902"/>
            <a:ext cx="676656" cy="676656"/>
          </a:xfrm>
          <a:prstGeom prst="ellipse">
            <a:avLst/>
          </a:prstGeom>
          <a:solidFill>
            <a:srgbClr val="B8892A"/>
          </a:solidFill>
          <a:ln w="12700">
            <a:solidFill>
              <a:srgbClr val="B8892A"/>
            </a:solidFill>
            <a:prstDash val="solid"/>
          </a:ln>
        </p:spPr>
      </p:sp>
      <p:sp>
        <p:nvSpPr>
          <p:cNvPr id="26" name="Text 24"/>
          <p:cNvSpPr txBox="1"/>
          <p:nvPr/>
        </p:nvSpPr>
        <p:spPr>
          <a:xfrm>
            <a:off x="2039112" y="5079902"/>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未</a:t>
            </a:r>
            <a:endParaRPr lang="en-US" sz="2400" dirty="0"/>
          </a:p>
        </p:txBody>
      </p:sp>
      <p:sp>
        <p:nvSpPr>
          <p:cNvPr id="27" name="Text 25"/>
          <p:cNvSpPr txBox="1"/>
          <p:nvPr/>
        </p:nvSpPr>
        <p:spPr>
          <a:xfrm>
            <a:off x="1485900" y="5697098"/>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양 · 6월</a:t>
            </a:r>
            <a:endParaRPr lang="en-US" sz="1000" dirty="0"/>
          </a:p>
        </p:txBody>
      </p:sp>
      <p:sp>
        <p:nvSpPr>
          <p:cNvPr id="28" name="Shape 26"/>
          <p:cNvSpPr/>
          <p:nvPr/>
        </p:nvSpPr>
        <p:spPr>
          <a:xfrm>
            <a:off x="1403194" y="4443984"/>
            <a:ext cx="676656" cy="676656"/>
          </a:xfrm>
          <a:prstGeom prst="ellipse">
            <a:avLst/>
          </a:prstGeom>
          <a:solidFill>
            <a:srgbClr val="6E737B"/>
          </a:solidFill>
          <a:ln w="12700">
            <a:solidFill>
              <a:srgbClr val="6E737B"/>
            </a:solidFill>
            <a:prstDash val="solid"/>
          </a:ln>
        </p:spPr>
      </p:sp>
      <p:sp>
        <p:nvSpPr>
          <p:cNvPr id="29" name="Text 27"/>
          <p:cNvSpPr txBox="1"/>
          <p:nvPr/>
        </p:nvSpPr>
        <p:spPr>
          <a:xfrm>
            <a:off x="1403194" y="444398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申</a:t>
            </a:r>
            <a:endParaRPr lang="en-US" sz="2400" dirty="0"/>
          </a:p>
        </p:txBody>
      </p:sp>
      <p:sp>
        <p:nvSpPr>
          <p:cNvPr id="30" name="Text 28"/>
          <p:cNvSpPr txBox="1"/>
          <p:nvPr/>
        </p:nvSpPr>
        <p:spPr>
          <a:xfrm>
            <a:off x="598962" y="4873752"/>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원숭이 · 7월</a:t>
            </a:r>
            <a:endParaRPr lang="en-US" sz="1000" dirty="0"/>
          </a:p>
        </p:txBody>
      </p:sp>
      <p:sp>
        <p:nvSpPr>
          <p:cNvPr id="31" name="Shape 29"/>
          <p:cNvSpPr/>
          <p:nvPr/>
        </p:nvSpPr>
        <p:spPr>
          <a:xfrm>
            <a:off x="1170432" y="3575304"/>
            <a:ext cx="676656" cy="676656"/>
          </a:xfrm>
          <a:prstGeom prst="ellipse">
            <a:avLst/>
          </a:prstGeom>
          <a:solidFill>
            <a:srgbClr val="6E737B"/>
          </a:solidFill>
          <a:ln w="12700">
            <a:solidFill>
              <a:srgbClr val="6E737B"/>
            </a:solidFill>
            <a:prstDash val="solid"/>
          </a:ln>
        </p:spPr>
      </p:sp>
      <p:sp>
        <p:nvSpPr>
          <p:cNvPr id="32" name="Text 30"/>
          <p:cNvSpPr txBox="1"/>
          <p:nvPr/>
        </p:nvSpPr>
        <p:spPr>
          <a:xfrm>
            <a:off x="1170432" y="357530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酉</a:t>
            </a:r>
            <a:endParaRPr lang="en-US" sz="2400" dirty="0"/>
          </a:p>
        </p:txBody>
      </p:sp>
      <p:sp>
        <p:nvSpPr>
          <p:cNvPr id="33" name="Text 31"/>
          <p:cNvSpPr txBox="1"/>
          <p:nvPr/>
        </p:nvSpPr>
        <p:spPr>
          <a:xfrm>
            <a:off x="274320" y="3749040"/>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닭 · 8월</a:t>
            </a:r>
            <a:endParaRPr lang="en-US" sz="1000" dirty="0"/>
          </a:p>
        </p:txBody>
      </p:sp>
      <p:sp>
        <p:nvSpPr>
          <p:cNvPr id="34" name="Shape 32"/>
          <p:cNvSpPr/>
          <p:nvPr/>
        </p:nvSpPr>
        <p:spPr>
          <a:xfrm>
            <a:off x="1403194" y="2706624"/>
            <a:ext cx="676656" cy="676656"/>
          </a:xfrm>
          <a:prstGeom prst="ellipse">
            <a:avLst/>
          </a:prstGeom>
          <a:solidFill>
            <a:srgbClr val="B8892A"/>
          </a:solidFill>
          <a:ln w="12700">
            <a:solidFill>
              <a:srgbClr val="B8892A"/>
            </a:solidFill>
            <a:prstDash val="solid"/>
          </a:ln>
        </p:spPr>
      </p:sp>
      <p:sp>
        <p:nvSpPr>
          <p:cNvPr id="35" name="Text 33"/>
          <p:cNvSpPr txBox="1"/>
          <p:nvPr/>
        </p:nvSpPr>
        <p:spPr>
          <a:xfrm>
            <a:off x="1403194" y="2706624"/>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戌</a:t>
            </a:r>
            <a:endParaRPr lang="en-US" sz="2400" dirty="0"/>
          </a:p>
        </p:txBody>
      </p:sp>
      <p:sp>
        <p:nvSpPr>
          <p:cNvPr id="36" name="Text 34"/>
          <p:cNvSpPr txBox="1"/>
          <p:nvPr/>
        </p:nvSpPr>
        <p:spPr>
          <a:xfrm>
            <a:off x="598962" y="2624328"/>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개 · 9월</a:t>
            </a:r>
            <a:endParaRPr lang="en-US" sz="1000" dirty="0"/>
          </a:p>
        </p:txBody>
      </p:sp>
      <p:sp>
        <p:nvSpPr>
          <p:cNvPr id="37" name="Shape 35"/>
          <p:cNvSpPr/>
          <p:nvPr/>
        </p:nvSpPr>
        <p:spPr>
          <a:xfrm>
            <a:off x="2039112" y="2070706"/>
            <a:ext cx="676656" cy="676656"/>
          </a:xfrm>
          <a:prstGeom prst="ellipse">
            <a:avLst/>
          </a:prstGeom>
          <a:solidFill>
            <a:srgbClr val="22406E"/>
          </a:solidFill>
          <a:ln w="12700">
            <a:solidFill>
              <a:srgbClr val="22406E"/>
            </a:solidFill>
            <a:prstDash val="solid"/>
          </a:ln>
        </p:spPr>
      </p:sp>
      <p:sp>
        <p:nvSpPr>
          <p:cNvPr id="38" name="Text 36"/>
          <p:cNvSpPr txBox="1"/>
          <p:nvPr/>
        </p:nvSpPr>
        <p:spPr>
          <a:xfrm>
            <a:off x="2039112" y="2070706"/>
            <a:ext cx="676656" cy="676656"/>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亥</a:t>
            </a:r>
            <a:endParaRPr lang="en-US" sz="2400" dirty="0"/>
          </a:p>
        </p:txBody>
      </p:sp>
      <p:sp>
        <p:nvSpPr>
          <p:cNvPr id="39" name="Text 37"/>
          <p:cNvSpPr txBox="1"/>
          <p:nvPr/>
        </p:nvSpPr>
        <p:spPr>
          <a:xfrm>
            <a:off x="1485900" y="1800982"/>
            <a:ext cx="1097280" cy="329184"/>
          </a:xfrm>
          <a:prstGeom prst="rect">
            <a:avLst/>
          </a:prstGeom>
          <a:noFill/>
          <a:ln/>
        </p:spPr>
        <p:txBody>
          <a:bodyPr wrap="square" lIns="0" tIns="0" rIns="0" bIns="0" rtlCol="0" anchor="ctr"/>
          <a:lstStyle/>
          <a:p>
            <a:pPr algn="ctr" indent="0" marL="0">
              <a:buNone/>
            </a:pPr>
            <a:r>
              <a:rPr lang="en-US" sz="1000" dirty="0">
                <a:solidFill>
                  <a:srgbClr val="6B6778"/>
                </a:solidFill>
                <a:latin typeface="Malgun Gothic" pitchFamily="34" charset="0"/>
                <a:ea typeface="Malgun Gothic" pitchFamily="34" charset="-122"/>
                <a:cs typeface="Malgun Gothic" pitchFamily="34" charset="-120"/>
              </a:rPr>
              <a:t>돼지 · 10월</a:t>
            </a:r>
            <a:endParaRPr lang="en-US" sz="1000" dirty="0"/>
          </a:p>
        </p:txBody>
      </p:sp>
      <p:sp>
        <p:nvSpPr>
          <p:cNvPr id="40" name="Text 38"/>
          <p:cNvSpPr txBox="1"/>
          <p:nvPr/>
        </p:nvSpPr>
        <p:spPr>
          <a:xfrm>
            <a:off x="2240280" y="3364992"/>
            <a:ext cx="2011680" cy="109728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음력 월</a:t>
            </a:r>
            <a:endParaRPr lang="en-US" sz="1600" dirty="0"/>
          </a:p>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(절기 기준)</a:t>
            </a:r>
            <a:endParaRPr lang="en-US" sz="1600" dirty="0"/>
          </a:p>
        </p:txBody>
      </p:sp>
      <p:sp>
        <p:nvSpPr>
          <p:cNvPr id="41" name="Text 39"/>
          <p:cNvSpPr txBox="1"/>
          <p:nvPr/>
        </p:nvSpPr>
        <p:spPr>
          <a:xfrm>
            <a:off x="6675120" y="1600200"/>
            <a:ext cx="4967935" cy="365760"/>
          </a:xfrm>
          <a:prstGeom prst="rect">
            <a:avLst/>
          </a:prstGeom>
          <a:noFill/>
          <a:ln/>
        </p:spPr>
        <p:txBody>
          <a:bodyPr wrap="square" lIns="0" tIns="0" rIns="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띠의 매듭처럼 시작과 끝이 이어진다</a:t>
            </a:r>
            <a:endParaRPr lang="en-US" sz="1500" dirty="0"/>
          </a:p>
        </p:txBody>
      </p:sp>
      <p:sp>
        <p:nvSpPr>
          <p:cNvPr id="42" name="Text 40"/>
          <p:cNvSpPr txBox="1"/>
          <p:nvPr/>
        </p:nvSpPr>
        <p:spPr>
          <a:xfrm>
            <a:off x="6675120" y="2103120"/>
            <a:ext cx="1554480" cy="713232"/>
          </a:xfrm>
          <a:prstGeom prst="rect">
            <a:avLst/>
          </a:prstGeom>
          <a:noFill/>
          <a:ln/>
        </p:spPr>
        <p:txBody>
          <a:bodyPr wrap="square" lIns="0" tIns="0" rIns="0" bIns="0" rtlCol="0" anchor="ctr"/>
          <a:lstStyle/>
          <a:p>
            <a:pPr indent="0" marL="0">
              <a:buNone/>
            </a:pPr>
            <a:r>
              <a:rPr lang="en-US" sz="1500" b="1" dirty="0">
                <a:solidFill>
                  <a:srgbClr val="22212A"/>
                </a:solidFill>
                <a:latin typeface="Malgun Gothic" pitchFamily="34" charset="0"/>
                <a:ea typeface="Malgun Gothic" pitchFamily="34" charset="-122"/>
                <a:cs typeface="Malgun Gothic" pitchFamily="34" charset="-120"/>
              </a:rPr>
              <a:t>亥 · 子 · 丑</a:t>
            </a:r>
            <a:endParaRPr lang="en-US" sz="1500" dirty="0"/>
          </a:p>
        </p:txBody>
      </p:sp>
      <p:sp>
        <p:nvSpPr>
          <p:cNvPr id="43" name="Text 41"/>
          <p:cNvSpPr txBox="1"/>
          <p:nvPr/>
        </p:nvSpPr>
        <p:spPr>
          <a:xfrm>
            <a:off x="8275320" y="2103120"/>
            <a:ext cx="33677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양기가 생겨나 잉태되고 가득 참 (겨울)</a:t>
            </a:r>
            <a:endParaRPr lang="en-US" sz="1300" dirty="0"/>
          </a:p>
        </p:txBody>
      </p:sp>
      <p:sp>
        <p:nvSpPr>
          <p:cNvPr id="44" name="Text 42"/>
          <p:cNvSpPr txBox="1"/>
          <p:nvPr/>
        </p:nvSpPr>
        <p:spPr>
          <a:xfrm>
            <a:off x="6675120" y="2907792"/>
            <a:ext cx="1554480" cy="713232"/>
          </a:xfrm>
          <a:prstGeom prst="rect">
            <a:avLst/>
          </a:prstGeom>
          <a:noFill/>
          <a:ln/>
        </p:spPr>
        <p:txBody>
          <a:bodyPr wrap="square" lIns="0" tIns="0" rIns="0" bIns="0" rtlCol="0" anchor="ctr"/>
          <a:lstStyle/>
          <a:p>
            <a:pPr indent="0" marL="0">
              <a:buNone/>
            </a:pPr>
            <a:r>
              <a:rPr lang="en-US" sz="1500" b="1" dirty="0">
                <a:solidFill>
                  <a:srgbClr val="22212A"/>
                </a:solidFill>
                <a:latin typeface="Malgun Gothic" pitchFamily="34" charset="0"/>
                <a:ea typeface="Malgun Gothic" pitchFamily="34" charset="-122"/>
                <a:cs typeface="Malgun Gothic" pitchFamily="34" charset="-120"/>
              </a:rPr>
              <a:t>寅 · 卯 · 辰</a:t>
            </a:r>
            <a:endParaRPr lang="en-US" sz="1500" dirty="0"/>
          </a:p>
        </p:txBody>
      </p:sp>
      <p:sp>
        <p:nvSpPr>
          <p:cNvPr id="45" name="Text 43"/>
          <p:cNvSpPr txBox="1"/>
          <p:nvPr/>
        </p:nvSpPr>
        <p:spPr>
          <a:xfrm>
            <a:off x="8275320" y="2907792"/>
            <a:ext cx="33677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음기의 막을 뚫고 나와 자라고 크게 성장 (봄)</a:t>
            </a:r>
            <a:endParaRPr lang="en-US" sz="1300" dirty="0"/>
          </a:p>
        </p:txBody>
      </p:sp>
      <p:sp>
        <p:nvSpPr>
          <p:cNvPr id="46" name="Text 44"/>
          <p:cNvSpPr txBox="1"/>
          <p:nvPr/>
        </p:nvSpPr>
        <p:spPr>
          <a:xfrm>
            <a:off x="6675120" y="3712464"/>
            <a:ext cx="1554480" cy="713232"/>
          </a:xfrm>
          <a:prstGeom prst="rect">
            <a:avLst/>
          </a:prstGeom>
          <a:noFill/>
          <a:ln/>
        </p:spPr>
        <p:txBody>
          <a:bodyPr wrap="square" lIns="0" tIns="0" rIns="0" bIns="0" rtlCol="0" anchor="ctr"/>
          <a:lstStyle/>
          <a:p>
            <a:pPr indent="0" marL="0">
              <a:buNone/>
            </a:pPr>
            <a:r>
              <a:rPr lang="en-US" sz="1500" b="1" dirty="0">
                <a:solidFill>
                  <a:srgbClr val="22212A"/>
                </a:solidFill>
                <a:latin typeface="Malgun Gothic" pitchFamily="34" charset="0"/>
                <a:ea typeface="Malgun Gothic" pitchFamily="34" charset="-122"/>
                <a:cs typeface="Malgun Gothic" pitchFamily="34" charset="-120"/>
              </a:rPr>
              <a:t>巳 · 午 · 未</a:t>
            </a:r>
            <a:endParaRPr lang="en-US" sz="1500" dirty="0"/>
          </a:p>
        </p:txBody>
      </p:sp>
      <p:sp>
        <p:nvSpPr>
          <p:cNvPr id="47" name="Text 45"/>
          <p:cNvSpPr txBox="1"/>
          <p:nvPr/>
        </p:nvSpPr>
        <p:spPr>
          <a:xfrm>
            <a:off x="8275320" y="3712464"/>
            <a:ext cx="33677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피어나 만개하고, 午에서 음기가 싹틈 (여름)</a:t>
            </a:r>
            <a:endParaRPr lang="en-US" sz="1300" dirty="0"/>
          </a:p>
        </p:txBody>
      </p:sp>
      <p:sp>
        <p:nvSpPr>
          <p:cNvPr id="48" name="Text 46"/>
          <p:cNvSpPr txBox="1"/>
          <p:nvPr/>
        </p:nvSpPr>
        <p:spPr>
          <a:xfrm>
            <a:off x="6675120" y="4517136"/>
            <a:ext cx="1554480" cy="713232"/>
          </a:xfrm>
          <a:prstGeom prst="rect">
            <a:avLst/>
          </a:prstGeom>
          <a:noFill/>
          <a:ln/>
        </p:spPr>
        <p:txBody>
          <a:bodyPr wrap="square" lIns="0" tIns="0" rIns="0" bIns="0" rtlCol="0" anchor="ctr"/>
          <a:lstStyle/>
          <a:p>
            <a:pPr indent="0" marL="0">
              <a:buNone/>
            </a:pPr>
            <a:r>
              <a:rPr lang="en-US" sz="1500" b="1" dirty="0">
                <a:solidFill>
                  <a:srgbClr val="22212A"/>
                </a:solidFill>
                <a:latin typeface="Malgun Gothic" pitchFamily="34" charset="0"/>
                <a:ea typeface="Malgun Gothic" pitchFamily="34" charset="-122"/>
                <a:cs typeface="Malgun Gothic" pitchFamily="34" charset="-120"/>
              </a:rPr>
              <a:t>申 · 酉 · 戌</a:t>
            </a:r>
            <a:endParaRPr lang="en-US" sz="1500" dirty="0"/>
          </a:p>
        </p:txBody>
      </p:sp>
      <p:sp>
        <p:nvSpPr>
          <p:cNvPr id="49" name="Text 47"/>
          <p:cNvSpPr txBox="1"/>
          <p:nvPr/>
        </p:nvSpPr>
        <p:spPr>
          <a:xfrm>
            <a:off x="8275320" y="4517136"/>
            <a:ext cx="33677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음기가 여물고 굳어 가득 참 (가을)</a:t>
            </a:r>
            <a:endParaRPr lang="en-US" sz="1300" dirty="0"/>
          </a:p>
        </p:txBody>
      </p:sp>
      <p:sp>
        <p:nvSpPr>
          <p:cNvPr id="50" name="Text 48"/>
          <p:cNvSpPr txBox="1"/>
          <p:nvPr/>
        </p:nvSpPr>
        <p:spPr>
          <a:xfrm>
            <a:off x="6675120" y="5321808"/>
            <a:ext cx="1554480" cy="713232"/>
          </a:xfrm>
          <a:prstGeom prst="rect">
            <a:avLst/>
          </a:prstGeom>
          <a:noFill/>
          <a:ln/>
        </p:spPr>
        <p:txBody>
          <a:bodyPr wrap="square" lIns="0" tIns="0" rIns="0" bIns="0" rtlCol="0" anchor="ctr"/>
          <a:lstStyle/>
          <a:p>
            <a:pPr indent="0" marL="0">
              <a:buNone/>
            </a:pPr>
            <a:r>
              <a:rPr lang="en-US" sz="1500" b="1" dirty="0">
                <a:solidFill>
                  <a:srgbClr val="22212A"/>
                </a:solidFill>
                <a:latin typeface="Malgun Gothic" pitchFamily="34" charset="0"/>
                <a:ea typeface="Malgun Gothic" pitchFamily="34" charset="-122"/>
                <a:cs typeface="Malgun Gothic" pitchFamily="34" charset="-120"/>
              </a:rPr>
              <a:t>亥</a:t>
            </a:r>
            <a:endParaRPr lang="en-US" sz="1500" dirty="0"/>
          </a:p>
        </p:txBody>
      </p:sp>
      <p:sp>
        <p:nvSpPr>
          <p:cNvPr id="51" name="Text 49"/>
          <p:cNvSpPr txBox="1"/>
          <p:nvPr/>
        </p:nvSpPr>
        <p:spPr>
          <a:xfrm>
            <a:off x="8275320" y="5321808"/>
            <a:ext cx="33677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음기 속에 다시 양기를 잉태 — 끝이 곧 시작</a:t>
            </a:r>
            <a:endParaRPr lang="en-US" sz="1300" dirty="0"/>
          </a:p>
        </p:txBody>
      </p:sp>
      <p:sp>
        <p:nvSpPr>
          <p:cNvPr id="52" name="Text 50"/>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53" name="Text 5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12지지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12지지 상세표</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005840"/>
                <a:gridCol w="1005840"/>
                <a:gridCol w="1280160"/>
                <a:gridCol w="1645920"/>
                <a:gridCol w="1280160"/>
                <a:gridCol w="3776472"/>
                <a:gridCol w="1097280"/>
              </a:tblGrid>
              <a:tr h="320040">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지지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음양·오행</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절기 (음력 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시간</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책의 이미지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인체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子 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음수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대설 (11월)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23~01시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양기를 품은 모태, 자궁·양수</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신장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丑 축</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소한 (12월)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01~03시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만삭의 자궁, 가장 냉한 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비장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寅 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양목</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입춘 (1월)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03~05시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병아리가 껍질을 터뜨림</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卯 묘</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토끼</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음목</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경칩 (2월)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05~07시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양쪽 문을 열어젖힘, 여린 새싹</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간</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辰 진</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용</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청명 (3월)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07~09시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승천하는 용, 물을 머금은 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위장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巳 사</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양화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입하 (4월)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09~11시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머리를 세운 뱀, 丙火를 빼닮음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소장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午 오</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음화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망종 (5월)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11~13시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음양이 교차하는 분기점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심장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未 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소서 (6월)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13~15시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무성한 잎, "아니다·미래"</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비장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申 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원숭이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양금</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입추 (7월)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15~17시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오므렸다 폄, 노양(老陽)</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대장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酉 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닭</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음금</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백로 (8월)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17~19시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열매가 떨어짐, 죽음과 환생</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戌 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양토</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한로 (9월)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19~21시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궁문을 지키는 하인, 무덤</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위장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亥 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돼지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양수 *</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입동 (10월)</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21~23시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광대한 바다, 혼을 심판하는 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신장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 子·巳·午·亥는 본래의 음양이 땅에서 바뀐다 (子·午는 본래 양 → 음, 巳·亥는 본래 음 → 양)</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05</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지장간(地藏干)</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지지 속에 감춰진 하늘의 기운</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05 지장간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지장간 — 여기 · 중기 · 본기</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914400"/>
                <a:gridCol w="2651760"/>
                <a:gridCol w="2011680"/>
                <a:gridCol w="2011680"/>
                <a:gridCol w="3502152"/>
              </a:tblGrid>
              <a:tr h="320040">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지지</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여기 (앞 지지에서 넘어온 기운)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중기 (더해지는 기운)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본기 (가장 비중이 큼)</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책의 풀이</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壬</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양기를 싸고 기르는 영양소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丑</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辛</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己</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골격과 형상을 갖춘 만삭</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寅</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甲</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丑의 己가 세상에 나오며 戊로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卯</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甲</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드러난 생명이 여린 싹으로</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辰</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癸</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비가 잦은 3월, 초목이 무성</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巳</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庚</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형상에 골격과 양기가 더해짐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午</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己</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丁</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성장과 쇠퇴의 분기점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未</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丁</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乙</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己</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씨눈 乙이 음기 속에 자리함</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申</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壬</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庚</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늙었어도 생명력이 다하지 않음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酉</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庚</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辛</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영혼이 육체를 벗어남</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戌</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辛</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丁</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정기를 품은 곳간, 봄의 재탄생</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100" b="1" dirty="0">
                          <a:solidFill>
                            <a:srgbClr val="22212A"/>
                          </a:solidFill>
                          <a:latin typeface="Malgun Gothic" pitchFamily="34" charset="0"/>
                          <a:ea typeface="Malgun Gothic" pitchFamily="34" charset="-122"/>
                          <a:cs typeface="Malgun Gothic" pitchFamily="34" charset="-120"/>
                        </a:rPr>
                        <a:t>亥</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戊</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甲</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壬</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12A"/>
                          </a:solidFill>
                          <a:latin typeface="Malgun Gothic" pitchFamily="34" charset="0"/>
                          <a:ea typeface="Malgun Gothic" pitchFamily="34" charset="-122"/>
                          <a:cs typeface="Malgun Gothic" pitchFamily="34" charset="-120"/>
                        </a:rPr>
                        <a:t>한 해의 운명과 건강의 종자</a:t>
                      </a:r>
                      <a:endParaRPr lang="en-US" sz="11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책에는 날수 배분(예: 여기 7일)은 나오지 않는다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06</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지지의 관계</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상생 · 상극 · 육합 · 삼합 · 방합 · 육충</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06 지지의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지지의 상생·상극과 네 개의 土</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상생</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천간과 같은 원리. 土에는 辰·戌·丑·未가 모두 포함된다. 같은 음양끼리 생할 때 강력하다.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상극</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같은 음양끼리 극할 때 강력하다. 극을 받는 쪽이 더 강하면 반극(反剋)이 일어난다.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네 土는 水를 똑같이 극하지 않는다</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辰(습토): 극하지 못하고 子를 만나면 水로 변함 · 戌: 亥를 극하고 子의 수기는 흡수 · 丑(냉토): 극하지 못하고 더 차가워짐 · 未: 子를 극하지만 자신도 식어 약해짐</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8892A"/>
          </a:solidFill>
          <a:ln w="12700">
            <a:solidFill>
              <a:srgbClr val="B8892A"/>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土</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辰 습토 · 未 조토</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戌 건토 · 丑 냉토</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06 지지의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육합(六合) — 두 지지가 합해 새 오행을 낳다</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2194560"/>
                <a:gridCol w="6885432"/>
              </a:tblGrid>
              <a:tr h="585216">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육합</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결과</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책의 설명</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子 丑</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土</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꽁꽁 얼어붙은 흙</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亥 寅</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물에 흠뻑 젖은 나무</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卯 戌</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火</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메마르고 은근한 불</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辰 酉</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金</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습한 쇠</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巳 申</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合 水</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뜨거운 물 — 다른 합보다 합력이 약함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午 未</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새 오행 없음</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둘 다 용광로 같은 화기를 품음</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06 지지의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삼합(三合)과 방합(方合)</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371600"/>
                <a:gridCol w="2926080"/>
                <a:gridCol w="1645920"/>
                <a:gridCol w="2926080"/>
                <a:gridCol w="2221992"/>
              </a:tblGrid>
              <a:tr h="685800">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결과</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삼합 — 시작·절정·끝</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중심 지지</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방합 — 방위·계절</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방위 · 계절</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亥 卯 未</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卯</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寅 卯 辰</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동쪽 · 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寅 午 戌</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午</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巳 午 未</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남쪽 · 여름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巳 酉 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酉</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申 酉 戌</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서쪽 · 가을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水</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申 子 辰</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亥 子 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북쪽 · 겨울</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삼합: 중심 지지를 포함한 두 지지만 모여도 반합 · 지장간으로 검증 (亥·卯·未 모두 木을 품음) / 방합: 반합은 없으나 두 개만 모여도 세력이 강함</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06 지지의 관계</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육충(六沖) — "부드럽게 한다"</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463040"/>
                <a:gridCol w="2377440"/>
                <a:gridCol w="7251192"/>
              </a:tblGrid>
              <a:tr h="585216">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육충</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물상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책의 설명</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子 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물이 불을 끔</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子가 강하면 午가 꺼지고, 午가 둘 이상이면 반극해서 子가 마름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巳 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물이 불을 끔</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亥의 물결이 巳의 불꽃을 제어함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卯 酉</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쇠가 나무를 자름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酉가 卯의 여린 싹을 제어함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寅 申</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쇠가 나무를 자름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申이 寅의 몸체를 제어함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辰 戌</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젖은 흙과 마른 흙</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辰 속 癸·乙과 戌 속 辛·丁이 충돌해 서로 상처를 입음</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丑 未</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찬 흙과 뜨거운 흙</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丑 속 辛·癸와 未 속 乙·丁이 충돌함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충하는 쪽이 강하거나 1:1이 되면 충이 아니라 극이 된다 · 형·파·해·원진은 "크게 우려할 것은 못 된다"고 봄</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828800" cy="1828800"/>
          </a:xfrm>
          <a:prstGeom prst="rect">
            <a:avLst/>
          </a:prstGeom>
          <a:noFill/>
          <a:ln/>
        </p:spPr>
        <p:txBody>
          <a:bodyPr wrap="square" lIns="0" tIns="0" rIns="0" bIns="0" rtlCol="0" anchor="ctr"/>
          <a:lstStyle/>
          <a:p>
            <a:pPr indent="0" marL="0">
              <a:buNone/>
            </a:pPr>
            <a:r>
              <a:rPr lang="en-US" sz="15000" b="1" dirty="0">
                <a:solidFill>
                  <a:srgbClr val="B23A2E"/>
                </a:solidFill>
                <a:latin typeface="Malgun Gothic" pitchFamily="34" charset="0"/>
                <a:ea typeface="Malgun Gothic" pitchFamily="34" charset="-122"/>
                <a:cs typeface="Malgun Gothic" pitchFamily="34" charset="-120"/>
              </a:rPr>
              <a:t>“</a:t>
            </a:r>
            <a:endParaRPr lang="en-US" sz="15000" dirty="0"/>
          </a:p>
        </p:txBody>
      </p:sp>
      <p:sp>
        <p:nvSpPr>
          <p:cNvPr id="3" name="Text 1"/>
          <p:cNvSpPr txBox="1"/>
          <p:nvPr/>
        </p:nvSpPr>
        <p:spPr>
          <a:xfrm>
            <a:off x="1371600" y="1828800"/>
            <a:ext cx="9448495" cy="2926080"/>
          </a:xfrm>
          <a:prstGeom prst="rect">
            <a:avLst/>
          </a:prstGeom>
          <a:noFill/>
          <a:ln/>
        </p:spPr>
        <p:txBody>
          <a:bodyPr wrap="square" lIns="0" tIns="0" rIns="0" bIns="0" rtlCol="0" anchor="ctr"/>
          <a:lstStyle/>
          <a:p>
            <a:pPr indent="0" marL="0">
              <a:lnSpc>
                <a:spcPct val="130000"/>
              </a:lnSpc>
              <a:buNone/>
            </a:pPr>
            <a:r>
              <a:rPr lang="en-US" sz="3000" b="1" dirty="0">
                <a:solidFill>
                  <a:srgbClr val="F4F1EA"/>
                </a:solidFill>
                <a:latin typeface="Malgun Gothic" pitchFamily="34" charset="0"/>
                <a:ea typeface="Malgun Gothic" pitchFamily="34" charset="-122"/>
                <a:cs typeface="Malgun Gothic" pitchFamily="34" charset="-120"/>
              </a:rPr>
              <a:t>하늘의 음양오행은 순수한 기운인데 반해, 땅의 기운은 하늘의 기운이 복합적으로 배어 있어 순수하지 않은 기운이다.</a:t>
            </a:r>
            <a:endParaRPr lang="en-US" sz="3000" dirty="0"/>
          </a:p>
        </p:txBody>
      </p:sp>
      <p:sp>
        <p:nvSpPr>
          <p:cNvPr id="4" name="Text 2"/>
          <p:cNvSpPr txBox="1"/>
          <p:nvPr/>
        </p:nvSpPr>
        <p:spPr>
          <a:xfrm>
            <a:off x="1371600" y="4937760"/>
            <a:ext cx="9448495" cy="457200"/>
          </a:xfrm>
          <a:prstGeom prst="rect">
            <a:avLst/>
          </a:prstGeom>
          <a:noFill/>
          <a:ln/>
        </p:spPr>
        <p:txBody>
          <a:bodyPr wrap="square" lIns="0" tIns="0" rIns="0" bIns="0" rtlCol="0" anchor="ctr"/>
          <a:lstStyle/>
          <a:p>
            <a:pPr indent="0" marL="0">
              <a:buNone/>
            </a:pPr>
            <a:r>
              <a:rPr lang="en-US" sz="1500" dirty="0">
                <a:solidFill>
                  <a:srgbClr val="A9A4B5"/>
                </a:solidFill>
                <a:latin typeface="Malgun Gothic" pitchFamily="34" charset="0"/>
                <a:ea typeface="Malgun Gothic" pitchFamily="34" charset="-122"/>
                <a:cs typeface="Malgun Gothic" pitchFamily="34" charset="-120"/>
              </a:rPr>
              <a:t>— 제3장 천간과 지지 · 지장간</a:t>
            </a:r>
            <a:endParaRPr lang="en-US" sz="15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정리</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핵심 정리</a:t>
            </a:r>
            <a:endParaRPr lang="en-US" sz="3000" dirty="0"/>
          </a:p>
        </p:txBody>
      </p:sp>
      <p:sp>
        <p:nvSpPr>
          <p:cNvPr id="4" name="Shape 2"/>
          <p:cNvSpPr/>
          <p:nvPr/>
        </p:nvSpPr>
        <p:spPr>
          <a:xfrm>
            <a:off x="548640" y="1746504"/>
            <a:ext cx="457200" cy="457200"/>
          </a:xfrm>
          <a:prstGeom prst="ellipse">
            <a:avLst/>
          </a:prstGeom>
          <a:solidFill>
            <a:srgbClr val="B23A2E"/>
          </a:solidFill>
          <a:ln w="12700">
            <a:solidFill>
              <a:srgbClr val="B23A2E"/>
            </a:solidFill>
            <a:prstDash val="solid"/>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6" name="Text 4"/>
          <p:cNvSpPr txBox="1"/>
          <p:nvPr/>
        </p:nvSpPr>
        <p:spPr>
          <a:xfrm>
            <a:off x="1234440" y="1600200"/>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천간 = 하늘의 오행 × 음양 (10개, 순수) / 지지 = 땅의 오행 × 음양 (12개, 土가 넷, 복합적)</a:t>
            </a:r>
            <a:endParaRPr lang="en-US" sz="1600" dirty="0"/>
          </a:p>
        </p:txBody>
      </p:sp>
      <p:sp>
        <p:nvSpPr>
          <p:cNvPr id="7" name="Shape 5"/>
          <p:cNvSpPr/>
          <p:nvPr/>
        </p:nvSpPr>
        <p:spPr>
          <a:xfrm>
            <a:off x="548640" y="2496312"/>
            <a:ext cx="457200" cy="457200"/>
          </a:xfrm>
          <a:prstGeom prst="ellipse">
            <a:avLst/>
          </a:prstGeom>
          <a:solidFill>
            <a:srgbClr val="B23A2E"/>
          </a:solidFill>
          <a:ln w="12700">
            <a:solidFill>
              <a:srgbClr val="B23A2E"/>
            </a:solidFill>
            <a:prstDash val="solid"/>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9" name="Text 7"/>
          <p:cNvSpPr txBox="1"/>
          <p:nvPr/>
        </p:nvSpPr>
        <p:spPr>
          <a:xfrm>
            <a:off x="1234440" y="2350008"/>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지지는 12달(절기 기준) · 12시진 · 양기와 음기의 순환 · 12띠를 함께 나타낸다</a:t>
            </a:r>
            <a:endParaRPr lang="en-US" sz="1600" dirty="0"/>
          </a:p>
        </p:txBody>
      </p:sp>
      <p:sp>
        <p:nvSpPr>
          <p:cNvPr id="10" name="Shape 8"/>
          <p:cNvSpPr/>
          <p:nvPr/>
        </p:nvSpPr>
        <p:spPr>
          <a:xfrm>
            <a:off x="548640" y="3246120"/>
            <a:ext cx="457200" cy="457200"/>
          </a:xfrm>
          <a:prstGeom prst="ellipse">
            <a:avLst/>
          </a:prstGeom>
          <a:solidFill>
            <a:srgbClr val="B23A2E"/>
          </a:solidFill>
          <a:ln w="12700">
            <a:solidFill>
              <a:srgbClr val="B23A2E"/>
            </a:solidFill>
            <a:prstDash val="solid"/>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2" name="Text 10"/>
          <p:cNvSpPr txBox="1"/>
          <p:nvPr/>
        </p:nvSpPr>
        <p:spPr>
          <a:xfrm>
            <a:off x="1234440" y="3099816"/>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천간은 같은 음양끼리 생극하고, 음양이 다르면 합한다 — 甲己土 · 乙庚金 · 丙辛水 · 丁壬木 · 戊癸火</a:t>
            </a:r>
            <a:endParaRPr lang="en-US" sz="1600" dirty="0"/>
          </a:p>
        </p:txBody>
      </p:sp>
      <p:sp>
        <p:nvSpPr>
          <p:cNvPr id="13" name="Shape 11"/>
          <p:cNvSpPr/>
          <p:nvPr/>
        </p:nvSpPr>
        <p:spPr>
          <a:xfrm>
            <a:off x="548640" y="3995928"/>
            <a:ext cx="457200" cy="457200"/>
          </a:xfrm>
          <a:prstGeom prst="ellipse">
            <a:avLst/>
          </a:prstGeom>
          <a:solidFill>
            <a:srgbClr val="B23A2E"/>
          </a:solidFill>
          <a:ln w="12700">
            <a:solidFill>
              <a:srgbClr val="B23A2E"/>
            </a:solidFill>
            <a:prstDash val="solid"/>
          </a:ln>
        </p:spPr>
      </p:sp>
      <p:sp>
        <p:nvSpPr>
          <p:cNvPr id="14" name="Text 12"/>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5" name="Text 13"/>
          <p:cNvSpPr txBox="1"/>
          <p:nvPr/>
        </p:nvSpPr>
        <p:spPr>
          <a:xfrm>
            <a:off x="1234440" y="3849624"/>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지장간 = 여기 · 중기 · 본기. 지지 속에 숨은 천간</a:t>
            </a:r>
            <a:endParaRPr lang="en-US" sz="1600" dirty="0"/>
          </a:p>
        </p:txBody>
      </p:sp>
      <p:sp>
        <p:nvSpPr>
          <p:cNvPr id="16" name="Shape 14"/>
          <p:cNvSpPr/>
          <p:nvPr/>
        </p:nvSpPr>
        <p:spPr>
          <a:xfrm>
            <a:off x="548640" y="4745736"/>
            <a:ext cx="457200" cy="457200"/>
          </a:xfrm>
          <a:prstGeom prst="ellipse">
            <a:avLst/>
          </a:prstGeom>
          <a:solidFill>
            <a:srgbClr val="B23A2E"/>
          </a:solidFill>
          <a:ln w="12700">
            <a:solidFill>
              <a:srgbClr val="B23A2E"/>
            </a:solidFill>
            <a:prstDash val="solid"/>
          </a:ln>
        </p:spPr>
      </p:sp>
      <p:sp>
        <p:nvSpPr>
          <p:cNvPr id="17" name="Text 15"/>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18" name="Text 16"/>
          <p:cNvSpPr txBox="1"/>
          <p:nvPr/>
        </p:nvSpPr>
        <p:spPr>
          <a:xfrm>
            <a:off x="1234440" y="4599432"/>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지지의 관계: 육합 · 삼합(亥卯未 등) · 방합(寅卯辰 등) · 육충(마주 보는 지지)</a:t>
            </a:r>
            <a:endParaRPr lang="en-US" sz="1600" dirty="0"/>
          </a:p>
        </p:txBody>
      </p:sp>
      <p:sp>
        <p:nvSpPr>
          <p:cNvPr id="19" name="Text 17"/>
          <p:cNvSpPr txBox="1"/>
          <p:nvPr/>
        </p:nvSpPr>
        <p:spPr>
          <a:xfrm>
            <a:off x="548640" y="5532120"/>
            <a:ext cx="11094415" cy="640080"/>
          </a:xfrm>
          <a:prstGeom prst="rect">
            <a:avLst/>
          </a:prstGeom>
          <a:solidFill>
            <a:srgbClr val="F3F1F6"/>
          </a:solidFill>
          <a:ln/>
        </p:spPr>
        <p:txBody>
          <a:bodyPr wrap="square" lIns="0" tIns="2540" rIns="254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다음 시간  </a:t>
            </a:r>
            <a:pPr indent="0" marL="0">
              <a:buNone/>
            </a:pPr>
            <a:r>
              <a:rPr lang="en-US" sz="1500" dirty="0">
                <a:solidFill>
                  <a:srgbClr val="22212A"/>
                </a:solidFill>
                <a:latin typeface="Malgun Gothic" pitchFamily="34" charset="0"/>
                <a:ea typeface="Malgun Gothic" pitchFamily="34" charset="-122"/>
                <a:cs typeface="Malgun Gothic" pitchFamily="34" charset="-120"/>
              </a:rPr>
              <a:t>제4장 천간과 지지의 결합 — 육십갑자 · 통근 · 12운성</a:t>
            </a:r>
            <a:endParaRPr lang="en-US" sz="150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200" b="1" dirty="0">
                <a:solidFill>
                  <a:srgbClr val="F4F1EA"/>
                </a:solidFill>
                <a:latin typeface="Malgun Gothic" pitchFamily="34" charset="0"/>
                <a:ea typeface="Malgun Gothic" pitchFamily="34" charset="-122"/>
                <a:cs typeface="Malgun Gothic" pitchFamily="34" charset="-120"/>
              </a:rPr>
              <a:t>함께 생각해 볼 질문</a:t>
            </a:r>
            <a:endParaRPr lang="en-US" sz="3200" dirty="0"/>
          </a:p>
        </p:txBody>
      </p:sp>
      <p:sp>
        <p:nvSpPr>
          <p:cNvPr id="3" name="Shape 1"/>
          <p:cNvSpPr/>
          <p:nvPr/>
        </p:nvSpPr>
        <p:spPr>
          <a:xfrm>
            <a:off x="548640" y="1874520"/>
            <a:ext cx="594360" cy="594360"/>
          </a:xfrm>
          <a:prstGeom prst="ellipse">
            <a:avLst/>
          </a:prstGeom>
          <a:solidFill>
            <a:srgbClr val="B23A2E"/>
          </a:solidFill>
          <a:ln w="12700">
            <a:solidFill>
              <a:srgbClr val="B23A2E"/>
            </a:solidFill>
            <a:prstDash val="solid"/>
          </a:ln>
        </p:spPr>
      </p:sp>
      <p:sp>
        <p:nvSpPr>
          <p:cNvPr id="4" name="Text 2"/>
          <p:cNvSpPr txBox="1"/>
          <p:nvPr/>
        </p:nvSpPr>
        <p:spPr>
          <a:xfrm>
            <a:off x="548640" y="187452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Q1</a:t>
            </a:r>
            <a:endParaRPr lang="en-US" sz="1500" dirty="0"/>
          </a:p>
        </p:txBody>
      </p:sp>
      <p:sp>
        <p:nvSpPr>
          <p:cNvPr id="5" name="Text 3"/>
          <p:cNvSpPr txBox="1"/>
          <p:nvPr/>
        </p:nvSpPr>
        <p:spPr>
          <a:xfrm>
            <a:off x="1371600" y="164592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같은 木이라도 甲과 乙은 어떻게 다른가요? 다른 오행에서도 비교해 봅시다.</a:t>
            </a:r>
            <a:endParaRPr lang="en-US" sz="1700" dirty="0"/>
          </a:p>
        </p:txBody>
      </p:sp>
      <p:sp>
        <p:nvSpPr>
          <p:cNvPr id="6" name="Shape 4"/>
          <p:cNvSpPr/>
          <p:nvPr/>
        </p:nvSpPr>
        <p:spPr>
          <a:xfrm>
            <a:off x="548640" y="2926080"/>
            <a:ext cx="594360" cy="594360"/>
          </a:xfrm>
          <a:prstGeom prst="ellipse">
            <a:avLst/>
          </a:prstGeom>
          <a:solidFill>
            <a:srgbClr val="B23A2E"/>
          </a:solidFill>
          <a:ln w="12700">
            <a:solidFill>
              <a:srgbClr val="B23A2E"/>
            </a:solidFill>
            <a:prstDash val="solid"/>
          </a:ln>
        </p:spPr>
      </p:sp>
      <p:sp>
        <p:nvSpPr>
          <p:cNvPr id="7" name="Text 5"/>
          <p:cNvSpPr txBox="1"/>
          <p:nvPr/>
        </p:nvSpPr>
        <p:spPr>
          <a:xfrm>
            <a:off x="548640" y="292608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Q2</a:t>
            </a:r>
            <a:endParaRPr lang="en-US" sz="1500" dirty="0"/>
          </a:p>
        </p:txBody>
      </p:sp>
      <p:sp>
        <p:nvSpPr>
          <p:cNvPr id="8" name="Text 6"/>
          <p:cNvSpPr txBox="1"/>
          <p:nvPr/>
        </p:nvSpPr>
        <p:spPr>
          <a:xfrm>
            <a:off x="1371600" y="269748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천간의 상극은 같은 음양끼리만 일어나고, 음양이 다르면 합이 됩니다. 왜 그럴까요?</a:t>
            </a:r>
            <a:endParaRPr lang="en-US" sz="1700" dirty="0"/>
          </a:p>
        </p:txBody>
      </p:sp>
      <p:sp>
        <p:nvSpPr>
          <p:cNvPr id="9" name="Shape 7"/>
          <p:cNvSpPr/>
          <p:nvPr/>
        </p:nvSpPr>
        <p:spPr>
          <a:xfrm>
            <a:off x="548640" y="3977640"/>
            <a:ext cx="594360" cy="594360"/>
          </a:xfrm>
          <a:prstGeom prst="ellipse">
            <a:avLst/>
          </a:prstGeom>
          <a:solidFill>
            <a:srgbClr val="B23A2E"/>
          </a:solidFill>
          <a:ln w="12700">
            <a:solidFill>
              <a:srgbClr val="B23A2E"/>
            </a:solidFill>
            <a:prstDash val="solid"/>
          </a:ln>
        </p:spPr>
      </p:sp>
      <p:sp>
        <p:nvSpPr>
          <p:cNvPr id="10" name="Text 8"/>
          <p:cNvSpPr txBox="1"/>
          <p:nvPr/>
        </p:nvSpPr>
        <p:spPr>
          <a:xfrm>
            <a:off x="548640" y="397764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Q3</a:t>
            </a:r>
            <a:endParaRPr lang="en-US" sz="1500" dirty="0"/>
          </a:p>
        </p:txBody>
      </p:sp>
      <p:sp>
        <p:nvSpPr>
          <p:cNvPr id="11" name="Text 9"/>
          <p:cNvSpPr txBox="1"/>
          <p:nvPr/>
        </p:nvSpPr>
        <p:spPr>
          <a:xfrm>
            <a:off x="1371600" y="374904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子·巳·午·亥의 음양이 "땅에서 바뀐다"는 설명을 어떻게 이해할 수 있을까요?</a:t>
            </a:r>
            <a:endParaRPr lang="en-US" sz="1700" dirty="0"/>
          </a:p>
        </p:txBody>
      </p:sp>
      <p:sp>
        <p:nvSpPr>
          <p:cNvPr id="12" name="Shape 10"/>
          <p:cNvSpPr/>
          <p:nvPr/>
        </p:nvSpPr>
        <p:spPr>
          <a:xfrm>
            <a:off x="548640" y="5029200"/>
            <a:ext cx="594360" cy="594360"/>
          </a:xfrm>
          <a:prstGeom prst="ellipse">
            <a:avLst/>
          </a:prstGeom>
          <a:solidFill>
            <a:srgbClr val="B23A2E"/>
          </a:solidFill>
          <a:ln w="12700">
            <a:solidFill>
              <a:srgbClr val="B23A2E"/>
            </a:solidFill>
            <a:prstDash val="solid"/>
          </a:ln>
        </p:spPr>
      </p:sp>
      <p:sp>
        <p:nvSpPr>
          <p:cNvPr id="13" name="Text 1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Q4</a:t>
            </a:r>
            <a:endParaRPr lang="en-US" sz="1500" dirty="0"/>
          </a:p>
        </p:txBody>
      </p:sp>
      <p:sp>
        <p:nvSpPr>
          <p:cNvPr id="14" name="Text 12"/>
          <p:cNvSpPr txBox="1"/>
          <p:nvPr/>
        </p:nvSpPr>
        <p:spPr>
          <a:xfrm>
            <a:off x="1371600" y="480060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"충은 부드럽게 한다"는 저자의 해석은 흔히 알려진 "충돌"과 어떻게 다른가요?</a:t>
            </a:r>
            <a:endParaRPr lang="en-US" sz="1700" dirty="0"/>
          </a:p>
        </p:txBody>
      </p:sp>
      <p:sp>
        <p:nvSpPr>
          <p:cNvPr id="15" name="Text 1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제3장 천간과 지지</a:t>
            </a:r>
            <a:endParaRPr lang="en-US" sz="1000" dirty="0"/>
          </a:p>
        </p:txBody>
      </p:sp>
      <p:sp>
        <p:nvSpPr>
          <p:cNvPr id="16"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의명보감 1 기초편 제3장 천간과 지지</dc:title>
  <dc:subject>PptxGenJS Presentation</dc:subject>
  <dc:creator>의명보감 스터디</dc:creator>
  <cp:lastModifiedBy>의명보감 스터디</cp:lastModifiedBy>
  <cp:revision>1</cp:revision>
  <dcterms:created xsi:type="dcterms:W3CDTF">2026-09-30T09:07:14Z</dcterms:created>
  <dcterms:modified xsi:type="dcterms:W3CDTF">2026-09-30T09:07:14Z</dcterms:modified>
</cp:coreProperties>
</file>