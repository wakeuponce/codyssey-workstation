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기초편의 마지막 장입니다. 지금까지 배운 음양오행, 천간지지, 육십갑자를 모두 써서 한 사람의 출생 정보를 여덟 글자의 공식으로 바꾸고, 대운을 계산하고, 풀이의 세 가지 원리를 배웁니다. 계산 규칙이 많으니 예제를 따라가며 직접 손으로 해 보는 것을 권합니다.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다섯 꼭지로 진행합니다. 두 번째와 세 번째 꼭지는 계산 방법이고, 네 번째와 다섯 번째가 해석입니다.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번째 꼭지, 공식의 정의입니다.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의명학 공식은 연·월·일·시 네 기둥을 각각 천간과 지지로 적은 여덟 글자입니다. 책은 각주에서 이것이 흔히 말하는 사주팔자와 같다고 솔직하게 밝힙니다. 공식에는 두 층위가 있습니다. 태어날 때 굳어진 命, 그리고 살면서 만나는 運입니다. 풀이는 먼저 命의 과부족을 찾고, 그다음 運이 그 과부족을 채워 주는지 악화시키는지를 보는 순서로 진행합니다.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책은 옛 방식처럼 오른쪽에서 왼쪽으로 가로로 쓰지 않고, 위에서 아래로 생년·생월·생일·생시를 세로로 적는 현대적 방식을 제안합니다. 예시는 책의 예제인 1996년 음력 4월 12일 18시생의 공식입니다. 丙子년, 癸巳월, 乙丑일, 乙酉시입니다. 빨간 테두리를 친 생일의 천간, 곧 일간이 "나"입니다. 연·월·일의 여섯 글자는 만세력에서 찾고, 시의 두 글자는 계산으로 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1장 개요의 "대해를 항해하는 돛단배" 비유가 여기서 命과 運의 관계로 완성됩니다. 배(命)는 태어날 때 정해지고, 바다(運)는 살면서 만납니다.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꼭지, 여덟 글자를 실제로 세우는 방법입니다.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전체 흐름을 먼저 봅니다. 1에서 3단계까지가 命의 여덟 글자를 세우는 과정이고, 4·5단계가 運을 세우는 과정입니다. 각 단계를 차례로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가장 중요한 규칙입니다. 숫자로 된 달은 관계가 없고, 12절기가 지나야 그 달이 됩니다. 예를 들어 입춘이 지나야 寅월, 경칩이 지나야 卯월입니다. 절기 사이에 있는 우수·춘분 같은 중기는 그 달 기운이 얼마나 무르익었는지를 판단하는 기준입니다. 3장에서 "절기는 기의 마디"라고 한 말이 여기서 실제 규칙이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만세력을 볼 때 가장 많이 틀리는 부분이 연과 월의 경계입니다. 해는 양력 1월 1일도, 음력 설날도 아닌 입춘에 바뀝니다. 그래서 음력으로는 전년도 12월생이라도 입춘이 지났으면 다음 해의 간지를 씁니다. 월도 마찬가지로 음력 날짜가 아니라 절기로 판단합니다. 일은 절기와 무관하게 만세력의 간지를 그대로 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만세력이 없어도 월의 천간을 구하는 암산법입니다. 3장의 천간합을 씁니다. 먼저 연간이 합해서 변하는 오행을 찾고, 그 오행을 생해 주는 양간이 寅월의 천간입니다. 그다음 원하는 달까지 천간을 순서대로 세면 됩니다. 1984년 甲子년 음력 3월이라면, 甲己는 합해서 土, 土를 생하는 양간은 丙이므로 寅월이 丙寅, 卯월이 丁卯, 辰월이 戊辰입니다.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시의 간지는 만세력에 없으므로 계산합니다. 월두법과 비슷하지만, 이번에는 일간이 합한 오행을 "극하는" 양간이 子시의 천간입니다. 乙일이라면 乙庚 합금, 金을 극하는 양간은 丙이므로 子시가 丙子, 丑시 丁丑, 寅시 戊寅, 卯시 己卯, 辰시 庚辰입니다. 시간 보정도 중요합니다. 서머타임 기간(1948~51, 1955~60, 1987~88년) 출생자는 1시간을 빼고, 1961년 8월 12일 이후 출생자는 동경 127.5도 기준에 맞춰 30분을 보정합니다.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번째 꼭지, 대운과 소운입니다.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대운은 10년마다 바뀌는 큰 운입니다. 먼저 방향을 정합니다. 태어난 해의 천간이 양이고 남자이거나, 음이고 여자이면 순행합니다. 반대면 역행합니다. 순행이면 생월 간지의 다음 간지부터, 역행이면 앞 간지부터 육십갑자를 차례로 적습니다. 대운수는 첫 대운이 시작되는 나이입니다. 순행이면 생일 다음 날부터 다가오는 절기까지, 역행이면 생일 전날부터 지나간 절기까지 날수를 세어 3으로 나눕니다.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책의 예제입니다. 공식은 丙子년 癸巳월 乙丑일 乙酉시입니다. 연간 丙은 양간이므로 남자는 순행, 여자는 역행합니다. 남자는 생월 癸巳의 다음인 甲午부터 적습니다. 대운수는 생일 다음 날부터 다가오는 절기인 망종까지 8일, 8을 3으로 나누면 몫 2 나머지 2이므로 올려서 3세입니다. 그래서 3세, 13세, 23세에 대운이 바뀝니다. 여자는 癸巳의 앞인 壬辰부터 거꾸로 적습니다. 생일 전날부터 지나간 절기인 입하까지 23일, 몫 7 나머지 2이므로 8세입니다.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소운은 대운이 시작되기 전, 어린 시절의 운입니다. 대운과 방향은 같지만 생월이 아니라 생시 간지에서 출발합니다. 참고로 책은 잉태된 날의 간지인 입태일도 소개합니다. 출생 간지와 겉과 속의 관계이며 체질과 운명에 약 30% 정도 영향을 준다고 봅니다. 참고로 원문의 소운 예시는 생시를 癸酉로 적었는데, 같은 사람의 대운 예제에서는 乙酉이고 계산상으로도 乙酉가 맞습니다.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번째 꼭지, 공식을 해석하는 세 가지 원리입니다.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2장에서 "상생 상극의 균형이 중용이며 우주의 마음"이라고 배웠습니다. 중용론은 이것을 공식 풀이의 첫 원리로 삼습니다. 여덟 글자에서 넘치는 오행은 누르거나 빼 주고, 모자라는 오행은 채워 줍니다. 저자는 대운 자체는 바꿀 수 없지만, 체질은 음식과 약으로, 운명은 마음의 힘으로 극복할 수 있다고 말합니다. 의학편과 명편에서 다룰 내용의 예고이기도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조후론은 기후를 조절한다는 뜻입니다. 여섯 가지 기후, 곧 육기를 지지에 배속하고, 일간을 중심으로 나머지 일곱 글자의 기후를 봅니다. 추우면 따뜻하게, 더우면 시원하게, 습하면 건조하게 하는 것이 원칙입니다. 표의 처방 열은 책의 건강 처방 원칙을 정리한 것입니다. 寒은 熱로, 熱은 寒으로 다스린다는 것이 기본입니다.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책은 일간의 오행 다섯 가지와 사계절을 곱한 스무 가지 조후 규칙과 예문을 제시합니다. 여기서는 木 일간의 예 세 가지만 뽑았습니다. 네 번째 카드의 특수 원리도 중요합니다. 공식 전체가 한 오행으로 몰려 있으면 억지로 반대 기운을 넣지 말고 그 기세를 따라야 한다는 것입니다. 예를 들어 전체가 金이면 土·金·水 운, 전체가 木이면 水·木·火 운이 아름답다고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통관은 극하는 세력과 극을 당하는 세력이 팽팽히 맞설 때, 그 사이에 둘 다와 상생하는 오행을 넣어 흐름을 잇는 것입니다. 다투는 두 사람을 화해시키거나 막힌 돈의 흐름을 중재하는 것에 비유합니다. 金과 木이 싸우면 金이 생하고 木을 생하는 水가, 水와 火가 싸우면 木이 통관합니다. 土와 水는 한 단계로 이어지지 않아 木과 火가 함께 있어야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 꼭지, 책의 예문 두 개로 지금까지 배운 원리를 적용해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번째 예제입니다. 卯월, 곧 봄에 태어난 丙火 일간입니다. 이미 火氣가 충천한데, 子水가 卯木을 생하고 卯木이 午火를 태우며 시간의 丙火까지 가세해 "태양처럼 뜨겁다"고 봅니다. 丙辛 합수가 조금 식혀 주지만 뜨거운 지지의 火에 증발합니다. 그래서 필요한 것은 火를 누르는 壬水, 그리고 水의 뿌리가 되어 줄 金입니다. 대운을 보면 壬辰 대운에는 壬水가 조후하고 申子辰 삼합 水가 되어 건강하게 자랍니다. 甲午·乙未 대운에는 木火가 더해져 극심한 가난과 열로 인한 온갖 질병을 앓습니다. 조후론과 중용론이 그대로 적용된 예입니다.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예제는 丑월, 한겨울에 태어난 壬水 일간입니다. 한랭한데 亥水가 午火를 어둡게 하고, 乙卯木은 己丑土와 다투느라 일간의 기운을 빼 주지 못합니다. 壬水는 丑에 뿌리를 두고 辛亥의 도움까지 받아 성정이 강합니다. 따라서 추위를 이길 木과 火, 습기를 걷어 줄 未·戌 土가 필요하고, 金과 水는 대단히 흉합니다. 대운에서 壬辰은 습한 辰이 午火를 어둡게 하고 水가 범람해, 재물을 뜻하는 火가 약해지므로 가난하고 "심장 허약으로 인한 각종 질병"을 앓는다고 봅니다. 반대로 癸巳·甲午·乙未의 30년은 넉넉하고 건강합니다. 여기서 쓰인 용어로, 일간이 극하는 오행을 재물의 신(財神), 일간을 극하는 오행을 명예의 신이라고 부릅니다.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기초편의 핵심을 다섯 줄로 정리했습니다. 기초편은 여기까지입니다. 저자에 따르면 이어지는 권에서 의학편(체질·장부·처방)과 명편(운명의 전개와 개조)을 다룹니다.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토론 질문입니다. 두 번째 질문은 실습으로 진행하면 좋습니다. 만세력 앱이나 사이트를 준비해 오세요.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D1C24"/>
        </a:solidFill>
      </p:bgPr>
    </p:bg>
    <p:spTree>
      <p:nvGrpSpPr>
        <p:cNvPr id="1" name=""/>
        <p:cNvGrpSpPr/>
        <p:nvPr/>
      </p:nvGrpSpPr>
      <p:grpSpPr>
        <a:xfrm>
          <a:off x="0" y="0"/>
          <a:ext cx="0" cy="0"/>
          <a:chOff x="0" y="0"/>
          <a:chExt cx="0" cy="0"/>
        </a:xfrm>
      </p:grpSpPr>
      <p:sp>
        <p:nvSpPr>
          <p:cNvPr id="2" name="Text 0"/>
          <p:cNvSpPr txBox="1"/>
          <p:nvPr/>
        </p:nvSpPr>
        <p:spPr>
          <a:xfrm>
            <a:off x="6583680" y="182880"/>
            <a:ext cx="5486400" cy="6400800"/>
          </a:xfrm>
          <a:prstGeom prst="rect">
            <a:avLst/>
          </a:prstGeom>
          <a:noFill/>
          <a:ln/>
        </p:spPr>
        <p:txBody>
          <a:bodyPr wrap="square" lIns="0" tIns="0" rIns="0" bIns="0" rtlCol="0" anchor="ctr"/>
          <a:lstStyle/>
          <a:p>
            <a:pPr algn="ctr" indent="0" marL="0">
              <a:buNone/>
            </a:pPr>
            <a:r>
              <a:rPr lang="en-US" sz="38000" b="1" dirty="0">
                <a:solidFill>
                  <a:srgbClr val="2B2933"/>
                </a:solidFill>
                <a:latin typeface="Malgun Gothic" pitchFamily="34" charset="0"/>
                <a:ea typeface="Malgun Gothic" pitchFamily="34" charset="-122"/>
                <a:cs typeface="Malgun Gothic" pitchFamily="34" charset="-120"/>
              </a:rPr>
              <a:t>命</a:t>
            </a:r>
            <a:endParaRPr lang="en-US" sz="38000" dirty="0"/>
          </a:p>
        </p:txBody>
      </p:sp>
      <p:sp>
        <p:nvSpPr>
          <p:cNvPr id="3" name="Shape 1"/>
          <p:cNvSpPr/>
          <p:nvPr/>
        </p:nvSpPr>
        <p:spPr>
          <a:xfrm>
            <a:off x="548640" y="1280160"/>
            <a:ext cx="1005840" cy="1005840"/>
          </a:xfrm>
          <a:prstGeom prst="ellipse">
            <a:avLst/>
          </a:prstGeom>
          <a:solidFill>
            <a:srgbClr val="B23A2E"/>
          </a:solidFill>
          <a:ln w="12700">
            <a:solidFill>
              <a:srgbClr val="B23A2E"/>
            </a:solidFill>
            <a:prstDash val="solid"/>
          </a:ln>
        </p:spPr>
      </p:sp>
      <p:sp>
        <p:nvSpPr>
          <p:cNvPr id="4" name="Text 2"/>
          <p:cNvSpPr txBox="1"/>
          <p:nvPr/>
        </p:nvSpPr>
        <p:spPr>
          <a:xfrm>
            <a:off x="548640" y="1280160"/>
            <a:ext cx="1005840" cy="1005840"/>
          </a:xfrm>
          <a:prstGeom prst="rect">
            <a:avLst/>
          </a:prstGeom>
          <a:noFill/>
          <a:ln/>
        </p:spPr>
        <p:txBody>
          <a:bodyPr wrap="square" lIns="0" tIns="0" rIns="0" bIns="0" rtlCol="0" anchor="ct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제5장</a:t>
            </a:r>
            <a:endParaRPr lang="en-US" sz="1800" dirty="0"/>
          </a:p>
        </p:txBody>
      </p:sp>
      <p:sp>
        <p:nvSpPr>
          <p:cNvPr id="5" name="Text 3"/>
          <p:cNvSpPr txBox="1"/>
          <p:nvPr/>
        </p:nvSpPr>
        <p:spPr>
          <a:xfrm>
            <a:off x="548640" y="2560320"/>
            <a:ext cx="7772400" cy="1188720"/>
          </a:xfrm>
          <a:prstGeom prst="rect">
            <a:avLst/>
          </a:prstGeom>
          <a:noFill/>
          <a:ln/>
        </p:spPr>
        <p:txBody>
          <a:bodyPr wrap="square" lIns="0" tIns="0" rIns="0" bIns="0" rtlCol="0" anchor="ctr"/>
          <a:lstStyle/>
          <a:p>
            <a:pPr indent="0" marL="0">
              <a:buNone/>
            </a:pPr>
            <a:r>
              <a:rPr lang="en-US" sz="4800" b="1" dirty="0">
                <a:solidFill>
                  <a:srgbClr val="F4F1EA"/>
                </a:solidFill>
                <a:latin typeface="Malgun Gothic" pitchFamily="34" charset="0"/>
                <a:ea typeface="Malgun Gothic" pitchFamily="34" charset="-122"/>
                <a:cs typeface="Malgun Gothic" pitchFamily="34" charset="-120"/>
              </a:rPr>
              <a:t>의명학 공식</a:t>
            </a:r>
            <a:endParaRPr lang="en-US" sz="4800" dirty="0"/>
          </a:p>
        </p:txBody>
      </p:sp>
      <p:sp>
        <p:nvSpPr>
          <p:cNvPr id="6" name="Text 4"/>
          <p:cNvSpPr txBox="1"/>
          <p:nvPr/>
        </p:nvSpPr>
        <p:spPr>
          <a:xfrm>
            <a:off x="548640" y="3749040"/>
            <a:ext cx="7772400" cy="548640"/>
          </a:xfrm>
          <a:prstGeom prst="rect">
            <a:avLst/>
          </a:prstGeom>
          <a:noFill/>
          <a:ln/>
        </p:spPr>
        <p:txBody>
          <a:bodyPr wrap="square" lIns="0" tIns="0" rIns="0" bIns="0" rtlCol="0" anchor="ctr"/>
          <a:lstStyle/>
          <a:p>
            <a:pPr indent="0" marL="0">
              <a:buNone/>
            </a:pPr>
            <a:r>
              <a:rPr lang="en-US" sz="2200" dirty="0">
                <a:solidFill>
                  <a:srgbClr val="A9A4B5"/>
                </a:solidFill>
                <a:latin typeface="Malgun Gothic" pitchFamily="34" charset="0"/>
                <a:ea typeface="Malgun Gothic" pitchFamily="34" charset="-122"/>
                <a:cs typeface="Malgun Gothic" pitchFamily="34" charset="-120"/>
              </a:rPr>
              <a:t>醫命學 公式</a:t>
            </a:r>
            <a:endParaRPr lang="en-US" sz="2200" dirty="0"/>
          </a:p>
        </p:txBody>
      </p:sp>
      <p:sp>
        <p:nvSpPr>
          <p:cNvPr id="7" name="Text 5"/>
          <p:cNvSpPr txBox="1"/>
          <p:nvPr/>
        </p:nvSpPr>
        <p:spPr>
          <a:xfrm>
            <a:off x="548640" y="4846320"/>
            <a:ext cx="7315200" cy="731520"/>
          </a:xfrm>
          <a:prstGeom prst="rect">
            <a:avLst/>
          </a:prstGeom>
          <a:noFill/>
          <a:ln/>
        </p:spPr>
        <p:txBody>
          <a:bodyPr wrap="square" lIns="0" tIns="0" rIns="0" bIns="0" rtlCol="0" anchor="ctr"/>
          <a:lstStyle/>
          <a:p>
            <a:pPr indent="0" marL="0">
              <a:buNone/>
            </a:pPr>
            <a:r>
              <a:rPr lang="en-US" sz="1400" dirty="0">
                <a:solidFill>
                  <a:srgbClr val="A9A4B5"/>
                </a:solidFill>
                <a:latin typeface="Malgun Gothic" pitchFamily="34" charset="0"/>
                <a:ea typeface="Malgun Gothic" pitchFamily="34" charset="-122"/>
                <a:cs typeface="Malgun Gothic" pitchFamily="34" charset="-120"/>
              </a:rPr>
              <a:t>의명보감 1 기초편 스터디 · 공식 세우는 법 · 대운과 소운 · 중용론 · 조후론 · 통관론</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300" b="1" dirty="0">
                <a:solidFill>
                  <a:srgbClr val="B23A2E"/>
                </a:solidFill>
                <a:latin typeface="Malgun Gothic" pitchFamily="34" charset="0"/>
                <a:ea typeface="Malgun Gothic" pitchFamily="34" charset="-122"/>
                <a:cs typeface="Malgun Gothic" pitchFamily="34" charset="-120"/>
              </a:rPr>
              <a:t>목차</a:t>
            </a:r>
            <a:endParaRPr lang="en-US" sz="13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000" b="1" dirty="0">
                <a:solidFill>
                  <a:srgbClr val="22212A"/>
                </a:solidFill>
                <a:latin typeface="Malgun Gothic" pitchFamily="34" charset="0"/>
                <a:ea typeface="Malgun Gothic" pitchFamily="34" charset="-122"/>
                <a:cs typeface="Malgun Gothic" pitchFamily="34" charset="-120"/>
              </a:rPr>
              <a:t>오늘 공부할 내용</a:t>
            </a:r>
            <a:endParaRPr lang="en-US" sz="3000" dirty="0"/>
          </a:p>
        </p:txBody>
      </p:sp>
      <p:sp>
        <p:nvSpPr>
          <p:cNvPr id="4" name="Shape 2"/>
          <p:cNvSpPr/>
          <p:nvPr/>
        </p:nvSpPr>
        <p:spPr>
          <a:xfrm>
            <a:off x="548640" y="1673352"/>
            <a:ext cx="502920" cy="502920"/>
          </a:xfrm>
          <a:prstGeom prst="ellipse">
            <a:avLst/>
          </a:prstGeom>
          <a:solidFill>
            <a:srgbClr val="B23A2E"/>
          </a:solidFill>
          <a:ln w="12700">
            <a:solidFill>
              <a:srgbClr val="B23A2E"/>
            </a:solidFill>
            <a:prstDash val="solid"/>
          </a:ln>
        </p:spPr>
      </p:sp>
      <p:sp>
        <p:nvSpPr>
          <p:cNvPr id="5" name="Text 3"/>
          <p:cNvSpPr txBox="1"/>
          <p:nvPr/>
        </p:nvSpPr>
        <p:spPr>
          <a:xfrm>
            <a:off x="548640" y="167335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1</a:t>
            </a:r>
            <a:endParaRPr lang="en-US" sz="1600" dirty="0"/>
          </a:p>
        </p:txBody>
      </p:sp>
      <p:sp>
        <p:nvSpPr>
          <p:cNvPr id="6" name="Text 4"/>
          <p:cNvSpPr txBox="1"/>
          <p:nvPr/>
        </p:nvSpPr>
        <p:spPr>
          <a:xfrm>
            <a:off x="1234440" y="1600200"/>
            <a:ext cx="4587088" cy="777240"/>
          </a:xfrm>
          <a:prstGeom prst="rect">
            <a:avLst/>
          </a:prstGeom>
          <a:noFill/>
          <a:ln/>
        </p:spPr>
        <p:txBody>
          <a:bodyPr wrap="square" lIns="0" tIns="0" rIns="0" bIns="0" rtlCol="0" anchor="ctr"/>
          <a:lstStyle/>
          <a:p>
            <a:pPr indent="0" marL="0">
              <a:buNone/>
            </a:pPr>
            <a:r>
              <a:rPr lang="en-US" sz="1700" b="1" dirty="0">
                <a:solidFill>
                  <a:srgbClr val="22212A"/>
                </a:solidFill>
                <a:latin typeface="Malgun Gothic" pitchFamily="34" charset="0"/>
                <a:ea typeface="Malgun Gothic" pitchFamily="34" charset="-122"/>
                <a:cs typeface="Malgun Gothic" pitchFamily="34" charset="-120"/>
              </a:rPr>
              <a:t>의명학 공식이란</a:t>
            </a:r>
            <a:endParaRPr lang="en-US" sz="1700" dirty="0"/>
          </a:p>
          <a:p>
            <a:pPr indent="0" marL="0">
              <a:buNone/>
            </a:pPr>
            <a:r>
              <a:rPr lang="en-US" sz="1200" dirty="0">
                <a:solidFill>
                  <a:srgbClr val="6B6778"/>
                </a:solidFill>
                <a:latin typeface="Malgun Gothic" pitchFamily="34" charset="0"/>
                <a:ea typeface="Malgun Gothic" pitchFamily="34" charset="-122"/>
                <a:cs typeface="Malgun Gothic" pitchFamily="34" charset="-120"/>
              </a:rPr>
              <a:t>여덟 글자, 명(命)과 운(運)</a:t>
            </a:r>
            <a:endParaRPr lang="en-US" sz="1700" dirty="0"/>
          </a:p>
        </p:txBody>
      </p:sp>
      <p:sp>
        <p:nvSpPr>
          <p:cNvPr id="7" name="Shape 5"/>
          <p:cNvSpPr/>
          <p:nvPr/>
        </p:nvSpPr>
        <p:spPr>
          <a:xfrm>
            <a:off x="548640" y="2542032"/>
            <a:ext cx="502920" cy="502920"/>
          </a:xfrm>
          <a:prstGeom prst="ellipse">
            <a:avLst/>
          </a:prstGeom>
          <a:solidFill>
            <a:srgbClr val="B23A2E"/>
          </a:solidFill>
          <a:ln w="12700">
            <a:solidFill>
              <a:srgbClr val="B23A2E"/>
            </a:solidFill>
            <a:prstDash val="solid"/>
          </a:ln>
        </p:spPr>
      </p:sp>
      <p:sp>
        <p:nvSpPr>
          <p:cNvPr id="8" name="Text 6"/>
          <p:cNvSpPr txBox="1"/>
          <p:nvPr/>
        </p:nvSpPr>
        <p:spPr>
          <a:xfrm>
            <a:off x="548640" y="254203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2</a:t>
            </a:r>
            <a:endParaRPr lang="en-US" sz="1600" dirty="0"/>
          </a:p>
        </p:txBody>
      </p:sp>
      <p:sp>
        <p:nvSpPr>
          <p:cNvPr id="9" name="Text 7"/>
          <p:cNvSpPr txBox="1"/>
          <p:nvPr/>
        </p:nvSpPr>
        <p:spPr>
          <a:xfrm>
            <a:off x="1234440" y="2468880"/>
            <a:ext cx="4587088" cy="777240"/>
          </a:xfrm>
          <a:prstGeom prst="rect">
            <a:avLst/>
          </a:prstGeom>
          <a:noFill/>
          <a:ln/>
        </p:spPr>
        <p:txBody>
          <a:bodyPr wrap="square" lIns="0" tIns="0" rIns="0" bIns="0" rtlCol="0" anchor="ctr"/>
          <a:lstStyle/>
          <a:p>
            <a:pPr indent="0" marL="0">
              <a:buNone/>
            </a:pPr>
            <a:r>
              <a:rPr lang="en-US" sz="1700" b="1" dirty="0">
                <a:solidFill>
                  <a:srgbClr val="22212A"/>
                </a:solidFill>
                <a:latin typeface="Malgun Gothic" pitchFamily="34" charset="0"/>
                <a:ea typeface="Malgun Gothic" pitchFamily="34" charset="-122"/>
                <a:cs typeface="Malgun Gothic" pitchFamily="34" charset="-120"/>
              </a:rPr>
              <a:t>공식 세우는 법</a:t>
            </a:r>
            <a:endParaRPr lang="en-US" sz="1700" dirty="0"/>
          </a:p>
          <a:p>
            <a:pPr indent="0" marL="0">
              <a:buNone/>
            </a:pPr>
            <a:r>
              <a:rPr lang="en-US" sz="1200" dirty="0">
                <a:solidFill>
                  <a:srgbClr val="6B6778"/>
                </a:solidFill>
                <a:latin typeface="Malgun Gothic" pitchFamily="34" charset="0"/>
                <a:ea typeface="Malgun Gothic" pitchFamily="34" charset="-122"/>
                <a:cs typeface="Malgun Gothic" pitchFamily="34" charset="-120"/>
              </a:rPr>
              <a:t>절기 → 만세력 → 생시 간지</a:t>
            </a:r>
            <a:endParaRPr lang="en-US" sz="1700" dirty="0"/>
          </a:p>
        </p:txBody>
      </p:sp>
      <p:sp>
        <p:nvSpPr>
          <p:cNvPr id="10" name="Shape 8"/>
          <p:cNvSpPr/>
          <p:nvPr/>
        </p:nvSpPr>
        <p:spPr>
          <a:xfrm>
            <a:off x="548640" y="3410712"/>
            <a:ext cx="502920" cy="502920"/>
          </a:xfrm>
          <a:prstGeom prst="ellipse">
            <a:avLst/>
          </a:prstGeom>
          <a:solidFill>
            <a:srgbClr val="B23A2E"/>
          </a:solidFill>
          <a:ln w="12700">
            <a:solidFill>
              <a:srgbClr val="B23A2E"/>
            </a:solidFill>
            <a:prstDash val="solid"/>
          </a:ln>
        </p:spPr>
      </p:sp>
      <p:sp>
        <p:nvSpPr>
          <p:cNvPr id="11" name="Text 9"/>
          <p:cNvSpPr txBox="1"/>
          <p:nvPr/>
        </p:nvSpPr>
        <p:spPr>
          <a:xfrm>
            <a:off x="548640" y="341071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3</a:t>
            </a:r>
            <a:endParaRPr lang="en-US" sz="1600" dirty="0"/>
          </a:p>
        </p:txBody>
      </p:sp>
      <p:sp>
        <p:nvSpPr>
          <p:cNvPr id="12" name="Text 10"/>
          <p:cNvSpPr txBox="1"/>
          <p:nvPr/>
        </p:nvSpPr>
        <p:spPr>
          <a:xfrm>
            <a:off x="1234440" y="3337560"/>
            <a:ext cx="4587088" cy="777240"/>
          </a:xfrm>
          <a:prstGeom prst="rect">
            <a:avLst/>
          </a:prstGeom>
          <a:noFill/>
          <a:ln/>
        </p:spPr>
        <p:txBody>
          <a:bodyPr wrap="square" lIns="0" tIns="0" rIns="0" bIns="0" rtlCol="0" anchor="ctr"/>
          <a:lstStyle/>
          <a:p>
            <a:pPr indent="0" marL="0">
              <a:buNone/>
            </a:pPr>
            <a:r>
              <a:rPr lang="en-US" sz="1700" b="1" dirty="0">
                <a:solidFill>
                  <a:srgbClr val="22212A"/>
                </a:solidFill>
                <a:latin typeface="Malgun Gothic" pitchFamily="34" charset="0"/>
                <a:ea typeface="Malgun Gothic" pitchFamily="34" charset="-122"/>
                <a:cs typeface="Malgun Gothic" pitchFamily="34" charset="-120"/>
              </a:rPr>
              <a:t>운(運) 공식 세우는 법</a:t>
            </a:r>
            <a:endParaRPr lang="en-US" sz="1700" dirty="0"/>
          </a:p>
          <a:p>
            <a:pPr indent="0" marL="0">
              <a:buNone/>
            </a:pPr>
            <a:r>
              <a:rPr lang="en-US" sz="1200" dirty="0">
                <a:solidFill>
                  <a:srgbClr val="6B6778"/>
                </a:solidFill>
                <a:latin typeface="Malgun Gothic" pitchFamily="34" charset="0"/>
                <a:ea typeface="Malgun Gothic" pitchFamily="34" charset="-122"/>
                <a:cs typeface="Malgun Gothic" pitchFamily="34" charset="-120"/>
              </a:rPr>
              <a:t>대운과 소운</a:t>
            </a:r>
            <a:endParaRPr lang="en-US" sz="1700" dirty="0"/>
          </a:p>
        </p:txBody>
      </p:sp>
      <p:sp>
        <p:nvSpPr>
          <p:cNvPr id="13" name="Shape 11"/>
          <p:cNvSpPr/>
          <p:nvPr/>
        </p:nvSpPr>
        <p:spPr>
          <a:xfrm>
            <a:off x="6324448" y="1673352"/>
            <a:ext cx="502920" cy="502920"/>
          </a:xfrm>
          <a:prstGeom prst="ellipse">
            <a:avLst/>
          </a:prstGeom>
          <a:solidFill>
            <a:srgbClr val="B23A2E"/>
          </a:solidFill>
          <a:ln w="12700">
            <a:solidFill>
              <a:srgbClr val="B23A2E"/>
            </a:solidFill>
            <a:prstDash val="solid"/>
          </a:ln>
        </p:spPr>
      </p:sp>
      <p:sp>
        <p:nvSpPr>
          <p:cNvPr id="14" name="Text 12"/>
          <p:cNvSpPr txBox="1"/>
          <p:nvPr/>
        </p:nvSpPr>
        <p:spPr>
          <a:xfrm>
            <a:off x="6324448" y="167335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4</a:t>
            </a:r>
            <a:endParaRPr lang="en-US" sz="1600" dirty="0"/>
          </a:p>
        </p:txBody>
      </p:sp>
      <p:sp>
        <p:nvSpPr>
          <p:cNvPr id="15" name="Text 13"/>
          <p:cNvSpPr txBox="1"/>
          <p:nvPr/>
        </p:nvSpPr>
        <p:spPr>
          <a:xfrm>
            <a:off x="7010248" y="1600200"/>
            <a:ext cx="4587088" cy="777240"/>
          </a:xfrm>
          <a:prstGeom prst="rect">
            <a:avLst/>
          </a:prstGeom>
          <a:noFill/>
          <a:ln/>
        </p:spPr>
        <p:txBody>
          <a:bodyPr wrap="square" lIns="0" tIns="0" rIns="0" bIns="0" rtlCol="0" anchor="ctr"/>
          <a:lstStyle/>
          <a:p>
            <a:pPr indent="0" marL="0">
              <a:buNone/>
            </a:pPr>
            <a:r>
              <a:rPr lang="en-US" sz="1700" b="1" dirty="0">
                <a:solidFill>
                  <a:srgbClr val="22212A"/>
                </a:solidFill>
                <a:latin typeface="Malgun Gothic" pitchFamily="34" charset="0"/>
                <a:ea typeface="Malgun Gothic" pitchFamily="34" charset="-122"/>
                <a:cs typeface="Malgun Gothic" pitchFamily="34" charset="-120"/>
              </a:rPr>
              <a:t>명운 공식 풀이 원론</a:t>
            </a:r>
            <a:endParaRPr lang="en-US" sz="1700" dirty="0"/>
          </a:p>
          <a:p>
            <a:pPr indent="0" marL="0">
              <a:buNone/>
            </a:pPr>
            <a:r>
              <a:rPr lang="en-US" sz="1200" dirty="0">
                <a:solidFill>
                  <a:srgbClr val="6B6778"/>
                </a:solidFill>
                <a:latin typeface="Malgun Gothic" pitchFamily="34" charset="0"/>
                <a:ea typeface="Malgun Gothic" pitchFamily="34" charset="-122"/>
                <a:cs typeface="Malgun Gothic" pitchFamily="34" charset="-120"/>
              </a:rPr>
              <a:t>중용론 · 조후론 · 통관론</a:t>
            </a:r>
            <a:endParaRPr lang="en-US" sz="1700" dirty="0"/>
          </a:p>
        </p:txBody>
      </p:sp>
      <p:sp>
        <p:nvSpPr>
          <p:cNvPr id="16" name="Shape 14"/>
          <p:cNvSpPr/>
          <p:nvPr/>
        </p:nvSpPr>
        <p:spPr>
          <a:xfrm>
            <a:off x="6324448" y="2542032"/>
            <a:ext cx="502920" cy="502920"/>
          </a:xfrm>
          <a:prstGeom prst="ellipse">
            <a:avLst/>
          </a:prstGeom>
          <a:solidFill>
            <a:srgbClr val="B23A2E"/>
          </a:solidFill>
          <a:ln w="12700">
            <a:solidFill>
              <a:srgbClr val="B23A2E"/>
            </a:solidFill>
            <a:prstDash val="solid"/>
          </a:ln>
        </p:spPr>
      </p:sp>
      <p:sp>
        <p:nvSpPr>
          <p:cNvPr id="17" name="Text 15"/>
          <p:cNvSpPr txBox="1"/>
          <p:nvPr/>
        </p:nvSpPr>
        <p:spPr>
          <a:xfrm>
            <a:off x="6324448" y="2542032"/>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5</a:t>
            </a:r>
            <a:endParaRPr lang="en-US" sz="1600" dirty="0"/>
          </a:p>
        </p:txBody>
      </p:sp>
      <p:sp>
        <p:nvSpPr>
          <p:cNvPr id="18" name="Text 16"/>
          <p:cNvSpPr txBox="1"/>
          <p:nvPr/>
        </p:nvSpPr>
        <p:spPr>
          <a:xfrm>
            <a:off x="7010248" y="2468880"/>
            <a:ext cx="4587088" cy="777240"/>
          </a:xfrm>
          <a:prstGeom prst="rect">
            <a:avLst/>
          </a:prstGeom>
          <a:noFill/>
          <a:ln/>
        </p:spPr>
        <p:txBody>
          <a:bodyPr wrap="square" lIns="0" tIns="0" rIns="0" bIns="0" rtlCol="0" anchor="ctr"/>
          <a:lstStyle/>
          <a:p>
            <a:pPr indent="0" marL="0">
              <a:buNone/>
            </a:pPr>
            <a:r>
              <a:rPr lang="en-US" sz="1700" b="1" dirty="0">
                <a:solidFill>
                  <a:srgbClr val="22212A"/>
                </a:solidFill>
                <a:latin typeface="Malgun Gothic" pitchFamily="34" charset="0"/>
                <a:ea typeface="Malgun Gothic" pitchFamily="34" charset="-122"/>
                <a:cs typeface="Malgun Gothic" pitchFamily="34" charset="-120"/>
              </a:rPr>
              <a:t>풀이 예제</a:t>
            </a:r>
            <a:endParaRPr lang="en-US" sz="1700" dirty="0"/>
          </a:p>
          <a:p>
            <a:pPr indent="0" marL="0">
              <a:buNone/>
            </a:pPr>
            <a:r>
              <a:rPr lang="en-US" sz="1200" dirty="0">
                <a:solidFill>
                  <a:srgbClr val="6B6778"/>
                </a:solidFill>
                <a:latin typeface="Malgun Gothic" pitchFamily="34" charset="0"/>
                <a:ea typeface="Malgun Gothic" pitchFamily="34" charset="-122"/>
                <a:cs typeface="Malgun Gothic" pitchFamily="34" charset="-120"/>
              </a:rPr>
              <a:t>丙火 봄생 · 壬水 겨울생</a:t>
            </a:r>
            <a:endParaRPr lang="en-US" sz="1700" dirty="0"/>
          </a:p>
        </p:txBody>
      </p:sp>
      <p:sp>
        <p:nvSpPr>
          <p:cNvPr id="19" name="Text 17"/>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B6778"/>
                </a:solidFill>
                <a:latin typeface="Malgun Gothic" pitchFamily="34" charset="0"/>
                <a:ea typeface="Malgun Gothic" pitchFamily="34" charset="-122"/>
                <a:cs typeface="Malgun Gothic" pitchFamily="34" charset="-120"/>
              </a:rPr>
              <a:t>의명보감 1 기초편 · 제5장 의명학 공식</a:t>
            </a:r>
            <a:endParaRPr lang="en-US" sz="1000" dirty="0"/>
          </a:p>
        </p:txBody>
      </p:sp>
      <p:sp>
        <p:nvSpPr>
          <p:cNvPr id="20" name="Text 18"/>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778"/>
                </a:solidFill>
                <a:latin typeface="Malgun Gothic" pitchFamily="34" charset="0"/>
                <a:ea typeface="Malgun Gothic" pitchFamily="34" charset="-122"/>
                <a:cs typeface="Malgun Gothic"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D1C24"/>
        </a:solidFill>
      </p:bgPr>
    </p:bg>
    <p:spTree>
      <p:nvGrpSpPr>
        <p:cNvPr id="1" name=""/>
        <p:cNvGrpSpPr/>
        <p:nvPr/>
      </p:nvGrpSpPr>
      <p:grpSpPr>
        <a:xfrm>
          <a:off x="0" y="0"/>
          <a:ext cx="0" cy="0"/>
          <a:chOff x="0" y="0"/>
          <a:chExt cx="0" cy="0"/>
        </a:xfrm>
      </p:grpSpPr>
      <p:sp>
        <p:nvSpPr>
          <p:cNvPr id="2" name="Text 0"/>
          <p:cNvSpPr txBox="1"/>
          <p:nvPr/>
        </p:nvSpPr>
        <p:spPr>
          <a:xfrm>
            <a:off x="548640" y="1371600"/>
            <a:ext cx="3657600" cy="1645920"/>
          </a:xfrm>
          <a:prstGeom prst="rect">
            <a:avLst/>
          </a:prstGeom>
          <a:noFill/>
          <a:ln/>
        </p:spPr>
        <p:txBody>
          <a:bodyPr wrap="square" lIns="0" tIns="0" rIns="0" bIns="0" rtlCol="0" anchor="ctr"/>
          <a:lstStyle/>
          <a:p>
            <a:pPr indent="0" marL="0">
              <a:buNone/>
            </a:pPr>
            <a:r>
              <a:rPr lang="en-US" sz="11000" b="1" dirty="0">
                <a:solidFill>
                  <a:srgbClr val="B23A2E"/>
                </a:solidFill>
                <a:latin typeface="Malgun Gothic" pitchFamily="34" charset="0"/>
                <a:ea typeface="Malgun Gothic" pitchFamily="34" charset="-122"/>
                <a:cs typeface="Malgun Gothic" pitchFamily="34" charset="-120"/>
              </a:rPr>
              <a:t>01</a:t>
            </a:r>
            <a:endParaRPr lang="en-US" sz="11000" dirty="0"/>
          </a:p>
        </p:txBody>
      </p:sp>
      <p:sp>
        <p:nvSpPr>
          <p:cNvPr id="3" name="Text 1"/>
          <p:cNvSpPr txBox="1"/>
          <p:nvPr/>
        </p:nvSpPr>
        <p:spPr>
          <a:xfrm>
            <a:off x="548640" y="3108960"/>
            <a:ext cx="11094415" cy="914400"/>
          </a:xfrm>
          <a:prstGeom prst="rect">
            <a:avLst/>
          </a:prstGeom>
          <a:noFill/>
          <a:ln/>
        </p:spPr>
        <p:txBody>
          <a:bodyPr wrap="square" lIns="0" tIns="0" rIns="0" bIns="0" rtlCol="0" anchor="ctr"/>
          <a:lstStyle/>
          <a:p>
            <a:pPr indent="0" marL="0">
              <a:buNone/>
            </a:pPr>
            <a:r>
              <a:rPr lang="en-US" sz="4000" b="1" dirty="0">
                <a:solidFill>
                  <a:srgbClr val="F4F1EA"/>
                </a:solidFill>
                <a:latin typeface="Malgun Gothic" pitchFamily="34" charset="0"/>
                <a:ea typeface="Malgun Gothic" pitchFamily="34" charset="-122"/>
                <a:cs typeface="Malgun Gothic" pitchFamily="34" charset="-120"/>
              </a:rPr>
              <a:t>의명학 공식이란</a:t>
            </a:r>
            <a:endParaRPr lang="en-US" sz="4000" dirty="0"/>
          </a:p>
        </p:txBody>
      </p:sp>
      <p:sp>
        <p:nvSpPr>
          <p:cNvPr id="4" name="Text 2"/>
          <p:cNvSpPr txBox="1"/>
          <p:nvPr/>
        </p:nvSpPr>
        <p:spPr>
          <a:xfrm>
            <a:off x="548640" y="4069080"/>
            <a:ext cx="9144000" cy="914400"/>
          </a:xfrm>
          <a:prstGeom prst="rect">
            <a:avLst/>
          </a:prstGeom>
          <a:noFill/>
          <a:ln/>
        </p:spPr>
        <p:txBody>
          <a:bodyPr wrap="square" lIns="0" tIns="0" rIns="0" bIns="0" rtlCol="0" anchor="t"/>
          <a:lstStyle/>
          <a:p>
            <a:pPr indent="0" marL="0">
              <a:buNone/>
            </a:pPr>
            <a:r>
              <a:rPr lang="en-US" sz="1800" dirty="0">
                <a:solidFill>
                  <a:srgbClr val="A9A4B5"/>
                </a:solidFill>
                <a:latin typeface="Malgun Gothic" pitchFamily="34" charset="0"/>
                <a:ea typeface="Malgun Gothic" pitchFamily="34" charset="-122"/>
                <a:cs typeface="Malgun Gothic" pitchFamily="34" charset="-120"/>
              </a:rPr>
              <a:t>천간 넷 + 지지 넷 = 여덟 글자</a:t>
            </a:r>
            <a:endParaRPr lang="en-US" sz="1800" dirty="0"/>
          </a:p>
        </p:txBody>
      </p:sp>
      <p:sp>
        <p:nvSpPr>
          <p:cNvPr id="5" name="Text 3"/>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A9A4B5"/>
                </a:solidFill>
                <a:latin typeface="Malgun Gothic" pitchFamily="34" charset="0"/>
                <a:ea typeface="Malgun Gothic" pitchFamily="34" charset="-122"/>
                <a:cs typeface="Malgun Gothic" pitchFamily="34" charset="-120"/>
              </a:rPr>
              <a:t>의명보감 1 기초편 · 제5장 의명학 공식</a:t>
            </a:r>
            <a:endParaRPr lang="en-US" sz="1000" dirty="0"/>
          </a:p>
        </p:txBody>
      </p:sp>
      <p:sp>
        <p:nvSpPr>
          <p:cNvPr id="6" name="Text 4"/>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A9A4B5"/>
                </a:solidFill>
                <a:latin typeface="Malgun Gothic" pitchFamily="34" charset="0"/>
                <a:ea typeface="Malgun Gothic" pitchFamily="34" charset="-122"/>
                <a:cs typeface="Malgun Gothic"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300" b="1" dirty="0">
                <a:solidFill>
                  <a:srgbClr val="B23A2E"/>
                </a:solidFill>
                <a:latin typeface="Malgun Gothic" pitchFamily="34" charset="0"/>
                <a:ea typeface="Malgun Gothic" pitchFamily="34" charset="-122"/>
                <a:cs typeface="Malgun Gothic" pitchFamily="34" charset="-120"/>
              </a:rPr>
              <a:t>01 의명학 공식이란</a:t>
            </a:r>
            <a:endParaRPr lang="en-US" sz="13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000" b="1" dirty="0">
                <a:solidFill>
                  <a:srgbClr val="22212A"/>
                </a:solidFill>
                <a:latin typeface="Malgun Gothic" pitchFamily="34" charset="0"/>
                <a:ea typeface="Malgun Gothic" pitchFamily="34" charset="-122"/>
                <a:cs typeface="Malgun Gothic" pitchFamily="34" charset="-120"/>
              </a:rPr>
              <a:t>의명학 공식의 정의</a:t>
            </a:r>
            <a:endParaRPr lang="en-US" sz="3000" dirty="0"/>
          </a:p>
        </p:txBody>
      </p:sp>
      <p:sp>
        <p:nvSpPr>
          <p:cNvPr id="4" name="Text 2"/>
          <p:cNvSpPr txBox="1"/>
          <p:nvPr/>
        </p:nvSpPr>
        <p:spPr>
          <a:xfrm>
            <a:off x="548640" y="1554480"/>
            <a:ext cx="7223760" cy="4572000"/>
          </a:xfrm>
          <a:prstGeom prst="rect">
            <a:avLst/>
          </a:prstGeom>
          <a:noFill/>
          <a:ln/>
        </p:spPr>
        <p:txBody>
          <a:bodyPr wrap="square" lIns="0" tIns="0" rIns="0" bIns="0" rtlCol="0" anchor="t"/>
          <a:lstStyle/>
          <a:p>
            <a:pPr indent="0" marL="0">
              <a:lnSpc>
                <a:spcPct val="115000"/>
              </a:lnSpc>
              <a:buNone/>
            </a:pPr>
            <a:r>
              <a:rPr lang="en-US" sz="1700" b="1" dirty="0">
                <a:solidFill>
                  <a:srgbClr val="22212A"/>
                </a:solidFill>
                <a:latin typeface="Malgun Gothic" pitchFamily="34" charset="0"/>
                <a:ea typeface="Malgun Gothic" pitchFamily="34" charset="-122"/>
                <a:cs typeface="Malgun Gothic" pitchFamily="34" charset="-120"/>
              </a:rPr>
              <a:t>정의</a:t>
            </a:r>
            <a:endParaRPr lang="en-US" sz="1700" dirty="0"/>
          </a:p>
          <a:p>
            <a:pPr indent="0" marL="0">
              <a:lnSpc>
                <a:spcPct val="115000"/>
              </a:lnSpc>
              <a:spcAft>
                <a:spcPts val="1600"/>
              </a:spcAft>
              <a:buNone/>
            </a:pPr>
            <a:r>
              <a:rPr lang="en-US" sz="1500" dirty="0">
                <a:solidFill>
                  <a:srgbClr val="6B6778"/>
                </a:solidFill>
                <a:latin typeface="Malgun Gothic" pitchFamily="34" charset="0"/>
                <a:ea typeface="Malgun Gothic" pitchFamily="34" charset="-122"/>
                <a:cs typeface="Malgun Gothic" pitchFamily="34" charset="-120"/>
              </a:rPr>
              <a:t>육십갑자로 연·월·일·시 출생 정보를 나열한 부호 체계. 천간 4자 + 지지 4자 = 여덟 글자. 한 인간의 건강과 명운을 모두 담고 있다.</a:t>
            </a:r>
            <a:endParaRPr lang="en-US" sz="1700" dirty="0"/>
          </a:p>
          <a:p>
            <a:pPr indent="0" marL="0">
              <a:lnSpc>
                <a:spcPct val="115000"/>
              </a:lnSpc>
              <a:buNone/>
            </a:pPr>
            <a:r>
              <a:rPr lang="en-US" sz="1700" b="1" dirty="0">
                <a:solidFill>
                  <a:srgbClr val="22212A"/>
                </a:solidFill>
                <a:latin typeface="Malgun Gothic" pitchFamily="34" charset="0"/>
                <a:ea typeface="Malgun Gothic" pitchFamily="34" charset="-122"/>
                <a:cs typeface="Malgun Gothic" pitchFamily="34" charset="-120"/>
              </a:rPr>
              <a:t>"사주팔자"와 같은 것</a:t>
            </a:r>
            <a:endParaRPr lang="en-US" sz="1700" dirty="0"/>
          </a:p>
          <a:p>
            <a:pPr indent="0" marL="0">
              <a:lnSpc>
                <a:spcPct val="115000"/>
              </a:lnSpc>
              <a:spcAft>
                <a:spcPts val="1600"/>
              </a:spcAft>
              <a:buNone/>
            </a:pPr>
            <a:r>
              <a:rPr lang="en-US" sz="1500" dirty="0">
                <a:solidFill>
                  <a:srgbClr val="6B6778"/>
                </a:solidFill>
                <a:latin typeface="Malgun Gothic" pitchFamily="34" charset="0"/>
                <a:ea typeface="Malgun Gothic" pitchFamily="34" charset="-122"/>
                <a:cs typeface="Malgun Gothic" pitchFamily="34" charset="-120"/>
              </a:rPr>
              <a:t>책의 각주: 명운 공식은 흔히 말하는 사주팔자와 동일하다. 세간의 편견을 벗어나려고 "의명학 공식"이라 부른다.</a:t>
            </a:r>
            <a:endParaRPr lang="en-US" sz="1700" dirty="0"/>
          </a:p>
          <a:p>
            <a:pPr indent="0" marL="0">
              <a:lnSpc>
                <a:spcPct val="115000"/>
              </a:lnSpc>
              <a:buNone/>
            </a:pPr>
            <a:r>
              <a:rPr lang="en-US" sz="1700" b="1" dirty="0">
                <a:solidFill>
                  <a:srgbClr val="22212A"/>
                </a:solidFill>
                <a:latin typeface="Malgun Gothic" pitchFamily="34" charset="0"/>
                <a:ea typeface="Malgun Gothic" pitchFamily="34" charset="-122"/>
                <a:cs typeface="Malgun Gothic" pitchFamily="34" charset="-120"/>
              </a:rPr>
              <a:t>명(命)과 운(運)</a:t>
            </a:r>
            <a:endParaRPr lang="en-US" sz="1700" dirty="0"/>
          </a:p>
          <a:p>
            <a:pPr indent="0" marL="0">
              <a:lnSpc>
                <a:spcPct val="115000"/>
              </a:lnSpc>
              <a:spcAft>
                <a:spcPts val="1600"/>
              </a:spcAft>
              <a:buNone/>
            </a:pPr>
            <a:r>
              <a:rPr lang="en-US" sz="1500" dirty="0">
                <a:solidFill>
                  <a:srgbClr val="6B6778"/>
                </a:solidFill>
                <a:latin typeface="Malgun Gothic" pitchFamily="34" charset="0"/>
                <a:ea typeface="Malgun Gothic" pitchFamily="34" charset="-122"/>
                <a:cs typeface="Malgun Gothic" pitchFamily="34" charset="-120"/>
              </a:rPr>
              <a:t>命: 태어나는 순간 몸에 굳어진 오행 기운 → 체질·성격·적성 / 運: 살면서 만나는 천지 기운 → 대운(10년), 세운(1년), 월·일·시운</a:t>
            </a:r>
            <a:endParaRPr lang="en-US" sz="1700" dirty="0"/>
          </a:p>
          <a:p>
            <a:pPr indent="0" marL="0">
              <a:lnSpc>
                <a:spcPct val="115000"/>
              </a:lnSpc>
              <a:buNone/>
            </a:pPr>
            <a:r>
              <a:rPr lang="en-US" sz="1700" b="1" dirty="0">
                <a:solidFill>
                  <a:srgbClr val="22212A"/>
                </a:solidFill>
                <a:latin typeface="Malgun Gothic" pitchFamily="34" charset="0"/>
                <a:ea typeface="Malgun Gothic" pitchFamily="34" charset="-122"/>
                <a:cs typeface="Malgun Gothic" pitchFamily="34" charset="-120"/>
              </a:rPr>
              <a:t>풀이 절차</a:t>
            </a:r>
            <a:endParaRPr lang="en-US" sz="1700" dirty="0"/>
          </a:p>
          <a:p>
            <a:pPr indent="0" marL="0">
              <a:lnSpc>
                <a:spcPct val="115000"/>
              </a:lnSpc>
              <a:buNone/>
            </a:pPr>
            <a:r>
              <a:rPr lang="en-US" sz="1500" dirty="0">
                <a:solidFill>
                  <a:srgbClr val="6B6778"/>
                </a:solidFill>
                <a:latin typeface="Malgun Gothic" pitchFamily="34" charset="0"/>
                <a:ea typeface="Malgun Gothic" pitchFamily="34" charset="-122"/>
                <a:cs typeface="Malgun Gothic" pitchFamily="34" charset="-120"/>
              </a:rPr>
              <a:t>① 命에서 넘치는 기운과 모자라는 기운을 찾는다 → ② 運이 필요한 기운인지 보고 체질 변화·질병·운명을 예측해 대비한다</a:t>
            </a:r>
            <a:endParaRPr lang="en-US" sz="1700" dirty="0"/>
          </a:p>
        </p:txBody>
      </p:sp>
      <p:sp>
        <p:nvSpPr>
          <p:cNvPr id="5" name="Shape 3"/>
          <p:cNvSpPr/>
          <p:nvPr/>
        </p:nvSpPr>
        <p:spPr>
          <a:xfrm>
            <a:off x="8229600" y="1554480"/>
            <a:ext cx="3410712" cy="4480560"/>
          </a:xfrm>
          <a:prstGeom prst="roundRect">
            <a:avLst>
              <a:gd name="adj" fmla="val 4021"/>
            </a:avLst>
          </a:prstGeom>
          <a:solidFill>
            <a:srgbClr val="F3F1F6"/>
          </a:solidFill>
          <a:ln w="12700">
            <a:solidFill>
              <a:srgbClr val="F3F1F6"/>
            </a:solidFill>
            <a:prstDash val="solid"/>
          </a:ln>
        </p:spPr>
      </p:sp>
      <p:sp>
        <p:nvSpPr>
          <p:cNvPr id="6" name="Shape 4"/>
          <p:cNvSpPr/>
          <p:nvPr/>
        </p:nvSpPr>
        <p:spPr>
          <a:xfrm>
            <a:off x="8837676" y="1920240"/>
            <a:ext cx="2194560" cy="2194560"/>
          </a:xfrm>
          <a:prstGeom prst="ellipse">
            <a:avLst/>
          </a:prstGeom>
          <a:solidFill>
            <a:srgbClr val="B23A2E"/>
          </a:solidFill>
          <a:ln w="12700">
            <a:solidFill>
              <a:srgbClr val="B23A2E"/>
            </a:solidFill>
            <a:prstDash val="solid"/>
          </a:ln>
        </p:spPr>
      </p:sp>
      <p:sp>
        <p:nvSpPr>
          <p:cNvPr id="7" name="Text 5"/>
          <p:cNvSpPr txBox="1"/>
          <p:nvPr/>
        </p:nvSpPr>
        <p:spPr>
          <a:xfrm>
            <a:off x="8837676" y="1920240"/>
            <a:ext cx="2194560" cy="2194560"/>
          </a:xfrm>
          <a:prstGeom prst="rect">
            <a:avLst/>
          </a:prstGeom>
          <a:noFill/>
          <a:ln/>
        </p:spPr>
        <p:txBody>
          <a:bodyPr wrap="square" lIns="0" tIns="0" rIns="0" bIns="0" rtlCol="0" anchor="ctr"/>
          <a:lstStyle/>
          <a:p>
            <a:pPr algn="ctr" indent="0" marL="0">
              <a:buNone/>
            </a:pPr>
            <a:r>
              <a:rPr lang="en-US" sz="4800" b="1" dirty="0">
                <a:solidFill>
                  <a:srgbClr val="FFFFFF"/>
                </a:solidFill>
                <a:latin typeface="Malgun Gothic" pitchFamily="34" charset="0"/>
                <a:ea typeface="Malgun Gothic" pitchFamily="34" charset="-122"/>
                <a:cs typeface="Malgun Gothic" pitchFamily="34" charset="-120"/>
              </a:rPr>
              <a:t>命運</a:t>
            </a:r>
            <a:endParaRPr lang="en-US" sz="4800" dirty="0"/>
          </a:p>
        </p:txBody>
      </p:sp>
      <p:sp>
        <p:nvSpPr>
          <p:cNvPr id="8" name="Text 6"/>
          <p:cNvSpPr txBox="1"/>
          <p:nvPr/>
        </p:nvSpPr>
        <p:spPr>
          <a:xfrm>
            <a:off x="8412480" y="4343400"/>
            <a:ext cx="3044952" cy="1463040"/>
          </a:xfrm>
          <a:prstGeom prst="rect">
            <a:avLst/>
          </a:prstGeom>
          <a:noFill/>
          <a:ln/>
        </p:spPr>
        <p:txBody>
          <a:bodyPr wrap="square" lIns="0" tIns="0" rIns="0" bIns="0" rtlCol="0" anchor="t"/>
          <a:lstStyle/>
          <a:p>
            <a:pPr algn="ctr" indent="0" marL="0">
              <a:buNone/>
            </a:pPr>
            <a:r>
              <a:rPr lang="en-US" sz="1400" dirty="0">
                <a:solidFill>
                  <a:srgbClr val="22212A"/>
                </a:solidFill>
                <a:latin typeface="Malgun Gothic" pitchFamily="34" charset="0"/>
                <a:ea typeface="Malgun Gothic" pitchFamily="34" charset="-122"/>
                <a:cs typeface="Malgun Gothic" pitchFamily="34" charset="-120"/>
              </a:rPr>
              <a:t>예: 火가 많은 체질은</a:t>
            </a:r>
            <a:endParaRPr lang="en-US" sz="1400" dirty="0"/>
          </a:p>
          <a:p>
            <a:pPr algn="ctr" indent="0" marL="0">
              <a:buNone/>
            </a:pPr>
            <a:r>
              <a:rPr lang="en-US" sz="1400" dirty="0">
                <a:solidFill>
                  <a:srgbClr val="22212A"/>
                </a:solidFill>
                <a:latin typeface="Malgun Gothic" pitchFamily="34" charset="0"/>
                <a:ea typeface="Malgun Gothic" pitchFamily="34" charset="-122"/>
                <a:cs typeface="Malgun Gothic" pitchFamily="34" charset="-120"/>
              </a:rPr>
              <a:t>土·金·水 대운에 건강하고</a:t>
            </a:r>
            <a:endParaRPr lang="en-US" sz="1400" dirty="0"/>
          </a:p>
          <a:p>
            <a:pPr algn="ctr" indent="0" marL="0">
              <a:buNone/>
            </a:pPr>
            <a:r>
              <a:rPr lang="en-US" sz="1400" dirty="0">
                <a:solidFill>
                  <a:srgbClr val="22212A"/>
                </a:solidFill>
                <a:latin typeface="Malgun Gothic" pitchFamily="34" charset="0"/>
                <a:ea typeface="Malgun Gothic" pitchFamily="34" charset="-122"/>
                <a:cs typeface="Malgun Gothic" pitchFamily="34" charset="-120"/>
              </a:rPr>
              <a:t>木·火 대운에 병이 난다</a:t>
            </a:r>
            <a:endParaRPr lang="en-US" sz="1400" dirty="0"/>
          </a:p>
        </p:txBody>
      </p:sp>
      <p:sp>
        <p:nvSpPr>
          <p:cNvPr id="9" name="Text 7"/>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B6778"/>
                </a:solidFill>
                <a:latin typeface="Malgun Gothic" pitchFamily="34" charset="0"/>
                <a:ea typeface="Malgun Gothic" pitchFamily="34" charset="-122"/>
                <a:cs typeface="Malgun Gothic" pitchFamily="34" charset="-120"/>
              </a:rPr>
              <a:t>의명보감 1 기초편 · 제5장 의명학 공식</a:t>
            </a:r>
            <a:endParaRPr lang="en-US" sz="1000" dirty="0"/>
          </a:p>
        </p:txBody>
      </p:sp>
      <p:sp>
        <p:nvSpPr>
          <p:cNvPr id="10" name="Text 8"/>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778"/>
                </a:solidFill>
                <a:latin typeface="Malgun Gothic" pitchFamily="34" charset="0"/>
                <a:ea typeface="Malgun Gothic" pitchFamily="34" charset="-122"/>
                <a:cs typeface="Malgun Gothic"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300" b="1" dirty="0">
                <a:solidFill>
                  <a:srgbClr val="B23A2E"/>
                </a:solidFill>
                <a:latin typeface="Malgun Gothic" pitchFamily="34" charset="0"/>
                <a:ea typeface="Malgun Gothic" pitchFamily="34" charset="-122"/>
                <a:cs typeface="Malgun Gothic" pitchFamily="34" charset="-120"/>
              </a:rPr>
              <a:t>01 의명학 공식이란</a:t>
            </a:r>
            <a:endParaRPr lang="en-US" sz="13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000" b="1" dirty="0">
                <a:solidFill>
                  <a:srgbClr val="22212A"/>
                </a:solidFill>
                <a:latin typeface="Malgun Gothic" pitchFamily="34" charset="0"/>
                <a:ea typeface="Malgun Gothic" pitchFamily="34" charset="-122"/>
                <a:cs typeface="Malgun Gothic" pitchFamily="34" charset="-120"/>
              </a:rPr>
              <a:t>공식의 모양 — 위에서 아래로 年·月·日·時</a:t>
            </a:r>
            <a:endParaRPr lang="en-US" sz="3000" dirty="0"/>
          </a:p>
        </p:txBody>
      </p:sp>
      <p:sp>
        <p:nvSpPr>
          <p:cNvPr id="4" name="Text 2"/>
          <p:cNvSpPr txBox="1"/>
          <p:nvPr/>
        </p:nvSpPr>
        <p:spPr>
          <a:xfrm>
            <a:off x="914400" y="2011680"/>
            <a:ext cx="822960" cy="777240"/>
          </a:xfrm>
          <a:prstGeom prst="rect">
            <a:avLst/>
          </a:prstGeom>
          <a:noFill/>
          <a:ln/>
        </p:spPr>
        <p:txBody>
          <a:bodyPr wrap="square" lIns="0" tIns="0" rIns="0" bIns="0" rtlCol="0" anchor="ctr"/>
          <a:lstStyle/>
          <a:p>
            <a:pPr indent="0" marL="0">
              <a:buNone/>
            </a:pPr>
            <a:r>
              <a:rPr lang="en-US" sz="1400" b="1" dirty="0">
                <a:solidFill>
                  <a:srgbClr val="6B6778"/>
                </a:solidFill>
                <a:latin typeface="Malgun Gothic" pitchFamily="34" charset="0"/>
                <a:ea typeface="Malgun Gothic" pitchFamily="34" charset="-122"/>
                <a:cs typeface="Malgun Gothic" pitchFamily="34" charset="-120"/>
              </a:rPr>
              <a:t>생년</a:t>
            </a:r>
            <a:endParaRPr lang="en-US" sz="1400" dirty="0"/>
          </a:p>
        </p:txBody>
      </p:sp>
      <p:sp>
        <p:nvSpPr>
          <p:cNvPr id="5" name="Shape 3"/>
          <p:cNvSpPr/>
          <p:nvPr/>
        </p:nvSpPr>
        <p:spPr>
          <a:xfrm>
            <a:off x="1828800" y="2011680"/>
            <a:ext cx="777240" cy="777240"/>
          </a:xfrm>
          <a:prstGeom prst="ellipse">
            <a:avLst/>
          </a:prstGeom>
          <a:solidFill>
            <a:srgbClr val="C0392B"/>
          </a:solidFill>
          <a:ln w="12700">
            <a:solidFill>
              <a:srgbClr val="C0392B"/>
            </a:solidFill>
            <a:prstDash val="solid"/>
          </a:ln>
        </p:spPr>
      </p:sp>
      <p:sp>
        <p:nvSpPr>
          <p:cNvPr id="6" name="Text 4"/>
          <p:cNvSpPr txBox="1"/>
          <p:nvPr/>
        </p:nvSpPr>
        <p:spPr>
          <a:xfrm>
            <a:off x="1828800" y="2011680"/>
            <a:ext cx="777240" cy="777240"/>
          </a:xfrm>
          <a:prstGeom prst="rect">
            <a:avLst/>
          </a:prstGeom>
          <a:noFill/>
          <a:ln/>
        </p:spPr>
        <p:txBody>
          <a:bodyPr wrap="square" lIns="0" tIns="0" rIns="0" bIns="0" rtlCol="0" anchor="ctr"/>
          <a:lstStyle/>
          <a:p>
            <a:pPr algn="ctr" indent="0" marL="0">
              <a:buNone/>
            </a:pPr>
            <a:r>
              <a:rPr lang="en-US" sz="2600" b="1" dirty="0">
                <a:solidFill>
                  <a:srgbClr val="FFFFFF"/>
                </a:solidFill>
                <a:latin typeface="Malgun Gothic" pitchFamily="34" charset="0"/>
                <a:ea typeface="Malgun Gothic" pitchFamily="34" charset="-122"/>
                <a:cs typeface="Malgun Gothic" pitchFamily="34" charset="-120"/>
              </a:rPr>
              <a:t>丙</a:t>
            </a:r>
            <a:endParaRPr lang="en-US" sz="2600" dirty="0"/>
          </a:p>
        </p:txBody>
      </p:sp>
      <p:sp>
        <p:nvSpPr>
          <p:cNvPr id="7" name="Shape 5"/>
          <p:cNvSpPr/>
          <p:nvPr/>
        </p:nvSpPr>
        <p:spPr>
          <a:xfrm>
            <a:off x="2697480" y="2011680"/>
            <a:ext cx="777240" cy="777240"/>
          </a:xfrm>
          <a:prstGeom prst="ellipse">
            <a:avLst/>
          </a:prstGeom>
          <a:solidFill>
            <a:srgbClr val="22406E"/>
          </a:solidFill>
          <a:ln w="12700">
            <a:solidFill>
              <a:srgbClr val="22406E"/>
            </a:solidFill>
            <a:prstDash val="solid"/>
          </a:ln>
        </p:spPr>
      </p:sp>
      <p:sp>
        <p:nvSpPr>
          <p:cNvPr id="8" name="Text 6"/>
          <p:cNvSpPr txBox="1"/>
          <p:nvPr/>
        </p:nvSpPr>
        <p:spPr>
          <a:xfrm>
            <a:off x="2697480" y="2011680"/>
            <a:ext cx="777240" cy="777240"/>
          </a:xfrm>
          <a:prstGeom prst="rect">
            <a:avLst/>
          </a:prstGeom>
          <a:noFill/>
          <a:ln/>
        </p:spPr>
        <p:txBody>
          <a:bodyPr wrap="square" lIns="0" tIns="0" rIns="0" bIns="0" rtlCol="0" anchor="ctr"/>
          <a:lstStyle/>
          <a:p>
            <a:pPr algn="ctr" indent="0" marL="0">
              <a:buNone/>
            </a:pPr>
            <a:r>
              <a:rPr lang="en-US" sz="2600" b="1" dirty="0">
                <a:solidFill>
                  <a:srgbClr val="FFFFFF"/>
                </a:solidFill>
                <a:latin typeface="Malgun Gothic" pitchFamily="34" charset="0"/>
                <a:ea typeface="Malgun Gothic" pitchFamily="34" charset="-122"/>
                <a:cs typeface="Malgun Gothic" pitchFamily="34" charset="-120"/>
              </a:rPr>
              <a:t>子</a:t>
            </a:r>
            <a:endParaRPr lang="en-US" sz="2600" dirty="0"/>
          </a:p>
        </p:txBody>
      </p:sp>
      <p:sp>
        <p:nvSpPr>
          <p:cNvPr id="9" name="Text 7"/>
          <p:cNvSpPr txBox="1"/>
          <p:nvPr/>
        </p:nvSpPr>
        <p:spPr>
          <a:xfrm>
            <a:off x="914400" y="2990088"/>
            <a:ext cx="822960" cy="777240"/>
          </a:xfrm>
          <a:prstGeom prst="rect">
            <a:avLst/>
          </a:prstGeom>
          <a:noFill/>
          <a:ln/>
        </p:spPr>
        <p:txBody>
          <a:bodyPr wrap="square" lIns="0" tIns="0" rIns="0" bIns="0" rtlCol="0" anchor="ctr"/>
          <a:lstStyle/>
          <a:p>
            <a:pPr indent="0" marL="0">
              <a:buNone/>
            </a:pPr>
            <a:r>
              <a:rPr lang="en-US" sz="1400" b="1" dirty="0">
                <a:solidFill>
                  <a:srgbClr val="6B6778"/>
                </a:solidFill>
                <a:latin typeface="Malgun Gothic" pitchFamily="34" charset="0"/>
                <a:ea typeface="Malgun Gothic" pitchFamily="34" charset="-122"/>
                <a:cs typeface="Malgun Gothic" pitchFamily="34" charset="-120"/>
              </a:rPr>
              <a:t>생월</a:t>
            </a:r>
            <a:endParaRPr lang="en-US" sz="1400" dirty="0"/>
          </a:p>
        </p:txBody>
      </p:sp>
      <p:sp>
        <p:nvSpPr>
          <p:cNvPr id="10" name="Shape 8"/>
          <p:cNvSpPr/>
          <p:nvPr/>
        </p:nvSpPr>
        <p:spPr>
          <a:xfrm>
            <a:off x="1828800" y="2990088"/>
            <a:ext cx="777240" cy="777240"/>
          </a:xfrm>
          <a:prstGeom prst="ellipse">
            <a:avLst/>
          </a:prstGeom>
          <a:solidFill>
            <a:srgbClr val="22406E"/>
          </a:solidFill>
          <a:ln w="12700">
            <a:solidFill>
              <a:srgbClr val="22406E"/>
            </a:solidFill>
            <a:prstDash val="solid"/>
          </a:ln>
        </p:spPr>
      </p:sp>
      <p:sp>
        <p:nvSpPr>
          <p:cNvPr id="11" name="Text 9"/>
          <p:cNvSpPr txBox="1"/>
          <p:nvPr/>
        </p:nvSpPr>
        <p:spPr>
          <a:xfrm>
            <a:off x="1828800" y="2990088"/>
            <a:ext cx="777240" cy="777240"/>
          </a:xfrm>
          <a:prstGeom prst="rect">
            <a:avLst/>
          </a:prstGeom>
          <a:noFill/>
          <a:ln/>
        </p:spPr>
        <p:txBody>
          <a:bodyPr wrap="square" lIns="0" tIns="0" rIns="0" bIns="0" rtlCol="0" anchor="ctr"/>
          <a:lstStyle/>
          <a:p>
            <a:pPr algn="ctr" indent="0" marL="0">
              <a:buNone/>
            </a:pPr>
            <a:r>
              <a:rPr lang="en-US" sz="2600" b="1" dirty="0">
                <a:solidFill>
                  <a:srgbClr val="FFFFFF"/>
                </a:solidFill>
                <a:latin typeface="Malgun Gothic" pitchFamily="34" charset="0"/>
                <a:ea typeface="Malgun Gothic" pitchFamily="34" charset="-122"/>
                <a:cs typeface="Malgun Gothic" pitchFamily="34" charset="-120"/>
              </a:rPr>
              <a:t>癸</a:t>
            </a:r>
            <a:endParaRPr lang="en-US" sz="2600" dirty="0"/>
          </a:p>
        </p:txBody>
      </p:sp>
      <p:sp>
        <p:nvSpPr>
          <p:cNvPr id="12" name="Shape 10"/>
          <p:cNvSpPr/>
          <p:nvPr/>
        </p:nvSpPr>
        <p:spPr>
          <a:xfrm>
            <a:off x="2697480" y="2990088"/>
            <a:ext cx="777240" cy="777240"/>
          </a:xfrm>
          <a:prstGeom prst="ellipse">
            <a:avLst/>
          </a:prstGeom>
          <a:solidFill>
            <a:srgbClr val="C0392B"/>
          </a:solidFill>
          <a:ln w="12700">
            <a:solidFill>
              <a:srgbClr val="C0392B"/>
            </a:solidFill>
            <a:prstDash val="solid"/>
          </a:ln>
        </p:spPr>
      </p:sp>
      <p:sp>
        <p:nvSpPr>
          <p:cNvPr id="13" name="Text 11"/>
          <p:cNvSpPr txBox="1"/>
          <p:nvPr/>
        </p:nvSpPr>
        <p:spPr>
          <a:xfrm>
            <a:off x="2697480" y="2990088"/>
            <a:ext cx="777240" cy="777240"/>
          </a:xfrm>
          <a:prstGeom prst="rect">
            <a:avLst/>
          </a:prstGeom>
          <a:noFill/>
          <a:ln/>
        </p:spPr>
        <p:txBody>
          <a:bodyPr wrap="square" lIns="0" tIns="0" rIns="0" bIns="0" rtlCol="0" anchor="ctr"/>
          <a:lstStyle/>
          <a:p>
            <a:pPr algn="ctr" indent="0" marL="0">
              <a:buNone/>
            </a:pPr>
            <a:r>
              <a:rPr lang="en-US" sz="2600" b="1" dirty="0">
                <a:solidFill>
                  <a:srgbClr val="FFFFFF"/>
                </a:solidFill>
                <a:latin typeface="Malgun Gothic" pitchFamily="34" charset="0"/>
                <a:ea typeface="Malgun Gothic" pitchFamily="34" charset="-122"/>
                <a:cs typeface="Malgun Gothic" pitchFamily="34" charset="-120"/>
              </a:rPr>
              <a:t>巳</a:t>
            </a:r>
            <a:endParaRPr lang="en-US" sz="2600" dirty="0"/>
          </a:p>
        </p:txBody>
      </p:sp>
      <p:sp>
        <p:nvSpPr>
          <p:cNvPr id="14" name="Text 12"/>
          <p:cNvSpPr txBox="1"/>
          <p:nvPr/>
        </p:nvSpPr>
        <p:spPr>
          <a:xfrm>
            <a:off x="914400" y="3968496"/>
            <a:ext cx="822960" cy="777240"/>
          </a:xfrm>
          <a:prstGeom prst="rect">
            <a:avLst/>
          </a:prstGeom>
          <a:noFill/>
          <a:ln/>
        </p:spPr>
        <p:txBody>
          <a:bodyPr wrap="square" lIns="0" tIns="0" rIns="0" bIns="0" rtlCol="0" anchor="ctr"/>
          <a:lstStyle/>
          <a:p>
            <a:pPr indent="0" marL="0">
              <a:buNone/>
            </a:pPr>
            <a:r>
              <a:rPr lang="en-US" sz="1400" b="1" dirty="0">
                <a:solidFill>
                  <a:srgbClr val="6B6778"/>
                </a:solidFill>
                <a:latin typeface="Malgun Gothic" pitchFamily="34" charset="0"/>
                <a:ea typeface="Malgun Gothic" pitchFamily="34" charset="-122"/>
                <a:cs typeface="Malgun Gothic" pitchFamily="34" charset="-120"/>
              </a:rPr>
              <a:t>생일</a:t>
            </a:r>
            <a:endParaRPr lang="en-US" sz="1400" dirty="0"/>
          </a:p>
        </p:txBody>
      </p:sp>
      <p:sp>
        <p:nvSpPr>
          <p:cNvPr id="15" name="Shape 13"/>
          <p:cNvSpPr/>
          <p:nvPr/>
        </p:nvSpPr>
        <p:spPr>
          <a:xfrm>
            <a:off x="1828800" y="3968496"/>
            <a:ext cx="777240" cy="777240"/>
          </a:xfrm>
          <a:prstGeom prst="ellipse">
            <a:avLst/>
          </a:prstGeom>
          <a:solidFill>
            <a:srgbClr val="3F7D4E"/>
          </a:solidFill>
          <a:ln w="12700">
            <a:solidFill>
              <a:srgbClr val="3F7D4E"/>
            </a:solidFill>
            <a:prstDash val="solid"/>
          </a:ln>
        </p:spPr>
      </p:sp>
      <p:sp>
        <p:nvSpPr>
          <p:cNvPr id="16" name="Text 14"/>
          <p:cNvSpPr txBox="1"/>
          <p:nvPr/>
        </p:nvSpPr>
        <p:spPr>
          <a:xfrm>
            <a:off x="1828800" y="3968496"/>
            <a:ext cx="777240" cy="777240"/>
          </a:xfrm>
          <a:prstGeom prst="rect">
            <a:avLst/>
          </a:prstGeom>
          <a:noFill/>
          <a:ln/>
        </p:spPr>
        <p:txBody>
          <a:bodyPr wrap="square" lIns="0" tIns="0" rIns="0" bIns="0" rtlCol="0" anchor="ctr"/>
          <a:lstStyle/>
          <a:p>
            <a:pPr algn="ctr" indent="0" marL="0">
              <a:buNone/>
            </a:pPr>
            <a:r>
              <a:rPr lang="en-US" sz="2600" b="1" dirty="0">
                <a:solidFill>
                  <a:srgbClr val="FFFFFF"/>
                </a:solidFill>
                <a:latin typeface="Malgun Gothic" pitchFamily="34" charset="0"/>
                <a:ea typeface="Malgun Gothic" pitchFamily="34" charset="-122"/>
                <a:cs typeface="Malgun Gothic" pitchFamily="34" charset="-120"/>
              </a:rPr>
              <a:t>乙</a:t>
            </a:r>
            <a:endParaRPr lang="en-US" sz="2600" dirty="0"/>
          </a:p>
        </p:txBody>
      </p:sp>
      <p:sp>
        <p:nvSpPr>
          <p:cNvPr id="17" name="Shape 15"/>
          <p:cNvSpPr/>
          <p:nvPr/>
        </p:nvSpPr>
        <p:spPr>
          <a:xfrm>
            <a:off x="2697480" y="3968496"/>
            <a:ext cx="777240" cy="777240"/>
          </a:xfrm>
          <a:prstGeom prst="ellipse">
            <a:avLst/>
          </a:prstGeom>
          <a:solidFill>
            <a:srgbClr val="B8892A"/>
          </a:solidFill>
          <a:ln w="12700">
            <a:solidFill>
              <a:srgbClr val="B8892A"/>
            </a:solidFill>
            <a:prstDash val="solid"/>
          </a:ln>
        </p:spPr>
      </p:sp>
      <p:sp>
        <p:nvSpPr>
          <p:cNvPr id="18" name="Text 16"/>
          <p:cNvSpPr txBox="1"/>
          <p:nvPr/>
        </p:nvSpPr>
        <p:spPr>
          <a:xfrm>
            <a:off x="2697480" y="3968496"/>
            <a:ext cx="777240" cy="777240"/>
          </a:xfrm>
          <a:prstGeom prst="rect">
            <a:avLst/>
          </a:prstGeom>
          <a:noFill/>
          <a:ln/>
        </p:spPr>
        <p:txBody>
          <a:bodyPr wrap="square" lIns="0" tIns="0" rIns="0" bIns="0" rtlCol="0" anchor="ctr"/>
          <a:lstStyle/>
          <a:p>
            <a:pPr algn="ctr" indent="0" marL="0">
              <a:buNone/>
            </a:pPr>
            <a:r>
              <a:rPr lang="en-US" sz="2600" b="1" dirty="0">
                <a:solidFill>
                  <a:srgbClr val="FFFFFF"/>
                </a:solidFill>
                <a:latin typeface="Malgun Gothic" pitchFamily="34" charset="0"/>
                <a:ea typeface="Malgun Gothic" pitchFamily="34" charset="-122"/>
                <a:cs typeface="Malgun Gothic" pitchFamily="34" charset="-120"/>
              </a:rPr>
              <a:t>丑</a:t>
            </a:r>
            <a:endParaRPr lang="en-US" sz="2600" dirty="0"/>
          </a:p>
        </p:txBody>
      </p:sp>
      <p:sp>
        <p:nvSpPr>
          <p:cNvPr id="19" name="Shape 17"/>
          <p:cNvSpPr/>
          <p:nvPr/>
        </p:nvSpPr>
        <p:spPr>
          <a:xfrm>
            <a:off x="1773936" y="3913632"/>
            <a:ext cx="886968" cy="886968"/>
          </a:xfrm>
          <a:prstGeom prst="roundRect">
            <a:avLst>
              <a:gd name="adj" fmla="val 10309"/>
            </a:avLst>
          </a:prstGeom>
          <a:solidFill>
            <a:srgbClr val="FFFFFF">
              <a:alpha val="0"/>
            </a:srgbClr>
          </a:solidFill>
          <a:ln w="31750">
            <a:solidFill>
              <a:srgbClr val="B23A2E"/>
            </a:solidFill>
            <a:prstDash val="solid"/>
          </a:ln>
        </p:spPr>
      </p:sp>
      <p:sp>
        <p:nvSpPr>
          <p:cNvPr id="20" name="Text 18"/>
          <p:cNvSpPr txBox="1"/>
          <p:nvPr/>
        </p:nvSpPr>
        <p:spPr>
          <a:xfrm>
            <a:off x="914400" y="4946904"/>
            <a:ext cx="822960" cy="777240"/>
          </a:xfrm>
          <a:prstGeom prst="rect">
            <a:avLst/>
          </a:prstGeom>
          <a:noFill/>
          <a:ln/>
        </p:spPr>
        <p:txBody>
          <a:bodyPr wrap="square" lIns="0" tIns="0" rIns="0" bIns="0" rtlCol="0" anchor="ctr"/>
          <a:lstStyle/>
          <a:p>
            <a:pPr indent="0" marL="0">
              <a:buNone/>
            </a:pPr>
            <a:r>
              <a:rPr lang="en-US" sz="1400" b="1" dirty="0">
                <a:solidFill>
                  <a:srgbClr val="6B6778"/>
                </a:solidFill>
                <a:latin typeface="Malgun Gothic" pitchFamily="34" charset="0"/>
                <a:ea typeface="Malgun Gothic" pitchFamily="34" charset="-122"/>
                <a:cs typeface="Malgun Gothic" pitchFamily="34" charset="-120"/>
              </a:rPr>
              <a:t>생시</a:t>
            </a:r>
            <a:endParaRPr lang="en-US" sz="1400" dirty="0"/>
          </a:p>
        </p:txBody>
      </p:sp>
      <p:sp>
        <p:nvSpPr>
          <p:cNvPr id="21" name="Shape 19"/>
          <p:cNvSpPr/>
          <p:nvPr/>
        </p:nvSpPr>
        <p:spPr>
          <a:xfrm>
            <a:off x="1828800" y="4946904"/>
            <a:ext cx="777240" cy="777240"/>
          </a:xfrm>
          <a:prstGeom prst="ellipse">
            <a:avLst/>
          </a:prstGeom>
          <a:solidFill>
            <a:srgbClr val="3F7D4E"/>
          </a:solidFill>
          <a:ln w="12700">
            <a:solidFill>
              <a:srgbClr val="3F7D4E"/>
            </a:solidFill>
            <a:prstDash val="solid"/>
          </a:ln>
        </p:spPr>
      </p:sp>
      <p:sp>
        <p:nvSpPr>
          <p:cNvPr id="22" name="Text 20"/>
          <p:cNvSpPr txBox="1"/>
          <p:nvPr/>
        </p:nvSpPr>
        <p:spPr>
          <a:xfrm>
            <a:off x="1828800" y="4946904"/>
            <a:ext cx="777240" cy="777240"/>
          </a:xfrm>
          <a:prstGeom prst="rect">
            <a:avLst/>
          </a:prstGeom>
          <a:noFill/>
          <a:ln/>
        </p:spPr>
        <p:txBody>
          <a:bodyPr wrap="square" lIns="0" tIns="0" rIns="0" bIns="0" rtlCol="0" anchor="ctr"/>
          <a:lstStyle/>
          <a:p>
            <a:pPr algn="ctr" indent="0" marL="0">
              <a:buNone/>
            </a:pPr>
            <a:r>
              <a:rPr lang="en-US" sz="2600" b="1" dirty="0">
                <a:solidFill>
                  <a:srgbClr val="FFFFFF"/>
                </a:solidFill>
                <a:latin typeface="Malgun Gothic" pitchFamily="34" charset="0"/>
                <a:ea typeface="Malgun Gothic" pitchFamily="34" charset="-122"/>
                <a:cs typeface="Malgun Gothic" pitchFamily="34" charset="-120"/>
              </a:rPr>
              <a:t>乙</a:t>
            </a:r>
            <a:endParaRPr lang="en-US" sz="2600" dirty="0"/>
          </a:p>
        </p:txBody>
      </p:sp>
      <p:sp>
        <p:nvSpPr>
          <p:cNvPr id="23" name="Shape 21"/>
          <p:cNvSpPr/>
          <p:nvPr/>
        </p:nvSpPr>
        <p:spPr>
          <a:xfrm>
            <a:off x="2697480" y="4946904"/>
            <a:ext cx="777240" cy="777240"/>
          </a:xfrm>
          <a:prstGeom prst="ellipse">
            <a:avLst/>
          </a:prstGeom>
          <a:solidFill>
            <a:srgbClr val="6E737B"/>
          </a:solidFill>
          <a:ln w="12700">
            <a:solidFill>
              <a:srgbClr val="6E737B"/>
            </a:solidFill>
            <a:prstDash val="solid"/>
          </a:ln>
        </p:spPr>
      </p:sp>
      <p:sp>
        <p:nvSpPr>
          <p:cNvPr id="24" name="Text 22"/>
          <p:cNvSpPr txBox="1"/>
          <p:nvPr/>
        </p:nvSpPr>
        <p:spPr>
          <a:xfrm>
            <a:off x="2697480" y="4946904"/>
            <a:ext cx="777240" cy="777240"/>
          </a:xfrm>
          <a:prstGeom prst="rect">
            <a:avLst/>
          </a:prstGeom>
          <a:noFill/>
          <a:ln/>
        </p:spPr>
        <p:txBody>
          <a:bodyPr wrap="square" lIns="0" tIns="0" rIns="0" bIns="0" rtlCol="0" anchor="ctr"/>
          <a:lstStyle/>
          <a:p>
            <a:pPr algn="ctr" indent="0" marL="0">
              <a:buNone/>
            </a:pPr>
            <a:r>
              <a:rPr lang="en-US" sz="2600" b="1" dirty="0">
                <a:solidFill>
                  <a:srgbClr val="FFFFFF"/>
                </a:solidFill>
                <a:latin typeface="Malgun Gothic" pitchFamily="34" charset="0"/>
                <a:ea typeface="Malgun Gothic" pitchFamily="34" charset="-122"/>
                <a:cs typeface="Malgun Gothic" pitchFamily="34" charset="-120"/>
              </a:rPr>
              <a:t>酉</a:t>
            </a:r>
            <a:endParaRPr lang="en-US" sz="2600" dirty="0"/>
          </a:p>
        </p:txBody>
      </p:sp>
      <p:sp>
        <p:nvSpPr>
          <p:cNvPr id="25" name="Text 23"/>
          <p:cNvSpPr txBox="1"/>
          <p:nvPr/>
        </p:nvSpPr>
        <p:spPr>
          <a:xfrm>
            <a:off x="1828800" y="1664208"/>
            <a:ext cx="777240" cy="274320"/>
          </a:xfrm>
          <a:prstGeom prst="rect">
            <a:avLst/>
          </a:prstGeom>
          <a:noFill/>
          <a:ln/>
        </p:spPr>
        <p:txBody>
          <a:bodyPr wrap="square" lIns="0" tIns="0" rIns="0" bIns="0" rtlCol="0" anchor="ctr"/>
          <a:lstStyle/>
          <a:p>
            <a:pPr algn="ctr" indent="0" marL="0">
              <a:buNone/>
            </a:pPr>
            <a:r>
              <a:rPr lang="en-US" sz="1100" dirty="0">
                <a:solidFill>
                  <a:srgbClr val="6B6778"/>
                </a:solidFill>
                <a:latin typeface="Malgun Gothic" pitchFamily="34" charset="0"/>
                <a:ea typeface="Malgun Gothic" pitchFamily="34" charset="-122"/>
                <a:cs typeface="Malgun Gothic" pitchFamily="34" charset="-120"/>
              </a:rPr>
              <a:t>천간</a:t>
            </a:r>
            <a:endParaRPr lang="en-US" sz="1100" dirty="0"/>
          </a:p>
        </p:txBody>
      </p:sp>
      <p:sp>
        <p:nvSpPr>
          <p:cNvPr id="26" name="Text 24"/>
          <p:cNvSpPr txBox="1"/>
          <p:nvPr/>
        </p:nvSpPr>
        <p:spPr>
          <a:xfrm>
            <a:off x="2697480" y="1664208"/>
            <a:ext cx="777240" cy="274320"/>
          </a:xfrm>
          <a:prstGeom prst="rect">
            <a:avLst/>
          </a:prstGeom>
          <a:noFill/>
          <a:ln/>
        </p:spPr>
        <p:txBody>
          <a:bodyPr wrap="square" lIns="0" tIns="0" rIns="0" bIns="0" rtlCol="0" anchor="ctr"/>
          <a:lstStyle/>
          <a:p>
            <a:pPr algn="ctr" indent="0" marL="0">
              <a:buNone/>
            </a:pPr>
            <a:r>
              <a:rPr lang="en-US" sz="1100" dirty="0">
                <a:solidFill>
                  <a:srgbClr val="6B6778"/>
                </a:solidFill>
                <a:latin typeface="Malgun Gothic" pitchFamily="34" charset="0"/>
                <a:ea typeface="Malgun Gothic" pitchFamily="34" charset="-122"/>
                <a:cs typeface="Malgun Gothic" pitchFamily="34" charset="-120"/>
              </a:rPr>
              <a:t>지지</a:t>
            </a:r>
            <a:endParaRPr lang="en-US" sz="1100" dirty="0"/>
          </a:p>
        </p:txBody>
      </p:sp>
      <p:sp>
        <p:nvSpPr>
          <p:cNvPr id="27" name="Shape 25"/>
          <p:cNvSpPr/>
          <p:nvPr/>
        </p:nvSpPr>
        <p:spPr>
          <a:xfrm>
            <a:off x="5120640" y="1874520"/>
            <a:ext cx="6522415" cy="868680"/>
          </a:xfrm>
          <a:prstGeom prst="roundRect">
            <a:avLst>
              <a:gd name="adj" fmla="val 8421"/>
            </a:avLst>
          </a:prstGeom>
          <a:solidFill>
            <a:srgbClr val="F3F1F6"/>
          </a:solidFill>
          <a:ln w="12700">
            <a:solidFill>
              <a:srgbClr val="F3F1F6"/>
            </a:solidFill>
            <a:prstDash val="solid"/>
          </a:ln>
        </p:spPr>
      </p:sp>
      <p:sp>
        <p:nvSpPr>
          <p:cNvPr id="28" name="Text 26"/>
          <p:cNvSpPr txBox="1"/>
          <p:nvPr/>
        </p:nvSpPr>
        <p:spPr>
          <a:xfrm>
            <a:off x="5349240" y="1874520"/>
            <a:ext cx="6065215" cy="868680"/>
          </a:xfrm>
          <a:prstGeom prst="rect">
            <a:avLst/>
          </a:prstGeom>
          <a:noFill/>
          <a:ln/>
        </p:spPr>
        <p:txBody>
          <a:bodyPr wrap="square" lIns="0" tIns="0" rIns="0" bIns="0" rtlCol="0" anchor="ctr"/>
          <a:lstStyle/>
          <a:p>
            <a:pPr indent="0" marL="0">
              <a:buNone/>
            </a:pPr>
            <a:r>
              <a:rPr lang="en-US" sz="1600" b="1" dirty="0">
                <a:solidFill>
                  <a:srgbClr val="22212A"/>
                </a:solidFill>
                <a:latin typeface="Malgun Gothic" pitchFamily="34" charset="0"/>
                <a:ea typeface="Malgun Gothic" pitchFamily="34" charset="-122"/>
                <a:cs typeface="Malgun Gothic" pitchFamily="34" charset="-120"/>
              </a:rPr>
              <a:t>생년 · 생월 · 생일</a:t>
            </a:r>
            <a:endParaRPr lang="en-US" sz="1600" dirty="0"/>
          </a:p>
          <a:p>
            <a:pPr indent="0" marL="0">
              <a:buNone/>
            </a:pPr>
            <a:r>
              <a:rPr lang="en-US" sz="1300" dirty="0">
                <a:solidFill>
                  <a:srgbClr val="6B6778"/>
                </a:solidFill>
                <a:latin typeface="Malgun Gothic" pitchFamily="34" charset="0"/>
                <a:ea typeface="Malgun Gothic" pitchFamily="34" charset="-122"/>
                <a:cs typeface="Malgun Gothic" pitchFamily="34" charset="-120"/>
              </a:rPr>
              <a:t>여섯 글자는 만세력에서 찾는다 (연·월은 절기 기준, 일은 무관)</a:t>
            </a:r>
            <a:endParaRPr lang="en-US" sz="1600" dirty="0"/>
          </a:p>
        </p:txBody>
      </p:sp>
      <p:sp>
        <p:nvSpPr>
          <p:cNvPr id="29" name="Shape 27"/>
          <p:cNvSpPr/>
          <p:nvPr/>
        </p:nvSpPr>
        <p:spPr>
          <a:xfrm>
            <a:off x="5120640" y="2898648"/>
            <a:ext cx="6522415" cy="868680"/>
          </a:xfrm>
          <a:prstGeom prst="roundRect">
            <a:avLst>
              <a:gd name="adj" fmla="val 8421"/>
            </a:avLst>
          </a:prstGeom>
          <a:solidFill>
            <a:srgbClr val="F3F1F6"/>
          </a:solidFill>
          <a:ln w="12700">
            <a:solidFill>
              <a:srgbClr val="F3F1F6"/>
            </a:solidFill>
            <a:prstDash val="solid"/>
          </a:ln>
        </p:spPr>
      </p:sp>
      <p:sp>
        <p:nvSpPr>
          <p:cNvPr id="30" name="Text 28"/>
          <p:cNvSpPr txBox="1"/>
          <p:nvPr/>
        </p:nvSpPr>
        <p:spPr>
          <a:xfrm>
            <a:off x="5349240" y="2898648"/>
            <a:ext cx="6065215" cy="868680"/>
          </a:xfrm>
          <a:prstGeom prst="rect">
            <a:avLst/>
          </a:prstGeom>
          <a:noFill/>
          <a:ln/>
        </p:spPr>
        <p:txBody>
          <a:bodyPr wrap="square" lIns="0" tIns="0" rIns="0" bIns="0" rtlCol="0" anchor="ctr"/>
          <a:lstStyle/>
          <a:p>
            <a:pPr indent="0" marL="0">
              <a:buNone/>
            </a:pPr>
            <a:r>
              <a:rPr lang="en-US" sz="1600" b="1" dirty="0">
                <a:solidFill>
                  <a:srgbClr val="22212A"/>
                </a:solidFill>
                <a:latin typeface="Malgun Gothic" pitchFamily="34" charset="0"/>
                <a:ea typeface="Malgun Gothic" pitchFamily="34" charset="-122"/>
                <a:cs typeface="Malgun Gothic" pitchFamily="34" charset="-120"/>
              </a:rPr>
              <a:t>생시</a:t>
            </a:r>
            <a:endParaRPr lang="en-US" sz="1600" dirty="0"/>
          </a:p>
          <a:p>
            <a:pPr indent="0" marL="0">
              <a:buNone/>
            </a:pPr>
            <a:r>
              <a:rPr lang="en-US" sz="1300" dirty="0">
                <a:solidFill>
                  <a:srgbClr val="6B6778"/>
                </a:solidFill>
                <a:latin typeface="Malgun Gothic" pitchFamily="34" charset="0"/>
                <a:ea typeface="Malgun Gothic" pitchFamily="34" charset="-122"/>
                <a:cs typeface="Malgun Gothic" pitchFamily="34" charset="-120"/>
              </a:rPr>
              <a:t>두 글자는 만세력에 없으므로 일간으로 계산한다 (시두법)</a:t>
            </a:r>
            <a:endParaRPr lang="en-US" sz="1600" dirty="0"/>
          </a:p>
        </p:txBody>
      </p:sp>
      <p:sp>
        <p:nvSpPr>
          <p:cNvPr id="31" name="Shape 29"/>
          <p:cNvSpPr/>
          <p:nvPr/>
        </p:nvSpPr>
        <p:spPr>
          <a:xfrm>
            <a:off x="5120640" y="3922776"/>
            <a:ext cx="6522415" cy="868680"/>
          </a:xfrm>
          <a:prstGeom prst="roundRect">
            <a:avLst>
              <a:gd name="adj" fmla="val 8421"/>
            </a:avLst>
          </a:prstGeom>
          <a:solidFill>
            <a:srgbClr val="F3F1F6"/>
          </a:solidFill>
          <a:ln w="12700">
            <a:solidFill>
              <a:srgbClr val="F3F1F6"/>
            </a:solidFill>
            <a:prstDash val="solid"/>
          </a:ln>
        </p:spPr>
      </p:sp>
      <p:sp>
        <p:nvSpPr>
          <p:cNvPr id="32" name="Text 30"/>
          <p:cNvSpPr txBox="1"/>
          <p:nvPr/>
        </p:nvSpPr>
        <p:spPr>
          <a:xfrm>
            <a:off x="5349240" y="3922776"/>
            <a:ext cx="6065215" cy="868680"/>
          </a:xfrm>
          <a:prstGeom prst="rect">
            <a:avLst/>
          </a:prstGeom>
          <a:noFill/>
          <a:ln/>
        </p:spPr>
        <p:txBody>
          <a:bodyPr wrap="square" lIns="0" tIns="0" rIns="0" bIns="0" rtlCol="0" anchor="ctr"/>
          <a:lstStyle/>
          <a:p>
            <a:pPr indent="0" marL="0">
              <a:buNone/>
            </a:pPr>
            <a:r>
              <a:rPr lang="en-US" sz="1600" b="1" dirty="0">
                <a:solidFill>
                  <a:srgbClr val="B23A2E"/>
                </a:solidFill>
                <a:latin typeface="Malgun Gothic" pitchFamily="34" charset="0"/>
                <a:ea typeface="Malgun Gothic" pitchFamily="34" charset="-122"/>
                <a:cs typeface="Malgun Gothic" pitchFamily="34" charset="-120"/>
              </a:rPr>
              <a:t>일간 = 나</a:t>
            </a:r>
            <a:endParaRPr lang="en-US" sz="1600" dirty="0"/>
          </a:p>
          <a:p>
            <a:pPr indent="0" marL="0">
              <a:buNone/>
            </a:pPr>
            <a:r>
              <a:rPr lang="en-US" sz="1300" dirty="0">
                <a:solidFill>
                  <a:srgbClr val="6B6778"/>
                </a:solidFill>
                <a:latin typeface="Malgun Gothic" pitchFamily="34" charset="0"/>
                <a:ea typeface="Malgun Gothic" pitchFamily="34" charset="-122"/>
                <a:cs typeface="Malgun Gothic" pitchFamily="34" charset="-120"/>
              </a:rPr>
              <a:t>혼(魂)은 하늘(천간)에서 오고, 육신은 흙(지지)에서 와서 흙으로 돌아간다</a:t>
            </a:r>
            <a:endParaRPr lang="en-US" sz="1600" dirty="0"/>
          </a:p>
        </p:txBody>
      </p:sp>
      <p:sp>
        <p:nvSpPr>
          <p:cNvPr id="33" name="Shape 31"/>
          <p:cNvSpPr/>
          <p:nvPr/>
        </p:nvSpPr>
        <p:spPr>
          <a:xfrm>
            <a:off x="5120640" y="4946904"/>
            <a:ext cx="6522415" cy="868680"/>
          </a:xfrm>
          <a:prstGeom prst="roundRect">
            <a:avLst>
              <a:gd name="adj" fmla="val 8421"/>
            </a:avLst>
          </a:prstGeom>
          <a:solidFill>
            <a:srgbClr val="F3F1F6"/>
          </a:solidFill>
          <a:ln w="12700">
            <a:solidFill>
              <a:srgbClr val="F3F1F6"/>
            </a:solidFill>
            <a:prstDash val="solid"/>
          </a:ln>
        </p:spPr>
      </p:sp>
      <p:sp>
        <p:nvSpPr>
          <p:cNvPr id="34" name="Text 32"/>
          <p:cNvSpPr txBox="1"/>
          <p:nvPr/>
        </p:nvSpPr>
        <p:spPr>
          <a:xfrm>
            <a:off x="5349240" y="4946904"/>
            <a:ext cx="6065215" cy="868680"/>
          </a:xfrm>
          <a:prstGeom prst="rect">
            <a:avLst/>
          </a:prstGeom>
          <a:noFill/>
          <a:ln/>
        </p:spPr>
        <p:txBody>
          <a:bodyPr wrap="square" lIns="0" tIns="0" rIns="0" bIns="0" rtlCol="0" anchor="ctr"/>
          <a:lstStyle/>
          <a:p>
            <a:pPr indent="0" marL="0">
              <a:buNone/>
            </a:pPr>
            <a:r>
              <a:rPr lang="en-US" sz="1600" b="1" dirty="0">
                <a:solidFill>
                  <a:srgbClr val="22212A"/>
                </a:solidFill>
                <a:latin typeface="Malgun Gothic" pitchFamily="34" charset="0"/>
                <a:ea typeface="Malgun Gothic" pitchFamily="34" charset="-122"/>
                <a:cs typeface="Malgun Gothic" pitchFamily="34" charset="-120"/>
              </a:rPr>
              <a:t>체질과 운명</a:t>
            </a:r>
            <a:endParaRPr lang="en-US" sz="1600" dirty="0"/>
          </a:p>
          <a:p>
            <a:pPr indent="0" marL="0">
              <a:buNone/>
            </a:pPr>
            <a:r>
              <a:rPr lang="en-US" sz="1300" dirty="0">
                <a:solidFill>
                  <a:srgbClr val="6B6778"/>
                </a:solidFill>
                <a:latin typeface="Malgun Gothic" pitchFamily="34" charset="0"/>
                <a:ea typeface="Malgun Gothic" pitchFamily="34" charset="-122"/>
                <a:cs typeface="Malgun Gothic" pitchFamily="34" charset="-120"/>
              </a:rPr>
              <a:t>체질은 공식 전체로, 운명은 일간을 중심으로 판단한다</a:t>
            </a:r>
            <a:endParaRPr lang="en-US" sz="1600" dirty="0"/>
          </a:p>
        </p:txBody>
      </p:sp>
      <p:sp>
        <p:nvSpPr>
          <p:cNvPr id="35" name="Text 33"/>
          <p:cNvSpPr txBox="1"/>
          <p:nvPr/>
        </p:nvSpPr>
        <p:spPr>
          <a:xfrm>
            <a:off x="914400" y="5760720"/>
            <a:ext cx="3291840" cy="274320"/>
          </a:xfrm>
          <a:prstGeom prst="rect">
            <a:avLst/>
          </a:prstGeom>
          <a:noFill/>
          <a:ln/>
        </p:spPr>
        <p:txBody>
          <a:bodyPr wrap="square" lIns="0" tIns="0" rIns="0" bIns="0" rtlCol="0" anchor="ctr"/>
          <a:lstStyle/>
          <a:p>
            <a:pPr indent="0" marL="0">
              <a:buNone/>
            </a:pPr>
            <a:r>
              <a:rPr lang="en-US" sz="1200" dirty="0">
                <a:solidFill>
                  <a:srgbClr val="6B6778"/>
                </a:solidFill>
                <a:latin typeface="Malgun Gothic" pitchFamily="34" charset="0"/>
                <a:ea typeface="Malgun Gothic" pitchFamily="34" charset="-122"/>
                <a:cs typeface="Malgun Gothic" pitchFamily="34" charset="-120"/>
              </a:rPr>
              <a:t>예: 1996년 음4월 12일 18시생</a:t>
            </a:r>
            <a:endParaRPr lang="en-US" sz="1200" dirty="0"/>
          </a:p>
        </p:txBody>
      </p:sp>
      <p:sp>
        <p:nvSpPr>
          <p:cNvPr id="36" name="Text 34"/>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B6778"/>
                </a:solidFill>
                <a:latin typeface="Malgun Gothic" pitchFamily="34" charset="0"/>
                <a:ea typeface="Malgun Gothic" pitchFamily="34" charset="-122"/>
                <a:cs typeface="Malgun Gothic" pitchFamily="34" charset="-120"/>
              </a:rPr>
              <a:t>의명보감 1 기초편 · 제5장 의명학 공식</a:t>
            </a:r>
            <a:endParaRPr lang="en-US" sz="1000" dirty="0"/>
          </a:p>
        </p:txBody>
      </p:sp>
      <p:sp>
        <p:nvSpPr>
          <p:cNvPr id="37" name="Text 35"/>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778"/>
                </a:solidFill>
                <a:latin typeface="Malgun Gothic" pitchFamily="34" charset="0"/>
                <a:ea typeface="Malgun Gothic" pitchFamily="34" charset="-122"/>
                <a:cs typeface="Malgun Gothic"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D1C24"/>
        </a:solidFill>
      </p:bgPr>
    </p:bg>
    <p:spTree>
      <p:nvGrpSpPr>
        <p:cNvPr id="1" name=""/>
        <p:cNvGrpSpPr/>
        <p:nvPr/>
      </p:nvGrpSpPr>
      <p:grpSpPr>
        <a:xfrm>
          <a:off x="0" y="0"/>
          <a:ext cx="0" cy="0"/>
          <a:chOff x="0" y="0"/>
          <a:chExt cx="0" cy="0"/>
        </a:xfrm>
      </p:grpSpPr>
      <p:sp>
        <p:nvSpPr>
          <p:cNvPr id="2" name="Text 0"/>
          <p:cNvSpPr txBox="1"/>
          <p:nvPr/>
        </p:nvSpPr>
        <p:spPr>
          <a:xfrm>
            <a:off x="548640" y="548640"/>
            <a:ext cx="1828800" cy="1828800"/>
          </a:xfrm>
          <a:prstGeom prst="rect">
            <a:avLst/>
          </a:prstGeom>
          <a:noFill/>
          <a:ln/>
        </p:spPr>
        <p:txBody>
          <a:bodyPr wrap="square" lIns="0" tIns="0" rIns="0" bIns="0" rtlCol="0" anchor="ctr"/>
          <a:lstStyle/>
          <a:p>
            <a:pPr indent="0" marL="0">
              <a:buNone/>
            </a:pPr>
            <a:r>
              <a:rPr lang="en-US" sz="15000" b="1" dirty="0">
                <a:solidFill>
                  <a:srgbClr val="B23A2E"/>
                </a:solidFill>
                <a:latin typeface="Malgun Gothic" pitchFamily="34" charset="0"/>
                <a:ea typeface="Malgun Gothic" pitchFamily="34" charset="-122"/>
                <a:cs typeface="Malgun Gothic" pitchFamily="34" charset="-120"/>
              </a:rPr>
              <a:t>“</a:t>
            </a:r>
            <a:endParaRPr lang="en-US" sz="15000" dirty="0"/>
          </a:p>
        </p:txBody>
      </p:sp>
      <p:sp>
        <p:nvSpPr>
          <p:cNvPr id="3" name="Text 1"/>
          <p:cNvSpPr txBox="1"/>
          <p:nvPr/>
        </p:nvSpPr>
        <p:spPr>
          <a:xfrm>
            <a:off x="1371600" y="1828800"/>
            <a:ext cx="9448495" cy="2926080"/>
          </a:xfrm>
          <a:prstGeom prst="rect">
            <a:avLst/>
          </a:prstGeom>
          <a:noFill/>
          <a:ln/>
        </p:spPr>
        <p:txBody>
          <a:bodyPr wrap="square" lIns="0" tIns="0" rIns="0" bIns="0" rtlCol="0" anchor="ctr"/>
          <a:lstStyle/>
          <a:p>
            <a:pPr indent="0" marL="0">
              <a:lnSpc>
                <a:spcPct val="130000"/>
              </a:lnSpc>
              <a:buNone/>
            </a:pPr>
            <a:r>
              <a:rPr lang="en-US" sz="3000" b="1" dirty="0">
                <a:solidFill>
                  <a:srgbClr val="F4F1EA"/>
                </a:solidFill>
                <a:latin typeface="Malgun Gothic" pitchFamily="34" charset="0"/>
                <a:ea typeface="Malgun Gothic" pitchFamily="34" charset="-122"/>
                <a:cs typeface="Malgun Gothic" pitchFamily="34" charset="-120"/>
              </a:rPr>
              <a:t>명(命)이 배라면 운(運)은 바다와 같으니, 인생이란 곧 타고난 에너지체라는 배를 타고 삶이라는 바다의 파도를 헤치고 죽음을 항해해 가는 것이다.</a:t>
            </a:r>
            <a:endParaRPr lang="en-US" sz="3000" dirty="0"/>
          </a:p>
        </p:txBody>
      </p:sp>
      <p:sp>
        <p:nvSpPr>
          <p:cNvPr id="4" name="Text 2"/>
          <p:cNvSpPr txBox="1"/>
          <p:nvPr/>
        </p:nvSpPr>
        <p:spPr>
          <a:xfrm>
            <a:off x="1371600" y="4937760"/>
            <a:ext cx="9448495" cy="457200"/>
          </a:xfrm>
          <a:prstGeom prst="rect">
            <a:avLst/>
          </a:prstGeom>
          <a:noFill/>
          <a:ln/>
        </p:spPr>
        <p:txBody>
          <a:bodyPr wrap="square" lIns="0" tIns="0" rIns="0" bIns="0" rtlCol="0" anchor="ctr"/>
          <a:lstStyle/>
          <a:p>
            <a:pPr indent="0" marL="0">
              <a:buNone/>
            </a:pPr>
            <a:r>
              <a:rPr lang="en-US" sz="1500" dirty="0">
                <a:solidFill>
                  <a:srgbClr val="A9A4B5"/>
                </a:solidFill>
                <a:latin typeface="Malgun Gothic" pitchFamily="34" charset="0"/>
                <a:ea typeface="Malgun Gothic" pitchFamily="34" charset="-122"/>
                <a:cs typeface="Malgun Gothic" pitchFamily="34" charset="-120"/>
              </a:rPr>
              <a:t>— 제5장 의명학 공식</a:t>
            </a:r>
            <a:endParaRPr lang="en-US" sz="1500" dirty="0"/>
          </a:p>
        </p:txBody>
      </p:sp>
      <p:sp>
        <p:nvSpPr>
          <p:cNvPr id="5" name="Text 3"/>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A9A4B5"/>
                </a:solidFill>
                <a:latin typeface="Malgun Gothic" pitchFamily="34" charset="0"/>
                <a:ea typeface="Malgun Gothic" pitchFamily="34" charset="-122"/>
                <a:cs typeface="Malgun Gothic" pitchFamily="34" charset="-120"/>
              </a:rPr>
              <a:t>의명보감 1 기초편 · 제5장 의명학 공식</a:t>
            </a:r>
            <a:endParaRPr lang="en-US" sz="1000" dirty="0"/>
          </a:p>
        </p:txBody>
      </p:sp>
      <p:sp>
        <p:nvSpPr>
          <p:cNvPr id="6" name="Text 4"/>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A9A4B5"/>
                </a:solidFill>
                <a:latin typeface="Malgun Gothic" pitchFamily="34" charset="0"/>
                <a:ea typeface="Malgun Gothic" pitchFamily="34" charset="-122"/>
                <a:cs typeface="Malgun Gothic"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D1C24"/>
        </a:solidFill>
      </p:bgPr>
    </p:bg>
    <p:spTree>
      <p:nvGrpSpPr>
        <p:cNvPr id="1" name=""/>
        <p:cNvGrpSpPr/>
        <p:nvPr/>
      </p:nvGrpSpPr>
      <p:grpSpPr>
        <a:xfrm>
          <a:off x="0" y="0"/>
          <a:ext cx="0" cy="0"/>
          <a:chOff x="0" y="0"/>
          <a:chExt cx="0" cy="0"/>
        </a:xfrm>
      </p:grpSpPr>
      <p:sp>
        <p:nvSpPr>
          <p:cNvPr id="2" name="Text 0"/>
          <p:cNvSpPr txBox="1"/>
          <p:nvPr/>
        </p:nvSpPr>
        <p:spPr>
          <a:xfrm>
            <a:off x="548640" y="1371600"/>
            <a:ext cx="3657600" cy="1645920"/>
          </a:xfrm>
          <a:prstGeom prst="rect">
            <a:avLst/>
          </a:prstGeom>
          <a:noFill/>
          <a:ln/>
        </p:spPr>
        <p:txBody>
          <a:bodyPr wrap="square" lIns="0" tIns="0" rIns="0" bIns="0" rtlCol="0" anchor="ctr"/>
          <a:lstStyle/>
          <a:p>
            <a:pPr indent="0" marL="0">
              <a:buNone/>
            </a:pPr>
            <a:r>
              <a:rPr lang="en-US" sz="11000" b="1" dirty="0">
                <a:solidFill>
                  <a:srgbClr val="B23A2E"/>
                </a:solidFill>
                <a:latin typeface="Malgun Gothic" pitchFamily="34" charset="0"/>
                <a:ea typeface="Malgun Gothic" pitchFamily="34" charset="-122"/>
                <a:cs typeface="Malgun Gothic" pitchFamily="34" charset="-120"/>
              </a:rPr>
              <a:t>02</a:t>
            </a:r>
            <a:endParaRPr lang="en-US" sz="11000" dirty="0"/>
          </a:p>
        </p:txBody>
      </p:sp>
      <p:sp>
        <p:nvSpPr>
          <p:cNvPr id="3" name="Text 1"/>
          <p:cNvSpPr txBox="1"/>
          <p:nvPr/>
        </p:nvSpPr>
        <p:spPr>
          <a:xfrm>
            <a:off x="548640" y="3108960"/>
            <a:ext cx="11094415" cy="914400"/>
          </a:xfrm>
          <a:prstGeom prst="rect">
            <a:avLst/>
          </a:prstGeom>
          <a:noFill/>
          <a:ln/>
        </p:spPr>
        <p:txBody>
          <a:bodyPr wrap="square" lIns="0" tIns="0" rIns="0" bIns="0" rtlCol="0" anchor="ctr"/>
          <a:lstStyle/>
          <a:p>
            <a:pPr indent="0" marL="0">
              <a:buNone/>
            </a:pPr>
            <a:r>
              <a:rPr lang="en-US" sz="4000" b="1" dirty="0">
                <a:solidFill>
                  <a:srgbClr val="F4F1EA"/>
                </a:solidFill>
                <a:latin typeface="Malgun Gothic" pitchFamily="34" charset="0"/>
                <a:ea typeface="Malgun Gothic" pitchFamily="34" charset="-122"/>
                <a:cs typeface="Malgun Gothic" pitchFamily="34" charset="-120"/>
              </a:rPr>
              <a:t>공식 세우는 법</a:t>
            </a:r>
            <a:endParaRPr lang="en-US" sz="4000" dirty="0"/>
          </a:p>
        </p:txBody>
      </p:sp>
      <p:sp>
        <p:nvSpPr>
          <p:cNvPr id="4" name="Text 2"/>
          <p:cNvSpPr txBox="1"/>
          <p:nvPr/>
        </p:nvSpPr>
        <p:spPr>
          <a:xfrm>
            <a:off x="548640" y="4069080"/>
            <a:ext cx="9144000" cy="914400"/>
          </a:xfrm>
          <a:prstGeom prst="rect">
            <a:avLst/>
          </a:prstGeom>
          <a:noFill/>
          <a:ln/>
        </p:spPr>
        <p:txBody>
          <a:bodyPr wrap="square" lIns="0" tIns="0" rIns="0" bIns="0" rtlCol="0" anchor="t"/>
          <a:lstStyle/>
          <a:p>
            <a:pPr indent="0" marL="0">
              <a:buNone/>
            </a:pPr>
            <a:r>
              <a:rPr lang="en-US" sz="1800" dirty="0">
                <a:solidFill>
                  <a:srgbClr val="A9A4B5"/>
                </a:solidFill>
                <a:latin typeface="Malgun Gothic" pitchFamily="34" charset="0"/>
                <a:ea typeface="Malgun Gothic" pitchFamily="34" charset="-122"/>
                <a:cs typeface="Malgun Gothic" pitchFamily="34" charset="-120"/>
              </a:rPr>
              <a:t>절기 파악 → 만세력 활용 → 생시 간지</a:t>
            </a:r>
            <a:endParaRPr lang="en-US" sz="1800" dirty="0"/>
          </a:p>
        </p:txBody>
      </p:sp>
      <p:sp>
        <p:nvSpPr>
          <p:cNvPr id="5" name="Text 3"/>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A9A4B5"/>
                </a:solidFill>
                <a:latin typeface="Malgun Gothic" pitchFamily="34" charset="0"/>
                <a:ea typeface="Malgun Gothic" pitchFamily="34" charset="-122"/>
                <a:cs typeface="Malgun Gothic" pitchFamily="34" charset="-120"/>
              </a:rPr>
              <a:t>의명보감 1 기초편 · 제5장 의명학 공식</a:t>
            </a:r>
            <a:endParaRPr lang="en-US" sz="1000" dirty="0"/>
          </a:p>
        </p:txBody>
      </p:sp>
      <p:sp>
        <p:nvSpPr>
          <p:cNvPr id="6" name="Text 4"/>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A9A4B5"/>
                </a:solidFill>
                <a:latin typeface="Malgun Gothic" pitchFamily="34" charset="0"/>
                <a:ea typeface="Malgun Gothic" pitchFamily="34" charset="-122"/>
                <a:cs typeface="Malgun Gothic"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300" b="1" dirty="0">
                <a:solidFill>
                  <a:srgbClr val="B23A2E"/>
                </a:solidFill>
                <a:latin typeface="Malgun Gothic" pitchFamily="34" charset="0"/>
                <a:ea typeface="Malgun Gothic" pitchFamily="34" charset="-122"/>
                <a:cs typeface="Malgun Gothic" pitchFamily="34" charset="-120"/>
              </a:rPr>
              <a:t>02 공식 세우는 법</a:t>
            </a:r>
            <a:endParaRPr lang="en-US" sz="13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000" b="1" dirty="0">
                <a:solidFill>
                  <a:srgbClr val="22212A"/>
                </a:solidFill>
                <a:latin typeface="Malgun Gothic" pitchFamily="34" charset="0"/>
                <a:ea typeface="Malgun Gothic" pitchFamily="34" charset="-122"/>
                <a:cs typeface="Malgun Gothic" pitchFamily="34" charset="-120"/>
              </a:rPr>
              <a:t>공식을 세우는 다섯 단계</a:t>
            </a:r>
            <a:endParaRPr lang="en-US" sz="3000" dirty="0"/>
          </a:p>
        </p:txBody>
      </p:sp>
      <p:sp>
        <p:nvSpPr>
          <p:cNvPr id="4" name="Shape 2"/>
          <p:cNvSpPr/>
          <p:nvPr/>
        </p:nvSpPr>
        <p:spPr>
          <a:xfrm>
            <a:off x="899130" y="1828800"/>
            <a:ext cx="1188720" cy="1188720"/>
          </a:xfrm>
          <a:prstGeom prst="ellipse">
            <a:avLst/>
          </a:prstGeom>
          <a:solidFill>
            <a:srgbClr val="B23A2E"/>
          </a:solidFill>
          <a:ln w="12700">
            <a:solidFill>
              <a:srgbClr val="B23A2E"/>
            </a:solidFill>
            <a:prstDash val="solid"/>
          </a:ln>
        </p:spPr>
      </p:sp>
      <p:sp>
        <p:nvSpPr>
          <p:cNvPr id="5" name="Text 3"/>
          <p:cNvSpPr txBox="1"/>
          <p:nvPr/>
        </p:nvSpPr>
        <p:spPr>
          <a:xfrm>
            <a:off x="899130" y="1828800"/>
            <a:ext cx="1188720" cy="1188720"/>
          </a:xfrm>
          <a:prstGeom prst="rect">
            <a:avLst/>
          </a:prstGeom>
          <a:noFill/>
          <a:ln/>
        </p:spPr>
        <p:txBody>
          <a:bodyPr wrap="square" lIns="0" tIns="0" rIns="0" bIns="0" rtlCol="0" anchor="ctr"/>
          <a:lstStyle/>
          <a:p>
            <a:pPr algn="ctr" indent="0" marL="0">
              <a:buNone/>
            </a:pPr>
            <a:r>
              <a:rPr lang="en-US" sz="4000" b="1" dirty="0">
                <a:solidFill>
                  <a:srgbClr val="FFFFFF"/>
                </a:solidFill>
                <a:latin typeface="Malgun Gothic" pitchFamily="34" charset="0"/>
                <a:ea typeface="Malgun Gothic" pitchFamily="34" charset="-122"/>
                <a:cs typeface="Malgun Gothic" pitchFamily="34" charset="-120"/>
              </a:rPr>
              <a:t>1</a:t>
            </a:r>
            <a:endParaRPr lang="en-US" sz="4000" dirty="0"/>
          </a:p>
        </p:txBody>
      </p:sp>
      <p:sp>
        <p:nvSpPr>
          <p:cNvPr id="6" name="Shape 4"/>
          <p:cNvSpPr/>
          <p:nvPr/>
        </p:nvSpPr>
        <p:spPr>
          <a:xfrm rot="5400000">
            <a:off x="2534351" y="2295144"/>
            <a:ext cx="256032" cy="256032"/>
          </a:xfrm>
          <a:prstGeom prst="triangle">
            <a:avLst/>
          </a:prstGeom>
          <a:solidFill>
            <a:srgbClr val="D9D5E0"/>
          </a:solidFill>
          <a:ln w="12700">
            <a:solidFill>
              <a:srgbClr val="D9D5E0"/>
            </a:solidFill>
            <a:prstDash val="solid"/>
          </a:ln>
        </p:spPr>
      </p:sp>
      <p:sp>
        <p:nvSpPr>
          <p:cNvPr id="7" name="Text 5"/>
          <p:cNvSpPr txBox="1"/>
          <p:nvPr/>
        </p:nvSpPr>
        <p:spPr>
          <a:xfrm>
            <a:off x="548640" y="3200400"/>
            <a:ext cx="1889699" cy="457200"/>
          </a:xfrm>
          <a:prstGeom prst="rect">
            <a:avLst/>
          </a:prstGeom>
          <a:noFill/>
          <a:ln/>
        </p:spPr>
        <p:txBody>
          <a:bodyPr wrap="square" lIns="0" tIns="0" rIns="0" bIns="0" rtlCol="0" anchor="ctr"/>
          <a:lstStyle/>
          <a:p>
            <a:pPr algn="ctr" indent="0" marL="0">
              <a:buNone/>
            </a:pPr>
            <a:r>
              <a:rPr lang="en-US" sz="1900" b="1" dirty="0">
                <a:solidFill>
                  <a:srgbClr val="22212A"/>
                </a:solidFill>
                <a:latin typeface="Malgun Gothic" pitchFamily="34" charset="0"/>
                <a:ea typeface="Malgun Gothic" pitchFamily="34" charset="-122"/>
                <a:cs typeface="Malgun Gothic" pitchFamily="34" charset="-120"/>
              </a:rPr>
              <a:t>절기 파악</a:t>
            </a:r>
            <a:endParaRPr lang="en-US" sz="1900" dirty="0"/>
          </a:p>
        </p:txBody>
      </p:sp>
      <p:sp>
        <p:nvSpPr>
          <p:cNvPr id="8" name="Text 6"/>
          <p:cNvSpPr txBox="1"/>
          <p:nvPr/>
        </p:nvSpPr>
        <p:spPr>
          <a:xfrm>
            <a:off x="548640" y="3675888"/>
            <a:ext cx="1889699" cy="1828800"/>
          </a:xfrm>
          <a:prstGeom prst="rect">
            <a:avLst/>
          </a:prstGeom>
          <a:noFill/>
          <a:ln/>
        </p:spPr>
        <p:txBody>
          <a:bodyPr wrap="square" lIns="0" tIns="0" rIns="0" bIns="0" rtlCol="0" anchor="t"/>
          <a:lstStyle/>
          <a:p>
            <a:pPr algn="ctr" indent="0" marL="0">
              <a:buNone/>
            </a:pPr>
            <a:r>
              <a:rPr lang="en-US" sz="1500" dirty="0">
                <a:solidFill>
                  <a:srgbClr val="6B6778"/>
                </a:solidFill>
                <a:latin typeface="Malgun Gothic" pitchFamily="34" charset="0"/>
                <a:ea typeface="Malgun Gothic" pitchFamily="34" charset="-122"/>
                <a:cs typeface="Malgun Gothic" pitchFamily="34" charset="-120"/>
              </a:rPr>
              <a:t>12절기가 지나야</a:t>
            </a:r>
            <a:endParaRPr lang="en-US" sz="1500" dirty="0"/>
          </a:p>
          <a:p>
            <a:pPr algn="ctr" indent="0" marL="0">
              <a:buNone/>
            </a:pPr>
            <a:r>
              <a:rPr lang="en-US" sz="1500" dirty="0">
                <a:solidFill>
                  <a:srgbClr val="6B6778"/>
                </a:solidFill>
                <a:latin typeface="Malgun Gothic" pitchFamily="34" charset="0"/>
                <a:ea typeface="Malgun Gothic" pitchFamily="34" charset="-122"/>
                <a:cs typeface="Malgun Gothic" pitchFamily="34" charset="-120"/>
              </a:rPr>
              <a:t>그 달이 된다</a:t>
            </a:r>
            <a:endParaRPr lang="en-US" sz="1500" dirty="0"/>
          </a:p>
        </p:txBody>
      </p:sp>
      <p:sp>
        <p:nvSpPr>
          <p:cNvPr id="9" name="Shape 7"/>
          <p:cNvSpPr/>
          <p:nvPr/>
        </p:nvSpPr>
        <p:spPr>
          <a:xfrm>
            <a:off x="3200309" y="1828800"/>
            <a:ext cx="1188720" cy="1188720"/>
          </a:xfrm>
          <a:prstGeom prst="ellipse">
            <a:avLst/>
          </a:prstGeom>
          <a:solidFill>
            <a:srgbClr val="B8892A"/>
          </a:solidFill>
          <a:ln w="12700">
            <a:solidFill>
              <a:srgbClr val="B8892A"/>
            </a:solidFill>
            <a:prstDash val="solid"/>
          </a:ln>
        </p:spPr>
      </p:sp>
      <p:sp>
        <p:nvSpPr>
          <p:cNvPr id="10" name="Text 8"/>
          <p:cNvSpPr txBox="1"/>
          <p:nvPr/>
        </p:nvSpPr>
        <p:spPr>
          <a:xfrm>
            <a:off x="3200309" y="1828800"/>
            <a:ext cx="1188720" cy="1188720"/>
          </a:xfrm>
          <a:prstGeom prst="rect">
            <a:avLst/>
          </a:prstGeom>
          <a:noFill/>
          <a:ln/>
        </p:spPr>
        <p:txBody>
          <a:bodyPr wrap="square" lIns="0" tIns="0" rIns="0" bIns="0" rtlCol="0" anchor="ctr"/>
          <a:lstStyle/>
          <a:p>
            <a:pPr algn="ctr" indent="0" marL="0">
              <a:buNone/>
            </a:pPr>
            <a:r>
              <a:rPr lang="en-US" sz="4000" b="1" dirty="0">
                <a:solidFill>
                  <a:srgbClr val="FFFFFF"/>
                </a:solidFill>
                <a:latin typeface="Malgun Gothic" pitchFamily="34" charset="0"/>
                <a:ea typeface="Malgun Gothic" pitchFamily="34" charset="-122"/>
                <a:cs typeface="Malgun Gothic" pitchFamily="34" charset="-120"/>
              </a:rPr>
              <a:t>2</a:t>
            </a:r>
            <a:endParaRPr lang="en-US" sz="4000" dirty="0"/>
          </a:p>
        </p:txBody>
      </p:sp>
      <p:sp>
        <p:nvSpPr>
          <p:cNvPr id="11" name="Shape 9"/>
          <p:cNvSpPr/>
          <p:nvPr/>
        </p:nvSpPr>
        <p:spPr>
          <a:xfrm rot="5400000">
            <a:off x="4835530" y="2295144"/>
            <a:ext cx="256032" cy="256032"/>
          </a:xfrm>
          <a:prstGeom prst="triangle">
            <a:avLst/>
          </a:prstGeom>
          <a:solidFill>
            <a:srgbClr val="D9D5E0"/>
          </a:solidFill>
          <a:ln w="12700">
            <a:solidFill>
              <a:srgbClr val="D9D5E0"/>
            </a:solidFill>
            <a:prstDash val="solid"/>
          </a:ln>
        </p:spPr>
      </p:sp>
      <p:sp>
        <p:nvSpPr>
          <p:cNvPr id="12" name="Text 10"/>
          <p:cNvSpPr txBox="1"/>
          <p:nvPr/>
        </p:nvSpPr>
        <p:spPr>
          <a:xfrm>
            <a:off x="2849819" y="3200400"/>
            <a:ext cx="1889699" cy="457200"/>
          </a:xfrm>
          <a:prstGeom prst="rect">
            <a:avLst/>
          </a:prstGeom>
          <a:noFill/>
          <a:ln/>
        </p:spPr>
        <p:txBody>
          <a:bodyPr wrap="square" lIns="0" tIns="0" rIns="0" bIns="0" rtlCol="0" anchor="ctr"/>
          <a:lstStyle/>
          <a:p>
            <a:pPr algn="ctr" indent="0" marL="0">
              <a:buNone/>
            </a:pPr>
            <a:r>
              <a:rPr lang="en-US" sz="1900" b="1" dirty="0">
                <a:solidFill>
                  <a:srgbClr val="22212A"/>
                </a:solidFill>
                <a:latin typeface="Malgun Gothic" pitchFamily="34" charset="0"/>
                <a:ea typeface="Malgun Gothic" pitchFamily="34" charset="-122"/>
                <a:cs typeface="Malgun Gothic" pitchFamily="34" charset="-120"/>
              </a:rPr>
              <a:t>만세력</a:t>
            </a:r>
            <a:endParaRPr lang="en-US" sz="1900" dirty="0"/>
          </a:p>
        </p:txBody>
      </p:sp>
      <p:sp>
        <p:nvSpPr>
          <p:cNvPr id="13" name="Text 11"/>
          <p:cNvSpPr txBox="1"/>
          <p:nvPr/>
        </p:nvSpPr>
        <p:spPr>
          <a:xfrm>
            <a:off x="2849819" y="3675888"/>
            <a:ext cx="1889699" cy="1828800"/>
          </a:xfrm>
          <a:prstGeom prst="rect">
            <a:avLst/>
          </a:prstGeom>
          <a:noFill/>
          <a:ln/>
        </p:spPr>
        <p:txBody>
          <a:bodyPr wrap="square" lIns="0" tIns="0" rIns="0" bIns="0" rtlCol="0" anchor="t"/>
          <a:lstStyle/>
          <a:p>
            <a:pPr algn="ctr" indent="0" marL="0">
              <a:buNone/>
            </a:pPr>
            <a:r>
              <a:rPr lang="en-US" sz="1500" dirty="0">
                <a:solidFill>
                  <a:srgbClr val="6B6778"/>
                </a:solidFill>
                <a:latin typeface="Malgun Gothic" pitchFamily="34" charset="0"/>
                <a:ea typeface="Malgun Gothic" pitchFamily="34" charset="-122"/>
                <a:cs typeface="Malgun Gothic" pitchFamily="34" charset="-120"/>
              </a:rPr>
              <a:t>年·月·日</a:t>
            </a:r>
            <a:endParaRPr lang="en-US" sz="1500" dirty="0"/>
          </a:p>
          <a:p>
            <a:pPr algn="ctr" indent="0" marL="0">
              <a:buNone/>
            </a:pPr>
            <a:r>
              <a:rPr lang="en-US" sz="1500" dirty="0">
                <a:solidFill>
                  <a:srgbClr val="6B6778"/>
                </a:solidFill>
                <a:latin typeface="Malgun Gothic" pitchFamily="34" charset="0"/>
                <a:ea typeface="Malgun Gothic" pitchFamily="34" charset="-122"/>
                <a:cs typeface="Malgun Gothic" pitchFamily="34" charset="-120"/>
              </a:rPr>
              <a:t>여섯 글자 찾기</a:t>
            </a:r>
            <a:endParaRPr lang="en-US" sz="1500" dirty="0"/>
          </a:p>
        </p:txBody>
      </p:sp>
      <p:sp>
        <p:nvSpPr>
          <p:cNvPr id="14" name="Shape 12"/>
          <p:cNvSpPr/>
          <p:nvPr/>
        </p:nvSpPr>
        <p:spPr>
          <a:xfrm>
            <a:off x="5501488" y="1828800"/>
            <a:ext cx="1188720" cy="1188720"/>
          </a:xfrm>
          <a:prstGeom prst="ellipse">
            <a:avLst/>
          </a:prstGeom>
          <a:solidFill>
            <a:srgbClr val="C0392B"/>
          </a:solidFill>
          <a:ln w="12700">
            <a:solidFill>
              <a:srgbClr val="C0392B"/>
            </a:solidFill>
            <a:prstDash val="solid"/>
          </a:ln>
        </p:spPr>
      </p:sp>
      <p:sp>
        <p:nvSpPr>
          <p:cNvPr id="15" name="Text 13"/>
          <p:cNvSpPr txBox="1"/>
          <p:nvPr/>
        </p:nvSpPr>
        <p:spPr>
          <a:xfrm>
            <a:off x="5501488" y="1828800"/>
            <a:ext cx="1188720" cy="1188720"/>
          </a:xfrm>
          <a:prstGeom prst="rect">
            <a:avLst/>
          </a:prstGeom>
          <a:noFill/>
          <a:ln/>
        </p:spPr>
        <p:txBody>
          <a:bodyPr wrap="square" lIns="0" tIns="0" rIns="0" bIns="0" rtlCol="0" anchor="ctr"/>
          <a:lstStyle/>
          <a:p>
            <a:pPr algn="ctr" indent="0" marL="0">
              <a:buNone/>
            </a:pPr>
            <a:r>
              <a:rPr lang="en-US" sz="4000" b="1" dirty="0">
                <a:solidFill>
                  <a:srgbClr val="FFFFFF"/>
                </a:solidFill>
                <a:latin typeface="Malgun Gothic" pitchFamily="34" charset="0"/>
                <a:ea typeface="Malgun Gothic" pitchFamily="34" charset="-122"/>
                <a:cs typeface="Malgun Gothic" pitchFamily="34" charset="-120"/>
              </a:rPr>
              <a:t>3</a:t>
            </a:r>
            <a:endParaRPr lang="en-US" sz="4000" dirty="0"/>
          </a:p>
        </p:txBody>
      </p:sp>
      <p:sp>
        <p:nvSpPr>
          <p:cNvPr id="16" name="Shape 14"/>
          <p:cNvSpPr/>
          <p:nvPr/>
        </p:nvSpPr>
        <p:spPr>
          <a:xfrm rot="5400000">
            <a:off x="7136709" y="2295144"/>
            <a:ext cx="256032" cy="256032"/>
          </a:xfrm>
          <a:prstGeom prst="triangle">
            <a:avLst/>
          </a:prstGeom>
          <a:solidFill>
            <a:srgbClr val="D9D5E0"/>
          </a:solidFill>
          <a:ln w="12700">
            <a:solidFill>
              <a:srgbClr val="D9D5E0"/>
            </a:solidFill>
            <a:prstDash val="solid"/>
          </a:ln>
        </p:spPr>
      </p:sp>
      <p:sp>
        <p:nvSpPr>
          <p:cNvPr id="17" name="Text 15"/>
          <p:cNvSpPr txBox="1"/>
          <p:nvPr/>
        </p:nvSpPr>
        <p:spPr>
          <a:xfrm>
            <a:off x="5150998" y="3200400"/>
            <a:ext cx="1889699" cy="457200"/>
          </a:xfrm>
          <a:prstGeom prst="rect">
            <a:avLst/>
          </a:prstGeom>
          <a:noFill/>
          <a:ln/>
        </p:spPr>
        <p:txBody>
          <a:bodyPr wrap="square" lIns="0" tIns="0" rIns="0" bIns="0" rtlCol="0" anchor="ctr"/>
          <a:lstStyle/>
          <a:p>
            <a:pPr algn="ctr" indent="0" marL="0">
              <a:buNone/>
            </a:pPr>
            <a:r>
              <a:rPr lang="en-US" sz="1900" b="1" dirty="0">
                <a:solidFill>
                  <a:srgbClr val="22212A"/>
                </a:solidFill>
                <a:latin typeface="Malgun Gothic" pitchFamily="34" charset="0"/>
                <a:ea typeface="Malgun Gothic" pitchFamily="34" charset="-122"/>
                <a:cs typeface="Malgun Gothic" pitchFamily="34" charset="-120"/>
              </a:rPr>
              <a:t>생시 간지</a:t>
            </a:r>
            <a:endParaRPr lang="en-US" sz="1900" dirty="0"/>
          </a:p>
        </p:txBody>
      </p:sp>
      <p:sp>
        <p:nvSpPr>
          <p:cNvPr id="18" name="Text 16"/>
          <p:cNvSpPr txBox="1"/>
          <p:nvPr/>
        </p:nvSpPr>
        <p:spPr>
          <a:xfrm>
            <a:off x="5150998" y="3675888"/>
            <a:ext cx="1889699" cy="1828800"/>
          </a:xfrm>
          <a:prstGeom prst="rect">
            <a:avLst/>
          </a:prstGeom>
          <a:noFill/>
          <a:ln/>
        </p:spPr>
        <p:txBody>
          <a:bodyPr wrap="square" lIns="0" tIns="0" rIns="0" bIns="0" rtlCol="0" anchor="t"/>
          <a:lstStyle/>
          <a:p>
            <a:pPr algn="ctr" indent="0" marL="0">
              <a:buNone/>
            </a:pPr>
            <a:r>
              <a:rPr lang="en-US" sz="1500" dirty="0">
                <a:solidFill>
                  <a:srgbClr val="6B6778"/>
                </a:solidFill>
                <a:latin typeface="Malgun Gothic" pitchFamily="34" charset="0"/>
                <a:ea typeface="Malgun Gothic" pitchFamily="34" charset="-122"/>
                <a:cs typeface="Malgun Gothic" pitchFamily="34" charset="-120"/>
              </a:rPr>
              <a:t>시두법으로</a:t>
            </a:r>
            <a:endParaRPr lang="en-US" sz="1500" dirty="0"/>
          </a:p>
          <a:p>
            <a:pPr algn="ctr" indent="0" marL="0">
              <a:buNone/>
            </a:pPr>
            <a:r>
              <a:rPr lang="en-US" sz="1500" dirty="0">
                <a:solidFill>
                  <a:srgbClr val="6B6778"/>
                </a:solidFill>
                <a:latin typeface="Malgun Gothic" pitchFamily="34" charset="0"/>
                <a:ea typeface="Malgun Gothic" pitchFamily="34" charset="-122"/>
                <a:cs typeface="Malgun Gothic" pitchFamily="34" charset="-120"/>
              </a:rPr>
              <a:t>두 글자 계산</a:t>
            </a:r>
            <a:endParaRPr lang="en-US" sz="1500" dirty="0"/>
          </a:p>
        </p:txBody>
      </p:sp>
      <p:sp>
        <p:nvSpPr>
          <p:cNvPr id="19" name="Shape 17"/>
          <p:cNvSpPr/>
          <p:nvPr/>
        </p:nvSpPr>
        <p:spPr>
          <a:xfrm>
            <a:off x="7802667" y="1828800"/>
            <a:ext cx="1188720" cy="1188720"/>
          </a:xfrm>
          <a:prstGeom prst="ellipse">
            <a:avLst/>
          </a:prstGeom>
          <a:solidFill>
            <a:srgbClr val="22406E"/>
          </a:solidFill>
          <a:ln w="12700">
            <a:solidFill>
              <a:srgbClr val="22406E"/>
            </a:solidFill>
            <a:prstDash val="solid"/>
          </a:ln>
        </p:spPr>
      </p:sp>
      <p:sp>
        <p:nvSpPr>
          <p:cNvPr id="20" name="Text 18"/>
          <p:cNvSpPr txBox="1"/>
          <p:nvPr/>
        </p:nvSpPr>
        <p:spPr>
          <a:xfrm>
            <a:off x="7802667" y="1828800"/>
            <a:ext cx="1188720" cy="1188720"/>
          </a:xfrm>
          <a:prstGeom prst="rect">
            <a:avLst/>
          </a:prstGeom>
          <a:noFill/>
          <a:ln/>
        </p:spPr>
        <p:txBody>
          <a:bodyPr wrap="square" lIns="0" tIns="0" rIns="0" bIns="0" rtlCol="0" anchor="ctr"/>
          <a:lstStyle/>
          <a:p>
            <a:pPr algn="ctr" indent="0" marL="0">
              <a:buNone/>
            </a:pPr>
            <a:r>
              <a:rPr lang="en-US" sz="4000" b="1" dirty="0">
                <a:solidFill>
                  <a:srgbClr val="FFFFFF"/>
                </a:solidFill>
                <a:latin typeface="Malgun Gothic" pitchFamily="34" charset="0"/>
                <a:ea typeface="Malgun Gothic" pitchFamily="34" charset="-122"/>
                <a:cs typeface="Malgun Gothic" pitchFamily="34" charset="-120"/>
              </a:rPr>
              <a:t>4</a:t>
            </a:r>
            <a:endParaRPr lang="en-US" sz="4000" dirty="0"/>
          </a:p>
        </p:txBody>
      </p:sp>
      <p:sp>
        <p:nvSpPr>
          <p:cNvPr id="21" name="Shape 19"/>
          <p:cNvSpPr/>
          <p:nvPr/>
        </p:nvSpPr>
        <p:spPr>
          <a:xfrm rot="5400000">
            <a:off x="9437888" y="2295144"/>
            <a:ext cx="256032" cy="256032"/>
          </a:xfrm>
          <a:prstGeom prst="triangle">
            <a:avLst/>
          </a:prstGeom>
          <a:solidFill>
            <a:srgbClr val="D9D5E0"/>
          </a:solidFill>
          <a:ln w="12700">
            <a:solidFill>
              <a:srgbClr val="D9D5E0"/>
            </a:solidFill>
            <a:prstDash val="solid"/>
          </a:ln>
        </p:spPr>
      </p:sp>
      <p:sp>
        <p:nvSpPr>
          <p:cNvPr id="22" name="Text 20"/>
          <p:cNvSpPr txBox="1"/>
          <p:nvPr/>
        </p:nvSpPr>
        <p:spPr>
          <a:xfrm>
            <a:off x="7452177" y="3200400"/>
            <a:ext cx="1889699" cy="457200"/>
          </a:xfrm>
          <a:prstGeom prst="rect">
            <a:avLst/>
          </a:prstGeom>
          <a:noFill/>
          <a:ln/>
        </p:spPr>
        <p:txBody>
          <a:bodyPr wrap="square" lIns="0" tIns="0" rIns="0" bIns="0" rtlCol="0" anchor="ctr"/>
          <a:lstStyle/>
          <a:p>
            <a:pPr algn="ctr" indent="0" marL="0">
              <a:buNone/>
            </a:pPr>
            <a:r>
              <a:rPr lang="en-US" sz="1900" b="1" dirty="0">
                <a:solidFill>
                  <a:srgbClr val="22212A"/>
                </a:solidFill>
                <a:latin typeface="Malgun Gothic" pitchFamily="34" charset="0"/>
                <a:ea typeface="Malgun Gothic" pitchFamily="34" charset="-122"/>
                <a:cs typeface="Malgun Gothic" pitchFamily="34" charset="-120"/>
              </a:rPr>
              <a:t>대운</a:t>
            </a:r>
            <a:endParaRPr lang="en-US" sz="1900" dirty="0"/>
          </a:p>
        </p:txBody>
      </p:sp>
      <p:sp>
        <p:nvSpPr>
          <p:cNvPr id="23" name="Text 21"/>
          <p:cNvSpPr txBox="1"/>
          <p:nvPr/>
        </p:nvSpPr>
        <p:spPr>
          <a:xfrm>
            <a:off x="7452177" y="3675888"/>
            <a:ext cx="1889699" cy="1828800"/>
          </a:xfrm>
          <a:prstGeom prst="rect">
            <a:avLst/>
          </a:prstGeom>
          <a:noFill/>
          <a:ln/>
        </p:spPr>
        <p:txBody>
          <a:bodyPr wrap="square" lIns="0" tIns="0" rIns="0" bIns="0" rtlCol="0" anchor="t"/>
          <a:lstStyle/>
          <a:p>
            <a:pPr algn="ctr" indent="0" marL="0">
              <a:buNone/>
            </a:pPr>
            <a:r>
              <a:rPr lang="en-US" sz="1500" dirty="0">
                <a:solidFill>
                  <a:srgbClr val="6B6778"/>
                </a:solidFill>
                <a:latin typeface="Malgun Gothic" pitchFamily="34" charset="0"/>
                <a:ea typeface="Malgun Gothic" pitchFamily="34" charset="-122"/>
                <a:cs typeface="Malgun Gothic" pitchFamily="34" charset="-120"/>
              </a:rPr>
              <a:t>10년 단위 운</a:t>
            </a:r>
            <a:endParaRPr lang="en-US" sz="1500" dirty="0"/>
          </a:p>
          <a:p>
            <a:pPr algn="ctr" indent="0" marL="0">
              <a:buNone/>
            </a:pPr>
            <a:r>
              <a:rPr lang="en-US" sz="1500" dirty="0">
                <a:solidFill>
                  <a:srgbClr val="6B6778"/>
                </a:solidFill>
                <a:latin typeface="Malgun Gothic" pitchFamily="34" charset="0"/>
                <a:ea typeface="Malgun Gothic" pitchFamily="34" charset="-122"/>
                <a:cs typeface="Malgun Gothic" pitchFamily="34" charset="-120"/>
              </a:rPr>
              <a:t>순행·역행, 대운수</a:t>
            </a:r>
            <a:endParaRPr lang="en-US" sz="1500" dirty="0"/>
          </a:p>
        </p:txBody>
      </p:sp>
      <p:sp>
        <p:nvSpPr>
          <p:cNvPr id="24" name="Shape 22"/>
          <p:cNvSpPr/>
          <p:nvPr/>
        </p:nvSpPr>
        <p:spPr>
          <a:xfrm>
            <a:off x="10103846" y="1828800"/>
            <a:ext cx="1188720" cy="1188720"/>
          </a:xfrm>
          <a:prstGeom prst="ellipse">
            <a:avLst/>
          </a:prstGeom>
          <a:solidFill>
            <a:srgbClr val="3F7D4E"/>
          </a:solidFill>
          <a:ln w="12700">
            <a:solidFill>
              <a:srgbClr val="3F7D4E"/>
            </a:solidFill>
            <a:prstDash val="solid"/>
          </a:ln>
        </p:spPr>
      </p:sp>
      <p:sp>
        <p:nvSpPr>
          <p:cNvPr id="25" name="Text 23"/>
          <p:cNvSpPr txBox="1"/>
          <p:nvPr/>
        </p:nvSpPr>
        <p:spPr>
          <a:xfrm>
            <a:off x="10103846" y="1828800"/>
            <a:ext cx="1188720" cy="1188720"/>
          </a:xfrm>
          <a:prstGeom prst="rect">
            <a:avLst/>
          </a:prstGeom>
          <a:noFill/>
          <a:ln/>
        </p:spPr>
        <p:txBody>
          <a:bodyPr wrap="square" lIns="0" tIns="0" rIns="0" bIns="0" rtlCol="0" anchor="ctr"/>
          <a:lstStyle/>
          <a:p>
            <a:pPr algn="ctr" indent="0" marL="0">
              <a:buNone/>
            </a:pPr>
            <a:r>
              <a:rPr lang="en-US" sz="4000" b="1" dirty="0">
                <a:solidFill>
                  <a:srgbClr val="FFFFFF"/>
                </a:solidFill>
                <a:latin typeface="Malgun Gothic" pitchFamily="34" charset="0"/>
                <a:ea typeface="Malgun Gothic" pitchFamily="34" charset="-122"/>
                <a:cs typeface="Malgun Gothic" pitchFamily="34" charset="-120"/>
              </a:rPr>
              <a:t>5</a:t>
            </a:r>
            <a:endParaRPr lang="en-US" sz="4000" dirty="0"/>
          </a:p>
        </p:txBody>
      </p:sp>
      <p:sp>
        <p:nvSpPr>
          <p:cNvPr id="26" name="Text 24"/>
          <p:cNvSpPr txBox="1"/>
          <p:nvPr/>
        </p:nvSpPr>
        <p:spPr>
          <a:xfrm>
            <a:off x="9753356" y="3200400"/>
            <a:ext cx="1889699" cy="457200"/>
          </a:xfrm>
          <a:prstGeom prst="rect">
            <a:avLst/>
          </a:prstGeom>
          <a:noFill/>
          <a:ln/>
        </p:spPr>
        <p:txBody>
          <a:bodyPr wrap="square" lIns="0" tIns="0" rIns="0" bIns="0" rtlCol="0" anchor="ctr"/>
          <a:lstStyle/>
          <a:p>
            <a:pPr algn="ctr" indent="0" marL="0">
              <a:buNone/>
            </a:pPr>
            <a:r>
              <a:rPr lang="en-US" sz="1900" b="1" dirty="0">
                <a:solidFill>
                  <a:srgbClr val="22212A"/>
                </a:solidFill>
                <a:latin typeface="Malgun Gothic" pitchFamily="34" charset="0"/>
                <a:ea typeface="Malgun Gothic" pitchFamily="34" charset="-122"/>
                <a:cs typeface="Malgun Gothic" pitchFamily="34" charset="-120"/>
              </a:rPr>
              <a:t>소운</a:t>
            </a:r>
            <a:endParaRPr lang="en-US" sz="1900" dirty="0"/>
          </a:p>
        </p:txBody>
      </p:sp>
      <p:sp>
        <p:nvSpPr>
          <p:cNvPr id="27" name="Text 25"/>
          <p:cNvSpPr txBox="1"/>
          <p:nvPr/>
        </p:nvSpPr>
        <p:spPr>
          <a:xfrm>
            <a:off x="9753356" y="3675888"/>
            <a:ext cx="1889699" cy="1828800"/>
          </a:xfrm>
          <a:prstGeom prst="rect">
            <a:avLst/>
          </a:prstGeom>
          <a:noFill/>
          <a:ln/>
        </p:spPr>
        <p:txBody>
          <a:bodyPr wrap="square" lIns="0" tIns="0" rIns="0" bIns="0" rtlCol="0" anchor="t"/>
          <a:lstStyle/>
          <a:p>
            <a:pPr algn="ctr" indent="0" marL="0">
              <a:buNone/>
            </a:pPr>
            <a:r>
              <a:rPr lang="en-US" sz="1500" dirty="0">
                <a:solidFill>
                  <a:srgbClr val="6B6778"/>
                </a:solidFill>
                <a:latin typeface="Malgun Gothic" pitchFamily="34" charset="0"/>
                <a:ea typeface="Malgun Gothic" pitchFamily="34" charset="-122"/>
                <a:cs typeface="Malgun Gothic" pitchFamily="34" charset="-120"/>
              </a:rPr>
              <a:t>입운 전</a:t>
            </a:r>
            <a:endParaRPr lang="en-US" sz="1500" dirty="0"/>
          </a:p>
          <a:p>
            <a:pPr algn="ctr" indent="0" marL="0">
              <a:buNone/>
            </a:pPr>
            <a:r>
              <a:rPr lang="en-US" sz="1500" dirty="0">
                <a:solidFill>
                  <a:srgbClr val="6B6778"/>
                </a:solidFill>
                <a:latin typeface="Malgun Gothic" pitchFamily="34" charset="0"/>
                <a:ea typeface="Malgun Gothic" pitchFamily="34" charset="-122"/>
                <a:cs typeface="Malgun Gothic" pitchFamily="34" charset="-120"/>
              </a:rPr>
              <a:t>어린 시절의 운</a:t>
            </a:r>
            <a:endParaRPr lang="en-US" sz="1500" dirty="0"/>
          </a:p>
        </p:txBody>
      </p:sp>
      <p:sp>
        <p:nvSpPr>
          <p:cNvPr id="28" name="Text 26"/>
          <p:cNvSpPr txBox="1"/>
          <p:nvPr/>
        </p:nvSpPr>
        <p:spPr>
          <a:xfrm>
            <a:off x="548640" y="5577840"/>
            <a:ext cx="11094415" cy="640080"/>
          </a:xfrm>
          <a:prstGeom prst="rect">
            <a:avLst/>
          </a:prstGeom>
          <a:solidFill>
            <a:srgbClr val="F3F1F6"/>
          </a:solidFill>
          <a:ln/>
        </p:spPr>
        <p:txBody>
          <a:bodyPr wrap="square" lIns="0" tIns="0" rIns="0" bIns="0" rtlCol="0" anchor="ctr"/>
          <a:lstStyle/>
          <a:p>
            <a:pPr algn="ctr" indent="0" marL="0">
              <a:buNone/>
            </a:pPr>
            <a:r>
              <a:rPr lang="en-US" sz="1400" b="1" dirty="0">
                <a:solidFill>
                  <a:srgbClr val="22212A"/>
                </a:solidFill>
                <a:latin typeface="Malgun Gothic" pitchFamily="34" charset="0"/>
                <a:ea typeface="Malgun Gothic" pitchFamily="34" charset="-122"/>
                <a:cs typeface="Malgun Gothic" pitchFamily="34" charset="-120"/>
              </a:rPr>
              <a:t>1~3단계 = 命 공식 (여덟 글자)  ·  4~5단계 = 運 공식</a:t>
            </a:r>
            <a:endParaRPr lang="en-US" sz="1400" dirty="0"/>
          </a:p>
        </p:txBody>
      </p:sp>
      <p:sp>
        <p:nvSpPr>
          <p:cNvPr id="29" name="Text 27"/>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B6778"/>
                </a:solidFill>
                <a:latin typeface="Malgun Gothic" pitchFamily="34" charset="0"/>
                <a:ea typeface="Malgun Gothic" pitchFamily="34" charset="-122"/>
                <a:cs typeface="Malgun Gothic" pitchFamily="34" charset="-120"/>
              </a:rPr>
              <a:t>의명보감 1 기초편 · 제5장 의명학 공식</a:t>
            </a:r>
            <a:endParaRPr lang="en-US" sz="1000" dirty="0"/>
          </a:p>
        </p:txBody>
      </p:sp>
      <p:sp>
        <p:nvSpPr>
          <p:cNvPr id="30" name="Text 28"/>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778"/>
                </a:solidFill>
                <a:latin typeface="Malgun Gothic" pitchFamily="34" charset="0"/>
                <a:ea typeface="Malgun Gothic" pitchFamily="34" charset="-122"/>
                <a:cs typeface="Malgun Gothic"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300" b="1" dirty="0">
                <a:solidFill>
                  <a:srgbClr val="B23A2E"/>
                </a:solidFill>
                <a:latin typeface="Malgun Gothic" pitchFamily="34" charset="0"/>
                <a:ea typeface="Malgun Gothic" pitchFamily="34" charset="-122"/>
                <a:cs typeface="Malgun Gothic" pitchFamily="34" charset="-120"/>
              </a:rPr>
              <a:t>02 공식 세우는 법</a:t>
            </a:r>
            <a:endParaRPr lang="en-US" sz="13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000" b="1" dirty="0">
                <a:solidFill>
                  <a:srgbClr val="22212A"/>
                </a:solidFill>
                <a:latin typeface="Malgun Gothic" pitchFamily="34" charset="0"/>
                <a:ea typeface="Malgun Gothic" pitchFamily="34" charset="-122"/>
                <a:cs typeface="Malgun Gothic" pitchFamily="34" charset="-120"/>
              </a:rPr>
              <a:t>1단계 — 절기로 月을 정한다</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1188720"/>
                <a:gridCol w="1280160"/>
                <a:gridCol w="2011680"/>
                <a:gridCol w="2194560"/>
                <a:gridCol w="4416552"/>
              </a:tblGrid>
              <a:tr h="320040">
                <a:tc>
                  <a:txBody>
                    <a:bodyP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월지</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c>
                  <a:txBody>
                    <a:bodyP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음력</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c>
                  <a:txBody>
                    <a:bodyP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시작 절기</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c>
                  <a:txBody>
                    <a:bodyP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기준점 (중기)</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c>
                  <a:txBody>
                    <a:bodyP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기질</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r>
              <a:tr h="320040">
                <a:tc>
                  <a:txBody>
                    <a:bodyPr/>
                    <a:lstStyle/>
                    <a:p>
                      <a:pPr algn="ctr" indent="0" marL="0">
                        <a:buNone/>
                      </a:pPr>
                      <a:r>
                        <a:rPr lang="en-US" sz="1200" b="1" dirty="0">
                          <a:solidFill>
                            <a:srgbClr val="22212A"/>
                          </a:solidFill>
                          <a:latin typeface="Malgun Gothic" pitchFamily="34" charset="0"/>
                          <a:ea typeface="Malgun Gothic" pitchFamily="34" charset="-122"/>
                          <a:cs typeface="Malgun Gothic" pitchFamily="34" charset="-120"/>
                        </a:rPr>
                        <a:t>寅</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1월</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입춘</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우수</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추위가 풀리고 따뜻해짐</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r>
              <a:tr h="320040">
                <a:tc>
                  <a:txBody>
                    <a:bodyPr/>
                    <a:lstStyle/>
                    <a:p>
                      <a:pPr algn="ctr" indent="0" marL="0">
                        <a:buNone/>
                      </a:pPr>
                      <a:r>
                        <a:rPr lang="en-US" sz="1200" b="1" dirty="0">
                          <a:solidFill>
                            <a:srgbClr val="22212A"/>
                          </a:solidFill>
                          <a:latin typeface="Malgun Gothic" pitchFamily="34" charset="0"/>
                          <a:ea typeface="Malgun Gothic" pitchFamily="34" charset="-122"/>
                          <a:cs typeface="Malgun Gothic" pitchFamily="34" charset="-120"/>
                        </a:rPr>
                        <a:t>卯</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2월</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경칩</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춘분</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따뜻함</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r>
              <a:tr h="320040">
                <a:tc>
                  <a:txBody>
                    <a:bodyPr/>
                    <a:lstStyle/>
                    <a:p>
                      <a:pPr algn="ctr" indent="0" marL="0">
                        <a:buNone/>
                      </a:pPr>
                      <a:r>
                        <a:rPr lang="en-US" sz="1200" b="1" dirty="0">
                          <a:solidFill>
                            <a:srgbClr val="22212A"/>
                          </a:solidFill>
                          <a:latin typeface="Malgun Gothic" pitchFamily="34" charset="0"/>
                          <a:ea typeface="Malgun Gothic" pitchFamily="34" charset="-122"/>
                          <a:cs typeface="Malgun Gothic" pitchFamily="34" charset="-120"/>
                        </a:rPr>
                        <a:t>辰</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3월</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청명</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곡우</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약간 더울 만큼 따뜻함</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r>
              <a:tr h="320040">
                <a:tc>
                  <a:txBody>
                    <a:bodyPr/>
                    <a:lstStyle/>
                    <a:p>
                      <a:pPr algn="ctr" indent="0" marL="0">
                        <a:buNone/>
                      </a:pPr>
                      <a:r>
                        <a:rPr lang="en-US" sz="1200" b="1" dirty="0">
                          <a:solidFill>
                            <a:srgbClr val="22212A"/>
                          </a:solidFill>
                          <a:latin typeface="Malgun Gothic" pitchFamily="34" charset="0"/>
                          <a:ea typeface="Malgun Gothic" pitchFamily="34" charset="-122"/>
                          <a:cs typeface="Malgun Gothic" pitchFamily="34" charset="-120"/>
                        </a:rPr>
                        <a:t>巳</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4월</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입하</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소만</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더위를 느낌</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r>
              <a:tr h="320040">
                <a:tc>
                  <a:txBody>
                    <a:bodyPr/>
                    <a:lstStyle/>
                    <a:p>
                      <a:pPr algn="ctr" indent="0" marL="0">
                        <a:buNone/>
                      </a:pPr>
                      <a:r>
                        <a:rPr lang="en-US" sz="1200" b="1" dirty="0">
                          <a:solidFill>
                            <a:srgbClr val="22212A"/>
                          </a:solidFill>
                          <a:latin typeface="Malgun Gothic" pitchFamily="34" charset="0"/>
                          <a:ea typeface="Malgun Gothic" pitchFamily="34" charset="-122"/>
                          <a:cs typeface="Malgun Gothic" pitchFamily="34" charset="-120"/>
                        </a:rPr>
                        <a:t>午</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5월</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망종</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하지</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더위가 무르익음</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r>
              <a:tr h="320040">
                <a:tc>
                  <a:txBody>
                    <a:bodyPr/>
                    <a:lstStyle/>
                    <a:p>
                      <a:pPr algn="ctr" indent="0" marL="0">
                        <a:buNone/>
                      </a:pPr>
                      <a:r>
                        <a:rPr lang="en-US" sz="1200" b="1" dirty="0">
                          <a:solidFill>
                            <a:srgbClr val="22212A"/>
                          </a:solidFill>
                          <a:latin typeface="Malgun Gothic" pitchFamily="34" charset="0"/>
                          <a:ea typeface="Malgun Gothic" pitchFamily="34" charset="-122"/>
                          <a:cs typeface="Malgun Gothic" pitchFamily="34" charset="-120"/>
                        </a:rPr>
                        <a:t>未</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6월</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소서</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대서</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매우 더움</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r>
              <a:tr h="320040">
                <a:tc>
                  <a:txBody>
                    <a:bodyPr/>
                    <a:lstStyle/>
                    <a:p>
                      <a:pPr algn="ctr" indent="0" marL="0">
                        <a:buNone/>
                      </a:pPr>
                      <a:r>
                        <a:rPr lang="en-US" sz="1200" b="1" dirty="0">
                          <a:solidFill>
                            <a:srgbClr val="22212A"/>
                          </a:solidFill>
                          <a:latin typeface="Malgun Gothic" pitchFamily="34" charset="0"/>
                          <a:ea typeface="Malgun Gothic" pitchFamily="34" charset="-122"/>
                          <a:cs typeface="Malgun Gothic" pitchFamily="34" charset="-120"/>
                        </a:rPr>
                        <a:t>申</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7월</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입추</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처서</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더위가 꺾이기 시작</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r>
              <a:tr h="320040">
                <a:tc>
                  <a:txBody>
                    <a:bodyPr/>
                    <a:lstStyle/>
                    <a:p>
                      <a:pPr algn="ctr" indent="0" marL="0">
                        <a:buNone/>
                      </a:pPr>
                      <a:r>
                        <a:rPr lang="en-US" sz="1200" b="1" dirty="0">
                          <a:solidFill>
                            <a:srgbClr val="22212A"/>
                          </a:solidFill>
                          <a:latin typeface="Malgun Gothic" pitchFamily="34" charset="0"/>
                          <a:ea typeface="Malgun Gothic" pitchFamily="34" charset="-122"/>
                          <a:cs typeface="Malgun Gothic" pitchFamily="34" charset="-120"/>
                        </a:rPr>
                        <a:t>酉</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8월</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백로</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추분</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선선한 바람</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r>
              <a:tr h="320040">
                <a:tc>
                  <a:txBody>
                    <a:bodyPr/>
                    <a:lstStyle/>
                    <a:p>
                      <a:pPr algn="ctr" indent="0" marL="0">
                        <a:buNone/>
                      </a:pPr>
                      <a:r>
                        <a:rPr lang="en-US" sz="1200" b="1" dirty="0">
                          <a:solidFill>
                            <a:srgbClr val="22212A"/>
                          </a:solidFill>
                          <a:latin typeface="Malgun Gothic" pitchFamily="34" charset="0"/>
                          <a:ea typeface="Malgun Gothic" pitchFamily="34" charset="-122"/>
                          <a:cs typeface="Malgun Gothic" pitchFamily="34" charset="-120"/>
                        </a:rPr>
                        <a:t>戌</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9월</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한로</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상강</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매우 서늘함</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r>
              <a:tr h="320040">
                <a:tc>
                  <a:txBody>
                    <a:bodyPr/>
                    <a:lstStyle/>
                    <a:p>
                      <a:pPr algn="ctr" indent="0" marL="0">
                        <a:buNone/>
                      </a:pPr>
                      <a:r>
                        <a:rPr lang="en-US" sz="1200" b="1" dirty="0">
                          <a:solidFill>
                            <a:srgbClr val="22212A"/>
                          </a:solidFill>
                          <a:latin typeface="Malgun Gothic" pitchFamily="34" charset="0"/>
                          <a:ea typeface="Malgun Gothic" pitchFamily="34" charset="-122"/>
                          <a:cs typeface="Malgun Gothic" pitchFamily="34" charset="-120"/>
                        </a:rPr>
                        <a:t>亥</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10월</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입동</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소설</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약간 추움</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r>
              <a:tr h="320040">
                <a:tc>
                  <a:txBody>
                    <a:bodyPr/>
                    <a:lstStyle/>
                    <a:p>
                      <a:pPr algn="ctr" indent="0" marL="0">
                        <a:buNone/>
                      </a:pPr>
                      <a:r>
                        <a:rPr lang="en-US" sz="1200" b="1" dirty="0">
                          <a:solidFill>
                            <a:srgbClr val="22212A"/>
                          </a:solidFill>
                          <a:latin typeface="Malgun Gothic" pitchFamily="34" charset="0"/>
                          <a:ea typeface="Malgun Gothic" pitchFamily="34" charset="-122"/>
                          <a:cs typeface="Malgun Gothic" pitchFamily="34" charset="-120"/>
                        </a:rPr>
                        <a:t>子</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11월</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대설</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동지</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추위가 기승</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r>
              <a:tr h="320040">
                <a:tc>
                  <a:txBody>
                    <a:bodyPr/>
                    <a:lstStyle/>
                    <a:p>
                      <a:pPr algn="ctr" indent="0" marL="0">
                        <a:buNone/>
                      </a:pPr>
                      <a:r>
                        <a:rPr lang="en-US" sz="1200" b="1" dirty="0">
                          <a:solidFill>
                            <a:srgbClr val="22212A"/>
                          </a:solidFill>
                          <a:latin typeface="Malgun Gothic" pitchFamily="34" charset="0"/>
                          <a:ea typeface="Malgun Gothic" pitchFamily="34" charset="-122"/>
                          <a:cs typeface="Malgun Gothic" pitchFamily="34" charset="-120"/>
                        </a:rPr>
                        <a:t>丑</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12월</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소한</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대한</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12A"/>
                          </a:solidFill>
                          <a:latin typeface="Malgun Gothic" pitchFamily="34" charset="0"/>
                          <a:ea typeface="Malgun Gothic" pitchFamily="34" charset="-122"/>
                          <a:cs typeface="Malgun Gothic" pitchFamily="34" charset="-120"/>
                        </a:rPr>
                        <a:t>매우 추움</a:t>
                      </a:r>
                      <a:endParaRPr lang="en-US" sz="12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5806440"/>
            <a:ext cx="11094415" cy="502920"/>
          </a:xfrm>
          <a:prstGeom prst="rect">
            <a:avLst/>
          </a:prstGeom>
          <a:noFill/>
          <a:ln/>
        </p:spPr>
        <p:txBody>
          <a:bodyPr wrap="square" lIns="0" tIns="0" rIns="0" bIns="0" rtlCol="0" anchor="b"/>
          <a:lstStyle/>
          <a:p>
            <a:pPr indent="0" marL="0">
              <a:buNone/>
            </a:pPr>
            <a:r>
              <a:rPr lang="en-US" sz="1100" i="1" dirty="0">
                <a:solidFill>
                  <a:srgbClr val="6B6778"/>
                </a:solidFill>
                <a:latin typeface="Malgun Gothic" pitchFamily="34" charset="0"/>
                <a:ea typeface="Malgun Gothic" pitchFamily="34" charset="-122"/>
                <a:cs typeface="Malgun Gothic" pitchFamily="34" charset="-120"/>
              </a:rPr>
              <a:t>중기는 그 달 기운의 성숙도를 판단하는 기준점 — 예: 우수 전 출생이면 寅木 기운이 아직 약하고, 우수 뒤면 강하다</a:t>
            </a:r>
            <a:endParaRPr lang="en-US" sz="1100" dirty="0"/>
          </a:p>
        </p:txBody>
      </p:sp>
      <p:sp>
        <p:nvSpPr>
          <p:cNvPr id="6" name="Text 3"/>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B6778"/>
                </a:solidFill>
                <a:latin typeface="Malgun Gothic" pitchFamily="34" charset="0"/>
                <a:ea typeface="Malgun Gothic" pitchFamily="34" charset="-122"/>
                <a:cs typeface="Malgun Gothic" pitchFamily="34" charset="-120"/>
              </a:rPr>
              <a:t>의명보감 1 기초편 · 제5장 의명학 공식</a:t>
            </a:r>
            <a:endParaRPr lang="en-US" sz="1000" dirty="0"/>
          </a:p>
        </p:txBody>
      </p:sp>
      <p:sp>
        <p:nvSpPr>
          <p:cNvPr id="7" name="Text 4"/>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778"/>
                </a:solidFill>
                <a:latin typeface="Malgun Gothic" pitchFamily="34" charset="0"/>
                <a:ea typeface="Malgun Gothic" pitchFamily="34" charset="-122"/>
                <a:cs typeface="Malgun Gothic"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300" b="1" dirty="0">
                <a:solidFill>
                  <a:srgbClr val="B23A2E"/>
                </a:solidFill>
                <a:latin typeface="Malgun Gothic" pitchFamily="34" charset="0"/>
                <a:ea typeface="Malgun Gothic" pitchFamily="34" charset="-122"/>
                <a:cs typeface="Malgun Gothic" pitchFamily="34" charset="-120"/>
              </a:rPr>
              <a:t>02 공식 세우는 법</a:t>
            </a:r>
            <a:endParaRPr lang="en-US" sz="13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000" b="1" dirty="0">
                <a:solidFill>
                  <a:srgbClr val="22212A"/>
                </a:solidFill>
                <a:latin typeface="Malgun Gothic" pitchFamily="34" charset="0"/>
                <a:ea typeface="Malgun Gothic" pitchFamily="34" charset="-122"/>
                <a:cs typeface="Malgun Gothic" pitchFamily="34" charset="-120"/>
              </a:rPr>
              <a:t>2단계 — 만세력으로 年 · 月 · 日을 찾는다</a:t>
            </a:r>
            <a:endParaRPr lang="en-US" sz="3000" dirty="0"/>
          </a:p>
        </p:txBody>
      </p:sp>
      <p:sp>
        <p:nvSpPr>
          <p:cNvPr id="4" name="Text 2"/>
          <p:cNvSpPr txBox="1"/>
          <p:nvPr/>
        </p:nvSpPr>
        <p:spPr>
          <a:xfrm>
            <a:off x="548640" y="1554480"/>
            <a:ext cx="7223760" cy="4572000"/>
          </a:xfrm>
          <a:prstGeom prst="rect">
            <a:avLst/>
          </a:prstGeom>
          <a:noFill/>
          <a:ln/>
        </p:spPr>
        <p:txBody>
          <a:bodyPr wrap="square" lIns="0" tIns="0" rIns="0" bIns="0" rtlCol="0" anchor="t"/>
          <a:lstStyle/>
          <a:p>
            <a:pPr indent="0" marL="0">
              <a:lnSpc>
                <a:spcPct val="115000"/>
              </a:lnSpc>
              <a:buNone/>
            </a:pPr>
            <a:r>
              <a:rPr lang="en-US" sz="1700" b="1" dirty="0">
                <a:solidFill>
                  <a:srgbClr val="22212A"/>
                </a:solidFill>
                <a:latin typeface="Malgun Gothic" pitchFamily="34" charset="0"/>
                <a:ea typeface="Malgun Gothic" pitchFamily="34" charset="-122"/>
                <a:cs typeface="Malgun Gothic" pitchFamily="34" charset="-120"/>
              </a:rPr>
              <a:t>年도 입춘에 바뀐다</a:t>
            </a:r>
            <a:endParaRPr lang="en-US" sz="1700" dirty="0"/>
          </a:p>
          <a:p>
            <a:pPr indent="0" marL="0">
              <a:lnSpc>
                <a:spcPct val="115000"/>
              </a:lnSpc>
              <a:spcAft>
                <a:spcPts val="1600"/>
              </a:spcAft>
              <a:buNone/>
            </a:pPr>
            <a:r>
              <a:rPr lang="en-US" sz="1500" dirty="0">
                <a:solidFill>
                  <a:srgbClr val="6B6778"/>
                </a:solidFill>
                <a:latin typeface="Malgun Gothic" pitchFamily="34" charset="0"/>
                <a:ea typeface="Malgun Gothic" pitchFamily="34" charset="-122"/>
                <a:cs typeface="Malgun Gothic" pitchFamily="34" charset="-120"/>
              </a:rPr>
              <a:t>2004년 음12/27(양2/5)생 → 입춘이 지났으므로 年 乙酉, 月 戊寅</a:t>
            </a:r>
            <a:endParaRPr lang="en-US" sz="1700" dirty="0"/>
          </a:p>
          <a:p>
            <a:pPr indent="0" marL="0">
              <a:lnSpc>
                <a:spcPct val="115000"/>
              </a:lnSpc>
              <a:spcAft>
                <a:spcPts val="1600"/>
              </a:spcAft>
              <a:buNone/>
            </a:pPr>
            <a:r>
              <a:rPr lang="en-US" sz="1500" dirty="0">
                <a:solidFill>
                  <a:srgbClr val="6B6778"/>
                </a:solidFill>
                <a:latin typeface="Malgun Gothic" pitchFamily="34" charset="0"/>
                <a:ea typeface="Malgun Gothic" pitchFamily="34" charset="-122"/>
                <a:cs typeface="Malgun Gothic" pitchFamily="34" charset="-120"/>
              </a:rPr>
              <a:t>2001년 음1/11(양2/3)생 → 입춘 전이므로 年 庚辰, 月 己丑</a:t>
            </a:r>
            <a:endParaRPr lang="en-US" sz="1700" dirty="0"/>
          </a:p>
          <a:p>
            <a:pPr indent="0" marL="0">
              <a:lnSpc>
                <a:spcPct val="115000"/>
              </a:lnSpc>
              <a:buNone/>
            </a:pPr>
            <a:r>
              <a:rPr lang="en-US" sz="1700" b="1" dirty="0">
                <a:solidFill>
                  <a:srgbClr val="22212A"/>
                </a:solidFill>
                <a:latin typeface="Malgun Gothic" pitchFamily="34" charset="0"/>
                <a:ea typeface="Malgun Gothic" pitchFamily="34" charset="-122"/>
                <a:cs typeface="Malgun Gothic" pitchFamily="34" charset="-120"/>
              </a:rPr>
              <a:t>음력 날짜와 절기가 어긋날 때</a:t>
            </a:r>
            <a:endParaRPr lang="en-US" sz="1700" dirty="0"/>
          </a:p>
          <a:p>
            <a:pPr indent="0" marL="0">
              <a:lnSpc>
                <a:spcPct val="115000"/>
              </a:lnSpc>
              <a:spcAft>
                <a:spcPts val="1600"/>
              </a:spcAft>
              <a:buNone/>
            </a:pPr>
            <a:r>
              <a:rPr lang="en-US" sz="1500" dirty="0">
                <a:solidFill>
                  <a:srgbClr val="6B6778"/>
                </a:solidFill>
                <a:latin typeface="Malgun Gothic" pitchFamily="34" charset="0"/>
                <a:ea typeface="Malgun Gothic" pitchFamily="34" charset="-122"/>
                <a:cs typeface="Malgun Gothic" pitchFamily="34" charset="-120"/>
              </a:rPr>
              <a:t>2005년 음2/28생 → 청명이 지났으므로 月 庚辰 · 2005년 음7/2생 → 입추 전이므로 甲申이 아닌 癸未</a:t>
            </a:r>
            <a:endParaRPr lang="en-US" sz="1700" dirty="0"/>
          </a:p>
          <a:p>
            <a:pPr indent="0" marL="0">
              <a:lnSpc>
                <a:spcPct val="115000"/>
              </a:lnSpc>
              <a:buNone/>
            </a:pPr>
            <a:r>
              <a:rPr lang="en-US" sz="1700" b="1" dirty="0">
                <a:solidFill>
                  <a:srgbClr val="22212A"/>
                </a:solidFill>
                <a:latin typeface="Malgun Gothic" pitchFamily="34" charset="0"/>
                <a:ea typeface="Malgun Gothic" pitchFamily="34" charset="-122"/>
                <a:cs typeface="Malgun Gothic" pitchFamily="34" charset="-120"/>
              </a:rPr>
              <a:t>日은 절기와 관계없다</a:t>
            </a:r>
            <a:endParaRPr lang="en-US" sz="1700" dirty="0"/>
          </a:p>
          <a:p>
            <a:pPr indent="0" marL="0">
              <a:lnSpc>
                <a:spcPct val="115000"/>
              </a:lnSpc>
              <a:spcAft>
                <a:spcPts val="1600"/>
              </a:spcAft>
              <a:buNone/>
            </a:pPr>
            <a:r>
              <a:rPr lang="en-US" sz="1500" dirty="0">
                <a:solidFill>
                  <a:srgbClr val="6B6778"/>
                </a:solidFill>
                <a:latin typeface="Malgun Gothic" pitchFamily="34" charset="0"/>
                <a:ea typeface="Malgun Gothic" pitchFamily="34" charset="-122"/>
                <a:cs typeface="Malgun Gothic" pitchFamily="34" charset="-120"/>
              </a:rPr>
              <a:t>만세력에 적힌 그날의 간지를 그대로 쓴다.</a:t>
            </a:r>
            <a:endParaRPr lang="en-US" sz="1700" dirty="0"/>
          </a:p>
          <a:p>
            <a:pPr indent="0" marL="0">
              <a:lnSpc>
                <a:spcPct val="115000"/>
              </a:lnSpc>
              <a:buNone/>
            </a:pPr>
            <a:r>
              <a:rPr lang="en-US" sz="1700" b="1" dirty="0">
                <a:solidFill>
                  <a:srgbClr val="22212A"/>
                </a:solidFill>
                <a:latin typeface="Malgun Gothic" pitchFamily="34" charset="0"/>
                <a:ea typeface="Malgun Gothic" pitchFamily="34" charset="-122"/>
                <a:cs typeface="Malgun Gothic" pitchFamily="34" charset="-120"/>
              </a:rPr>
              <a:t>절기 당일생</a:t>
            </a:r>
            <a:endParaRPr lang="en-US" sz="1700" dirty="0"/>
          </a:p>
          <a:p>
            <a:pPr indent="0" marL="0">
              <a:lnSpc>
                <a:spcPct val="115000"/>
              </a:lnSpc>
              <a:buNone/>
            </a:pPr>
            <a:r>
              <a:rPr lang="en-US" sz="1500" dirty="0">
                <a:solidFill>
                  <a:srgbClr val="6B6778"/>
                </a:solidFill>
                <a:latin typeface="Malgun Gothic" pitchFamily="34" charset="0"/>
                <a:ea typeface="Malgun Gothic" pitchFamily="34" charset="-122"/>
                <a:cs typeface="Malgun Gothic" pitchFamily="34" charset="-120"/>
              </a:rPr>
              <a:t>만세력의 "○時 初 / 正"을 본다. 初는 아직 그 달이 아니고, 正은 그 달이다. 58분까지는 이전 절기, 59분부터 다음 절기.</a:t>
            </a:r>
            <a:endParaRPr lang="en-US" sz="1700" dirty="0"/>
          </a:p>
        </p:txBody>
      </p:sp>
      <p:sp>
        <p:nvSpPr>
          <p:cNvPr id="5" name="Shape 3"/>
          <p:cNvSpPr/>
          <p:nvPr/>
        </p:nvSpPr>
        <p:spPr>
          <a:xfrm>
            <a:off x="8229600" y="1554480"/>
            <a:ext cx="3410712" cy="4480560"/>
          </a:xfrm>
          <a:prstGeom prst="roundRect">
            <a:avLst>
              <a:gd name="adj" fmla="val 4021"/>
            </a:avLst>
          </a:prstGeom>
          <a:solidFill>
            <a:srgbClr val="F3F1F6"/>
          </a:solidFill>
          <a:ln w="12700">
            <a:solidFill>
              <a:srgbClr val="F3F1F6"/>
            </a:solidFill>
            <a:prstDash val="solid"/>
          </a:ln>
        </p:spPr>
      </p:sp>
      <p:sp>
        <p:nvSpPr>
          <p:cNvPr id="6" name="Shape 4"/>
          <p:cNvSpPr/>
          <p:nvPr/>
        </p:nvSpPr>
        <p:spPr>
          <a:xfrm>
            <a:off x="8837676" y="1920240"/>
            <a:ext cx="2194560" cy="2194560"/>
          </a:xfrm>
          <a:prstGeom prst="ellipse">
            <a:avLst/>
          </a:prstGeom>
          <a:solidFill>
            <a:srgbClr val="B8892A"/>
          </a:solidFill>
          <a:ln w="12700">
            <a:solidFill>
              <a:srgbClr val="B8892A"/>
            </a:solidFill>
            <a:prstDash val="solid"/>
          </a:ln>
        </p:spPr>
      </p:sp>
      <p:sp>
        <p:nvSpPr>
          <p:cNvPr id="7" name="Text 5"/>
          <p:cNvSpPr txBox="1"/>
          <p:nvPr/>
        </p:nvSpPr>
        <p:spPr>
          <a:xfrm>
            <a:off x="8837676" y="1920240"/>
            <a:ext cx="2194560" cy="2194560"/>
          </a:xfrm>
          <a:prstGeom prst="rect">
            <a:avLst/>
          </a:prstGeom>
          <a:noFill/>
          <a:ln/>
        </p:spPr>
        <p:txBody>
          <a:bodyPr wrap="square" lIns="0" tIns="0" rIns="0" bIns="0" rtlCol="0" anchor="ctr"/>
          <a:lstStyle/>
          <a:p>
            <a:pPr algn="ctr" indent="0" marL="0">
              <a:buNone/>
            </a:pPr>
            <a:r>
              <a:rPr lang="en-US" sz="8000" b="1" dirty="0">
                <a:solidFill>
                  <a:srgbClr val="FFFFFF"/>
                </a:solidFill>
                <a:latin typeface="Malgun Gothic" pitchFamily="34" charset="0"/>
                <a:ea typeface="Malgun Gothic" pitchFamily="34" charset="-122"/>
                <a:cs typeface="Malgun Gothic" pitchFamily="34" charset="-120"/>
              </a:rPr>
              <a:t>曆</a:t>
            </a:r>
            <a:endParaRPr lang="en-US" sz="8000" dirty="0"/>
          </a:p>
        </p:txBody>
      </p:sp>
      <p:sp>
        <p:nvSpPr>
          <p:cNvPr id="8" name="Text 6"/>
          <p:cNvSpPr txBox="1"/>
          <p:nvPr/>
        </p:nvSpPr>
        <p:spPr>
          <a:xfrm>
            <a:off x="8412480" y="4343400"/>
            <a:ext cx="3044952" cy="1463040"/>
          </a:xfrm>
          <a:prstGeom prst="rect">
            <a:avLst/>
          </a:prstGeom>
          <a:noFill/>
          <a:ln/>
        </p:spPr>
        <p:txBody>
          <a:bodyPr wrap="square" lIns="0" tIns="0" rIns="0" bIns="0" rtlCol="0" anchor="t"/>
          <a:lstStyle/>
          <a:p>
            <a:pPr algn="ctr" indent="0" marL="0">
              <a:buNone/>
            </a:pPr>
            <a:r>
              <a:rPr lang="en-US" sz="1400" dirty="0">
                <a:solidFill>
                  <a:srgbClr val="22212A"/>
                </a:solidFill>
                <a:latin typeface="Malgun Gothic" pitchFamily="34" charset="0"/>
                <a:ea typeface="Malgun Gothic" pitchFamily="34" charset="-122"/>
                <a:cs typeface="Malgun Gothic" pitchFamily="34" charset="-120"/>
              </a:rPr>
              <a:t>연 · 월 = 절기 기준</a:t>
            </a:r>
            <a:endParaRPr lang="en-US" sz="1400" dirty="0"/>
          </a:p>
          <a:p>
            <a:pPr algn="ctr" indent="0" marL="0">
              <a:buNone/>
            </a:pPr>
            <a:r>
              <a:rPr lang="en-US" sz="1400" dirty="0">
                <a:solidFill>
                  <a:srgbClr val="22212A"/>
                </a:solidFill>
                <a:latin typeface="Malgun Gothic" pitchFamily="34" charset="0"/>
                <a:ea typeface="Malgun Gothic" pitchFamily="34" charset="-122"/>
                <a:cs typeface="Malgun Gothic" pitchFamily="34" charset="-120"/>
              </a:rPr>
              <a:t>일 = 만세력 그대로</a:t>
            </a:r>
            <a:endParaRPr lang="en-US" sz="1400" dirty="0"/>
          </a:p>
        </p:txBody>
      </p:sp>
      <p:sp>
        <p:nvSpPr>
          <p:cNvPr id="9" name="Text 7"/>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B6778"/>
                </a:solidFill>
                <a:latin typeface="Malgun Gothic" pitchFamily="34" charset="0"/>
                <a:ea typeface="Malgun Gothic" pitchFamily="34" charset="-122"/>
                <a:cs typeface="Malgun Gothic" pitchFamily="34" charset="-120"/>
              </a:rPr>
              <a:t>의명보감 1 기초편 · 제5장 의명학 공식</a:t>
            </a:r>
            <a:endParaRPr lang="en-US" sz="1000" dirty="0"/>
          </a:p>
        </p:txBody>
      </p:sp>
      <p:sp>
        <p:nvSpPr>
          <p:cNvPr id="10" name="Text 8"/>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778"/>
                </a:solidFill>
                <a:latin typeface="Malgun Gothic" pitchFamily="34" charset="0"/>
                <a:ea typeface="Malgun Gothic" pitchFamily="34" charset="-122"/>
                <a:cs typeface="Malgun Gothic"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300" b="1" dirty="0">
                <a:solidFill>
                  <a:srgbClr val="B23A2E"/>
                </a:solidFill>
                <a:latin typeface="Malgun Gothic" pitchFamily="34" charset="0"/>
                <a:ea typeface="Malgun Gothic" pitchFamily="34" charset="-122"/>
                <a:cs typeface="Malgun Gothic" pitchFamily="34" charset="-120"/>
              </a:rPr>
              <a:t>02 공식 세우는 법</a:t>
            </a:r>
            <a:endParaRPr lang="en-US" sz="13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000" b="1" dirty="0">
                <a:solidFill>
                  <a:srgbClr val="22212A"/>
                </a:solidFill>
                <a:latin typeface="Malgun Gothic" pitchFamily="34" charset="0"/>
                <a:ea typeface="Malgun Gothic" pitchFamily="34" charset="-122"/>
                <a:cs typeface="Malgun Gothic" pitchFamily="34" charset="-120"/>
              </a:rPr>
              <a:t>月干 암산법 (월두법)</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2377440"/>
                <a:gridCol w="2743200"/>
                <a:gridCol w="3108960"/>
                <a:gridCol w="2862072"/>
              </a:tblGrid>
              <a:tr h="685800">
                <a:tc>
                  <a:txBody>
                    <a:bodyP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연간(年干)</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c>
                  <a:txBody>
                    <a:bodyP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합해서 변한 오행</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c>
                  <a:txBody>
                    <a:bodyP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그 오행을 생하는 양간</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c>
                  <a:txBody>
                    <a:bodyP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寅월(음력 1월)</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r>
              <a:tr h="685800">
                <a:tc>
                  <a:txBody>
                    <a:bodyPr/>
                    <a:lstStyle/>
                    <a:p>
                      <a:pPr algn="ctr" indent="0" marL="0">
                        <a:buNone/>
                      </a:pPr>
                      <a:r>
                        <a:rPr lang="en-US" sz="1800" b="1" dirty="0">
                          <a:solidFill>
                            <a:srgbClr val="22212A"/>
                          </a:solidFill>
                          <a:latin typeface="Malgun Gothic" pitchFamily="34" charset="0"/>
                          <a:ea typeface="Malgun Gothic" pitchFamily="34" charset="-122"/>
                          <a:cs typeface="Malgun Gothic" pitchFamily="34" charset="-120"/>
                        </a:rPr>
                        <a:t>甲 · 己</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800" dirty="0">
                          <a:solidFill>
                            <a:srgbClr val="22212A"/>
                          </a:solidFill>
                          <a:latin typeface="Malgun Gothic" pitchFamily="34" charset="0"/>
                          <a:ea typeface="Malgun Gothic" pitchFamily="34" charset="-122"/>
                          <a:cs typeface="Malgun Gothic" pitchFamily="34" charset="-120"/>
                        </a:rPr>
                        <a:t>土</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800" dirty="0">
                          <a:solidFill>
                            <a:srgbClr val="22212A"/>
                          </a:solidFill>
                          <a:latin typeface="Malgun Gothic" pitchFamily="34" charset="0"/>
                          <a:ea typeface="Malgun Gothic" pitchFamily="34" charset="-122"/>
                          <a:cs typeface="Malgun Gothic" pitchFamily="34" charset="-120"/>
                        </a:rPr>
                        <a:t>丙</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800" dirty="0">
                          <a:solidFill>
                            <a:srgbClr val="22212A"/>
                          </a:solidFill>
                          <a:latin typeface="Malgun Gothic" pitchFamily="34" charset="0"/>
                          <a:ea typeface="Malgun Gothic" pitchFamily="34" charset="-122"/>
                          <a:cs typeface="Malgun Gothic" pitchFamily="34" charset="-120"/>
                        </a:rPr>
                        <a:t>丙寅</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r>
              <a:tr h="685800">
                <a:tc>
                  <a:txBody>
                    <a:bodyPr/>
                    <a:lstStyle/>
                    <a:p>
                      <a:pPr algn="ctr" indent="0" marL="0">
                        <a:buNone/>
                      </a:pPr>
                      <a:r>
                        <a:rPr lang="en-US" sz="1800" b="1" dirty="0">
                          <a:solidFill>
                            <a:srgbClr val="22212A"/>
                          </a:solidFill>
                          <a:latin typeface="Malgun Gothic" pitchFamily="34" charset="0"/>
                          <a:ea typeface="Malgun Gothic" pitchFamily="34" charset="-122"/>
                          <a:cs typeface="Malgun Gothic" pitchFamily="34" charset="-120"/>
                        </a:rPr>
                        <a:t>乙 · 庚</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2212A"/>
                          </a:solidFill>
                          <a:latin typeface="Malgun Gothic" pitchFamily="34" charset="0"/>
                          <a:ea typeface="Malgun Gothic" pitchFamily="34" charset="-122"/>
                          <a:cs typeface="Malgun Gothic" pitchFamily="34" charset="-120"/>
                        </a:rPr>
                        <a:t>金</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2212A"/>
                          </a:solidFill>
                          <a:latin typeface="Malgun Gothic" pitchFamily="34" charset="0"/>
                          <a:ea typeface="Malgun Gothic" pitchFamily="34" charset="-122"/>
                          <a:cs typeface="Malgun Gothic" pitchFamily="34" charset="-120"/>
                        </a:rPr>
                        <a:t>戊</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2212A"/>
                          </a:solidFill>
                          <a:latin typeface="Malgun Gothic" pitchFamily="34" charset="0"/>
                          <a:ea typeface="Malgun Gothic" pitchFamily="34" charset="-122"/>
                          <a:cs typeface="Malgun Gothic" pitchFamily="34" charset="-120"/>
                        </a:rPr>
                        <a:t>戊寅</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r>
              <a:tr h="685800">
                <a:tc>
                  <a:txBody>
                    <a:bodyPr/>
                    <a:lstStyle/>
                    <a:p>
                      <a:pPr algn="ctr" indent="0" marL="0">
                        <a:buNone/>
                      </a:pPr>
                      <a:r>
                        <a:rPr lang="en-US" sz="1800" b="1" dirty="0">
                          <a:solidFill>
                            <a:srgbClr val="22212A"/>
                          </a:solidFill>
                          <a:latin typeface="Malgun Gothic" pitchFamily="34" charset="0"/>
                          <a:ea typeface="Malgun Gothic" pitchFamily="34" charset="-122"/>
                          <a:cs typeface="Malgun Gothic" pitchFamily="34" charset="-120"/>
                        </a:rPr>
                        <a:t>丙 · 辛</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800" dirty="0">
                          <a:solidFill>
                            <a:srgbClr val="22212A"/>
                          </a:solidFill>
                          <a:latin typeface="Malgun Gothic" pitchFamily="34" charset="0"/>
                          <a:ea typeface="Malgun Gothic" pitchFamily="34" charset="-122"/>
                          <a:cs typeface="Malgun Gothic" pitchFamily="34" charset="-120"/>
                        </a:rPr>
                        <a:t>水</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800" dirty="0">
                          <a:solidFill>
                            <a:srgbClr val="22212A"/>
                          </a:solidFill>
                          <a:latin typeface="Malgun Gothic" pitchFamily="34" charset="0"/>
                          <a:ea typeface="Malgun Gothic" pitchFamily="34" charset="-122"/>
                          <a:cs typeface="Malgun Gothic" pitchFamily="34" charset="-120"/>
                        </a:rPr>
                        <a:t>庚</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800" dirty="0">
                          <a:solidFill>
                            <a:srgbClr val="22212A"/>
                          </a:solidFill>
                          <a:latin typeface="Malgun Gothic" pitchFamily="34" charset="0"/>
                          <a:ea typeface="Malgun Gothic" pitchFamily="34" charset="-122"/>
                          <a:cs typeface="Malgun Gothic" pitchFamily="34" charset="-120"/>
                        </a:rPr>
                        <a:t>庚寅</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r>
              <a:tr h="685800">
                <a:tc>
                  <a:txBody>
                    <a:bodyPr/>
                    <a:lstStyle/>
                    <a:p>
                      <a:pPr algn="ctr" indent="0" marL="0">
                        <a:buNone/>
                      </a:pPr>
                      <a:r>
                        <a:rPr lang="en-US" sz="1800" b="1" dirty="0">
                          <a:solidFill>
                            <a:srgbClr val="22212A"/>
                          </a:solidFill>
                          <a:latin typeface="Malgun Gothic" pitchFamily="34" charset="0"/>
                          <a:ea typeface="Malgun Gothic" pitchFamily="34" charset="-122"/>
                          <a:cs typeface="Malgun Gothic" pitchFamily="34" charset="-120"/>
                        </a:rPr>
                        <a:t>丁 · 壬</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2212A"/>
                          </a:solidFill>
                          <a:latin typeface="Malgun Gothic" pitchFamily="34" charset="0"/>
                          <a:ea typeface="Malgun Gothic" pitchFamily="34" charset="-122"/>
                          <a:cs typeface="Malgun Gothic" pitchFamily="34" charset="-120"/>
                        </a:rPr>
                        <a:t>木</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2212A"/>
                          </a:solidFill>
                          <a:latin typeface="Malgun Gothic" pitchFamily="34" charset="0"/>
                          <a:ea typeface="Malgun Gothic" pitchFamily="34" charset="-122"/>
                          <a:cs typeface="Malgun Gothic" pitchFamily="34" charset="-120"/>
                        </a:rPr>
                        <a:t>壬</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2212A"/>
                          </a:solidFill>
                          <a:latin typeface="Malgun Gothic" pitchFamily="34" charset="0"/>
                          <a:ea typeface="Malgun Gothic" pitchFamily="34" charset="-122"/>
                          <a:cs typeface="Malgun Gothic" pitchFamily="34" charset="-120"/>
                        </a:rPr>
                        <a:t>壬寅</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r>
              <a:tr h="685800">
                <a:tc>
                  <a:txBody>
                    <a:bodyPr/>
                    <a:lstStyle/>
                    <a:p>
                      <a:pPr algn="ctr" indent="0" marL="0">
                        <a:buNone/>
                      </a:pPr>
                      <a:r>
                        <a:rPr lang="en-US" sz="1800" b="1" dirty="0">
                          <a:solidFill>
                            <a:srgbClr val="22212A"/>
                          </a:solidFill>
                          <a:latin typeface="Malgun Gothic" pitchFamily="34" charset="0"/>
                          <a:ea typeface="Malgun Gothic" pitchFamily="34" charset="-122"/>
                          <a:cs typeface="Malgun Gothic" pitchFamily="34" charset="-120"/>
                        </a:rPr>
                        <a:t>戊 · 癸</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800" dirty="0">
                          <a:solidFill>
                            <a:srgbClr val="22212A"/>
                          </a:solidFill>
                          <a:latin typeface="Malgun Gothic" pitchFamily="34" charset="0"/>
                          <a:ea typeface="Malgun Gothic" pitchFamily="34" charset="-122"/>
                          <a:cs typeface="Malgun Gothic" pitchFamily="34" charset="-120"/>
                        </a:rPr>
                        <a:t>火</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800" dirty="0">
                          <a:solidFill>
                            <a:srgbClr val="22212A"/>
                          </a:solidFill>
                          <a:latin typeface="Malgun Gothic" pitchFamily="34" charset="0"/>
                          <a:ea typeface="Malgun Gothic" pitchFamily="34" charset="-122"/>
                          <a:cs typeface="Malgun Gothic" pitchFamily="34" charset="-120"/>
                        </a:rPr>
                        <a:t>甲</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800" dirty="0">
                          <a:solidFill>
                            <a:srgbClr val="22212A"/>
                          </a:solidFill>
                          <a:latin typeface="Malgun Gothic" pitchFamily="34" charset="0"/>
                          <a:ea typeface="Malgun Gothic" pitchFamily="34" charset="-122"/>
                          <a:cs typeface="Malgun Gothic" pitchFamily="34" charset="-120"/>
                        </a:rPr>
                        <a:t>甲寅</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r>
            </a:tbl>
          </a:graphicData>
        </a:graphic>
      </p:graphicFrame>
      <p:sp>
        <p:nvSpPr>
          <p:cNvPr id="5" name="Text 2"/>
          <p:cNvSpPr txBox="1"/>
          <p:nvPr/>
        </p:nvSpPr>
        <p:spPr>
          <a:xfrm>
            <a:off x="548640" y="5806440"/>
            <a:ext cx="11094415" cy="502920"/>
          </a:xfrm>
          <a:prstGeom prst="rect">
            <a:avLst/>
          </a:prstGeom>
          <a:noFill/>
          <a:ln/>
        </p:spPr>
        <p:txBody>
          <a:bodyPr wrap="square" lIns="0" tIns="0" rIns="0" bIns="0" rtlCol="0" anchor="b"/>
          <a:lstStyle/>
          <a:p>
            <a:pPr indent="0" marL="0">
              <a:buNone/>
            </a:pPr>
            <a:r>
              <a:rPr lang="en-US" sz="1100" i="1" dirty="0">
                <a:solidFill>
                  <a:srgbClr val="6B6778"/>
                </a:solidFill>
                <a:latin typeface="Malgun Gothic" pitchFamily="34" charset="0"/>
                <a:ea typeface="Malgun Gothic" pitchFamily="34" charset="-122"/>
                <a:cs typeface="Malgun Gothic" pitchFamily="34" charset="-120"/>
              </a:rPr>
              <a:t>예: 1984 甲子년 → 甲己 合土 → 土를 생하는 丙 → 寅월은 丙寅 → 음력 3월(辰월)은 丙에서 세 번째 = 戊辰월</a:t>
            </a:r>
            <a:endParaRPr lang="en-US" sz="1100" dirty="0"/>
          </a:p>
        </p:txBody>
      </p:sp>
      <p:sp>
        <p:nvSpPr>
          <p:cNvPr id="6" name="Text 3"/>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B6778"/>
                </a:solidFill>
                <a:latin typeface="Malgun Gothic" pitchFamily="34" charset="0"/>
                <a:ea typeface="Malgun Gothic" pitchFamily="34" charset="-122"/>
                <a:cs typeface="Malgun Gothic" pitchFamily="34" charset="-120"/>
              </a:rPr>
              <a:t>의명보감 1 기초편 · 제5장 의명학 공식</a:t>
            </a:r>
            <a:endParaRPr lang="en-US" sz="1000" dirty="0"/>
          </a:p>
        </p:txBody>
      </p:sp>
      <p:sp>
        <p:nvSpPr>
          <p:cNvPr id="7" name="Text 4"/>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778"/>
                </a:solidFill>
                <a:latin typeface="Malgun Gothic" pitchFamily="34" charset="0"/>
                <a:ea typeface="Malgun Gothic" pitchFamily="34" charset="-122"/>
                <a:cs typeface="Malgun Gothic"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300" b="1" dirty="0">
                <a:solidFill>
                  <a:srgbClr val="B23A2E"/>
                </a:solidFill>
                <a:latin typeface="Malgun Gothic" pitchFamily="34" charset="0"/>
                <a:ea typeface="Malgun Gothic" pitchFamily="34" charset="-122"/>
                <a:cs typeface="Malgun Gothic" pitchFamily="34" charset="-120"/>
              </a:rPr>
              <a:t>02 공식 세우는 법</a:t>
            </a:r>
            <a:endParaRPr lang="en-US" sz="13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000" b="1" dirty="0">
                <a:solidFill>
                  <a:srgbClr val="22212A"/>
                </a:solidFill>
                <a:latin typeface="Malgun Gothic" pitchFamily="34" charset="0"/>
                <a:ea typeface="Malgun Gothic" pitchFamily="34" charset="-122"/>
                <a:cs typeface="Malgun Gothic" pitchFamily="34" charset="-120"/>
              </a:rPr>
              <a:t>3단계 — 생시 간지 (시두법)</a:t>
            </a:r>
            <a:endParaRPr lang="en-US" sz="3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2377440"/>
                <a:gridCol w="2743200"/>
                <a:gridCol w="3108960"/>
                <a:gridCol w="2862072"/>
              </a:tblGrid>
              <a:tr h="685800">
                <a:tc>
                  <a:txBody>
                    <a:bodyP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일간(日干)</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c>
                  <a:txBody>
                    <a:bodyP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합해서 변한 오행</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c>
                  <a:txBody>
                    <a:bodyP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그 오행을 극하는 양간</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c>
                  <a:txBody>
                    <a:bodyP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子시</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r>
              <a:tr h="685800">
                <a:tc>
                  <a:txBody>
                    <a:bodyPr/>
                    <a:lstStyle/>
                    <a:p>
                      <a:pPr algn="ctr" indent="0" marL="0">
                        <a:buNone/>
                      </a:pPr>
                      <a:r>
                        <a:rPr lang="en-US" sz="1800" b="1" dirty="0">
                          <a:solidFill>
                            <a:srgbClr val="22212A"/>
                          </a:solidFill>
                          <a:latin typeface="Malgun Gothic" pitchFamily="34" charset="0"/>
                          <a:ea typeface="Malgun Gothic" pitchFamily="34" charset="-122"/>
                          <a:cs typeface="Malgun Gothic" pitchFamily="34" charset="-120"/>
                        </a:rPr>
                        <a:t>甲 · 己</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800" dirty="0">
                          <a:solidFill>
                            <a:srgbClr val="22212A"/>
                          </a:solidFill>
                          <a:latin typeface="Malgun Gothic" pitchFamily="34" charset="0"/>
                          <a:ea typeface="Malgun Gothic" pitchFamily="34" charset="-122"/>
                          <a:cs typeface="Malgun Gothic" pitchFamily="34" charset="-120"/>
                        </a:rPr>
                        <a:t>土</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800" dirty="0">
                          <a:solidFill>
                            <a:srgbClr val="22212A"/>
                          </a:solidFill>
                          <a:latin typeface="Malgun Gothic" pitchFamily="34" charset="0"/>
                          <a:ea typeface="Malgun Gothic" pitchFamily="34" charset="-122"/>
                          <a:cs typeface="Malgun Gothic" pitchFamily="34" charset="-120"/>
                        </a:rPr>
                        <a:t>甲</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800" dirty="0">
                          <a:solidFill>
                            <a:srgbClr val="22212A"/>
                          </a:solidFill>
                          <a:latin typeface="Malgun Gothic" pitchFamily="34" charset="0"/>
                          <a:ea typeface="Malgun Gothic" pitchFamily="34" charset="-122"/>
                          <a:cs typeface="Malgun Gothic" pitchFamily="34" charset="-120"/>
                        </a:rPr>
                        <a:t>甲子</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r>
              <a:tr h="685800">
                <a:tc>
                  <a:txBody>
                    <a:bodyPr/>
                    <a:lstStyle/>
                    <a:p>
                      <a:pPr algn="ctr" indent="0" marL="0">
                        <a:buNone/>
                      </a:pPr>
                      <a:r>
                        <a:rPr lang="en-US" sz="1800" b="1" dirty="0">
                          <a:solidFill>
                            <a:srgbClr val="22212A"/>
                          </a:solidFill>
                          <a:latin typeface="Malgun Gothic" pitchFamily="34" charset="0"/>
                          <a:ea typeface="Malgun Gothic" pitchFamily="34" charset="-122"/>
                          <a:cs typeface="Malgun Gothic" pitchFamily="34" charset="-120"/>
                        </a:rPr>
                        <a:t>乙 · 庚</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2212A"/>
                          </a:solidFill>
                          <a:latin typeface="Malgun Gothic" pitchFamily="34" charset="0"/>
                          <a:ea typeface="Malgun Gothic" pitchFamily="34" charset="-122"/>
                          <a:cs typeface="Malgun Gothic" pitchFamily="34" charset="-120"/>
                        </a:rPr>
                        <a:t>金</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2212A"/>
                          </a:solidFill>
                          <a:latin typeface="Malgun Gothic" pitchFamily="34" charset="0"/>
                          <a:ea typeface="Malgun Gothic" pitchFamily="34" charset="-122"/>
                          <a:cs typeface="Malgun Gothic" pitchFamily="34" charset="-120"/>
                        </a:rPr>
                        <a:t>丙</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2212A"/>
                          </a:solidFill>
                          <a:latin typeface="Malgun Gothic" pitchFamily="34" charset="0"/>
                          <a:ea typeface="Malgun Gothic" pitchFamily="34" charset="-122"/>
                          <a:cs typeface="Malgun Gothic" pitchFamily="34" charset="-120"/>
                        </a:rPr>
                        <a:t>丙子</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r>
              <a:tr h="685800">
                <a:tc>
                  <a:txBody>
                    <a:bodyPr/>
                    <a:lstStyle/>
                    <a:p>
                      <a:pPr algn="ctr" indent="0" marL="0">
                        <a:buNone/>
                      </a:pPr>
                      <a:r>
                        <a:rPr lang="en-US" sz="1800" b="1" dirty="0">
                          <a:solidFill>
                            <a:srgbClr val="22212A"/>
                          </a:solidFill>
                          <a:latin typeface="Malgun Gothic" pitchFamily="34" charset="0"/>
                          <a:ea typeface="Malgun Gothic" pitchFamily="34" charset="-122"/>
                          <a:cs typeface="Malgun Gothic" pitchFamily="34" charset="-120"/>
                        </a:rPr>
                        <a:t>丙 · 辛</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800" dirty="0">
                          <a:solidFill>
                            <a:srgbClr val="22212A"/>
                          </a:solidFill>
                          <a:latin typeface="Malgun Gothic" pitchFamily="34" charset="0"/>
                          <a:ea typeface="Malgun Gothic" pitchFamily="34" charset="-122"/>
                          <a:cs typeface="Malgun Gothic" pitchFamily="34" charset="-120"/>
                        </a:rPr>
                        <a:t>水</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800" dirty="0">
                          <a:solidFill>
                            <a:srgbClr val="22212A"/>
                          </a:solidFill>
                          <a:latin typeface="Malgun Gothic" pitchFamily="34" charset="0"/>
                          <a:ea typeface="Malgun Gothic" pitchFamily="34" charset="-122"/>
                          <a:cs typeface="Malgun Gothic" pitchFamily="34" charset="-120"/>
                        </a:rPr>
                        <a:t>戊</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800" dirty="0">
                          <a:solidFill>
                            <a:srgbClr val="22212A"/>
                          </a:solidFill>
                          <a:latin typeface="Malgun Gothic" pitchFamily="34" charset="0"/>
                          <a:ea typeface="Malgun Gothic" pitchFamily="34" charset="-122"/>
                          <a:cs typeface="Malgun Gothic" pitchFamily="34" charset="-120"/>
                        </a:rPr>
                        <a:t>戊子</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r>
              <a:tr h="685800">
                <a:tc>
                  <a:txBody>
                    <a:bodyPr/>
                    <a:lstStyle/>
                    <a:p>
                      <a:pPr algn="ctr" indent="0" marL="0">
                        <a:buNone/>
                      </a:pPr>
                      <a:r>
                        <a:rPr lang="en-US" sz="1800" b="1" dirty="0">
                          <a:solidFill>
                            <a:srgbClr val="22212A"/>
                          </a:solidFill>
                          <a:latin typeface="Malgun Gothic" pitchFamily="34" charset="0"/>
                          <a:ea typeface="Malgun Gothic" pitchFamily="34" charset="-122"/>
                          <a:cs typeface="Malgun Gothic" pitchFamily="34" charset="-120"/>
                        </a:rPr>
                        <a:t>丁 · 壬</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2212A"/>
                          </a:solidFill>
                          <a:latin typeface="Malgun Gothic" pitchFamily="34" charset="0"/>
                          <a:ea typeface="Malgun Gothic" pitchFamily="34" charset="-122"/>
                          <a:cs typeface="Malgun Gothic" pitchFamily="34" charset="-120"/>
                        </a:rPr>
                        <a:t>木</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2212A"/>
                          </a:solidFill>
                          <a:latin typeface="Malgun Gothic" pitchFamily="34" charset="0"/>
                          <a:ea typeface="Malgun Gothic" pitchFamily="34" charset="-122"/>
                          <a:cs typeface="Malgun Gothic" pitchFamily="34" charset="-120"/>
                        </a:rPr>
                        <a:t>庚</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2212A"/>
                          </a:solidFill>
                          <a:latin typeface="Malgun Gothic" pitchFamily="34" charset="0"/>
                          <a:ea typeface="Malgun Gothic" pitchFamily="34" charset="-122"/>
                          <a:cs typeface="Malgun Gothic" pitchFamily="34" charset="-120"/>
                        </a:rPr>
                        <a:t>庚子</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r>
              <a:tr h="685800">
                <a:tc>
                  <a:txBody>
                    <a:bodyPr/>
                    <a:lstStyle/>
                    <a:p>
                      <a:pPr algn="ctr" indent="0" marL="0">
                        <a:buNone/>
                      </a:pPr>
                      <a:r>
                        <a:rPr lang="en-US" sz="1800" b="1" dirty="0">
                          <a:solidFill>
                            <a:srgbClr val="22212A"/>
                          </a:solidFill>
                          <a:latin typeface="Malgun Gothic" pitchFamily="34" charset="0"/>
                          <a:ea typeface="Malgun Gothic" pitchFamily="34" charset="-122"/>
                          <a:cs typeface="Malgun Gothic" pitchFamily="34" charset="-120"/>
                        </a:rPr>
                        <a:t>戊 · 癸</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800" dirty="0">
                          <a:solidFill>
                            <a:srgbClr val="22212A"/>
                          </a:solidFill>
                          <a:latin typeface="Malgun Gothic" pitchFamily="34" charset="0"/>
                          <a:ea typeface="Malgun Gothic" pitchFamily="34" charset="-122"/>
                          <a:cs typeface="Malgun Gothic" pitchFamily="34" charset="-120"/>
                        </a:rPr>
                        <a:t>火</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800" dirty="0">
                          <a:solidFill>
                            <a:srgbClr val="22212A"/>
                          </a:solidFill>
                          <a:latin typeface="Malgun Gothic" pitchFamily="34" charset="0"/>
                          <a:ea typeface="Malgun Gothic" pitchFamily="34" charset="-122"/>
                          <a:cs typeface="Malgun Gothic" pitchFamily="34" charset="-120"/>
                        </a:rPr>
                        <a:t>壬</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800" dirty="0">
                          <a:solidFill>
                            <a:srgbClr val="22212A"/>
                          </a:solidFill>
                          <a:latin typeface="Malgun Gothic" pitchFamily="34" charset="0"/>
                          <a:ea typeface="Malgun Gothic" pitchFamily="34" charset="-122"/>
                          <a:cs typeface="Malgun Gothic" pitchFamily="34" charset="-120"/>
                        </a:rPr>
                        <a:t>壬子</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r>
            </a:tbl>
          </a:graphicData>
        </a:graphic>
      </p:graphicFrame>
      <p:sp>
        <p:nvSpPr>
          <p:cNvPr id="5" name="Text 2"/>
          <p:cNvSpPr txBox="1"/>
          <p:nvPr/>
        </p:nvSpPr>
        <p:spPr>
          <a:xfrm>
            <a:off x="548640" y="5806440"/>
            <a:ext cx="11094415" cy="502920"/>
          </a:xfrm>
          <a:prstGeom prst="rect">
            <a:avLst/>
          </a:prstGeom>
          <a:noFill/>
          <a:ln/>
        </p:spPr>
        <p:txBody>
          <a:bodyPr wrap="square" lIns="0" tIns="0" rIns="0" bIns="0" rtlCol="0" anchor="b"/>
          <a:lstStyle/>
          <a:p>
            <a:pPr indent="0" marL="0">
              <a:buNone/>
            </a:pPr>
            <a:r>
              <a:rPr lang="en-US" sz="1100" i="1" dirty="0">
                <a:solidFill>
                  <a:srgbClr val="6B6778"/>
                </a:solidFill>
                <a:latin typeface="Malgun Gothic" pitchFamily="34" charset="0"/>
                <a:ea typeface="Malgun Gothic" pitchFamily="34" charset="-122"/>
                <a:cs typeface="Malgun Gothic" pitchFamily="34" charset="-120"/>
              </a:rPr>
              <a:t>예: 乙일 → 乙庚 合金 → 金을 극하는 丙 → 丙子시 → 辰시는 다섯 번째 = 庚辰시  ·  23~24시(야자시)는 다음 순번의 子 · 서머타임 기간은 1시간, 1961.8.12 이후 출생은 30분 보정</a:t>
            </a:r>
            <a:endParaRPr lang="en-US" sz="1100" dirty="0"/>
          </a:p>
        </p:txBody>
      </p:sp>
      <p:sp>
        <p:nvSpPr>
          <p:cNvPr id="6" name="Text 3"/>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B6778"/>
                </a:solidFill>
                <a:latin typeface="Malgun Gothic" pitchFamily="34" charset="0"/>
                <a:ea typeface="Malgun Gothic" pitchFamily="34" charset="-122"/>
                <a:cs typeface="Malgun Gothic" pitchFamily="34" charset="-120"/>
              </a:rPr>
              <a:t>의명보감 1 기초편 · 제5장 의명학 공식</a:t>
            </a:r>
            <a:endParaRPr lang="en-US" sz="1000" dirty="0"/>
          </a:p>
        </p:txBody>
      </p:sp>
      <p:sp>
        <p:nvSpPr>
          <p:cNvPr id="7" name="Text 4"/>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778"/>
                </a:solidFill>
                <a:latin typeface="Malgun Gothic" pitchFamily="34" charset="0"/>
                <a:ea typeface="Malgun Gothic" pitchFamily="34" charset="-122"/>
                <a:cs typeface="Malgun Gothic"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D1C24"/>
        </a:solidFill>
      </p:bgPr>
    </p:bg>
    <p:spTree>
      <p:nvGrpSpPr>
        <p:cNvPr id="1" name=""/>
        <p:cNvGrpSpPr/>
        <p:nvPr/>
      </p:nvGrpSpPr>
      <p:grpSpPr>
        <a:xfrm>
          <a:off x="0" y="0"/>
          <a:ext cx="0" cy="0"/>
          <a:chOff x="0" y="0"/>
          <a:chExt cx="0" cy="0"/>
        </a:xfrm>
      </p:grpSpPr>
      <p:sp>
        <p:nvSpPr>
          <p:cNvPr id="2" name="Text 0"/>
          <p:cNvSpPr txBox="1"/>
          <p:nvPr/>
        </p:nvSpPr>
        <p:spPr>
          <a:xfrm>
            <a:off x="548640" y="1371600"/>
            <a:ext cx="3657600" cy="1645920"/>
          </a:xfrm>
          <a:prstGeom prst="rect">
            <a:avLst/>
          </a:prstGeom>
          <a:noFill/>
          <a:ln/>
        </p:spPr>
        <p:txBody>
          <a:bodyPr wrap="square" lIns="0" tIns="0" rIns="0" bIns="0" rtlCol="0" anchor="ctr"/>
          <a:lstStyle/>
          <a:p>
            <a:pPr indent="0" marL="0">
              <a:buNone/>
            </a:pPr>
            <a:r>
              <a:rPr lang="en-US" sz="11000" b="1" dirty="0">
                <a:solidFill>
                  <a:srgbClr val="B23A2E"/>
                </a:solidFill>
                <a:latin typeface="Malgun Gothic" pitchFamily="34" charset="0"/>
                <a:ea typeface="Malgun Gothic" pitchFamily="34" charset="-122"/>
                <a:cs typeface="Malgun Gothic" pitchFamily="34" charset="-120"/>
              </a:rPr>
              <a:t>03</a:t>
            </a:r>
            <a:endParaRPr lang="en-US" sz="11000" dirty="0"/>
          </a:p>
        </p:txBody>
      </p:sp>
      <p:sp>
        <p:nvSpPr>
          <p:cNvPr id="3" name="Text 1"/>
          <p:cNvSpPr txBox="1"/>
          <p:nvPr/>
        </p:nvSpPr>
        <p:spPr>
          <a:xfrm>
            <a:off x="548640" y="3108960"/>
            <a:ext cx="11094415" cy="914400"/>
          </a:xfrm>
          <a:prstGeom prst="rect">
            <a:avLst/>
          </a:prstGeom>
          <a:noFill/>
          <a:ln/>
        </p:spPr>
        <p:txBody>
          <a:bodyPr wrap="square" lIns="0" tIns="0" rIns="0" bIns="0" rtlCol="0" anchor="ctr"/>
          <a:lstStyle/>
          <a:p>
            <a:pPr indent="0" marL="0">
              <a:buNone/>
            </a:pPr>
            <a:r>
              <a:rPr lang="en-US" sz="4000" b="1" dirty="0">
                <a:solidFill>
                  <a:srgbClr val="F4F1EA"/>
                </a:solidFill>
                <a:latin typeface="Malgun Gothic" pitchFamily="34" charset="0"/>
                <a:ea typeface="Malgun Gothic" pitchFamily="34" charset="-122"/>
                <a:cs typeface="Malgun Gothic" pitchFamily="34" charset="-120"/>
              </a:rPr>
              <a:t>운(運) 공식 세우는 법</a:t>
            </a:r>
            <a:endParaRPr lang="en-US" sz="4000" dirty="0"/>
          </a:p>
        </p:txBody>
      </p:sp>
      <p:sp>
        <p:nvSpPr>
          <p:cNvPr id="4" name="Text 2"/>
          <p:cNvSpPr txBox="1"/>
          <p:nvPr/>
        </p:nvSpPr>
        <p:spPr>
          <a:xfrm>
            <a:off x="548640" y="4069080"/>
            <a:ext cx="9144000" cy="914400"/>
          </a:xfrm>
          <a:prstGeom prst="rect">
            <a:avLst/>
          </a:prstGeom>
          <a:noFill/>
          <a:ln/>
        </p:spPr>
        <p:txBody>
          <a:bodyPr wrap="square" lIns="0" tIns="0" rIns="0" bIns="0" rtlCol="0" anchor="t"/>
          <a:lstStyle/>
          <a:p>
            <a:pPr indent="0" marL="0">
              <a:buNone/>
            </a:pPr>
            <a:r>
              <a:rPr lang="en-US" sz="1800" dirty="0">
                <a:solidFill>
                  <a:srgbClr val="A9A4B5"/>
                </a:solidFill>
                <a:latin typeface="Malgun Gothic" pitchFamily="34" charset="0"/>
                <a:ea typeface="Malgun Gothic" pitchFamily="34" charset="-122"/>
                <a:cs typeface="Malgun Gothic" pitchFamily="34" charset="-120"/>
              </a:rPr>
              <a:t>대운 10년 × 12마디 = 120년</a:t>
            </a:r>
            <a:endParaRPr lang="en-US" sz="1800" dirty="0"/>
          </a:p>
        </p:txBody>
      </p:sp>
      <p:sp>
        <p:nvSpPr>
          <p:cNvPr id="5" name="Text 3"/>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A9A4B5"/>
                </a:solidFill>
                <a:latin typeface="Malgun Gothic" pitchFamily="34" charset="0"/>
                <a:ea typeface="Malgun Gothic" pitchFamily="34" charset="-122"/>
                <a:cs typeface="Malgun Gothic" pitchFamily="34" charset="-120"/>
              </a:rPr>
              <a:t>의명보감 1 기초편 · 제5장 의명학 공식</a:t>
            </a:r>
            <a:endParaRPr lang="en-US" sz="1000" dirty="0"/>
          </a:p>
        </p:txBody>
      </p:sp>
      <p:sp>
        <p:nvSpPr>
          <p:cNvPr id="6" name="Text 4"/>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A9A4B5"/>
                </a:solidFill>
                <a:latin typeface="Malgun Gothic" pitchFamily="34" charset="0"/>
                <a:ea typeface="Malgun Gothic" pitchFamily="34" charset="-122"/>
                <a:cs typeface="Malgun Gothic"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300" b="1" dirty="0">
                <a:solidFill>
                  <a:srgbClr val="B23A2E"/>
                </a:solidFill>
                <a:latin typeface="Malgun Gothic" pitchFamily="34" charset="0"/>
                <a:ea typeface="Malgun Gothic" pitchFamily="34" charset="-122"/>
                <a:cs typeface="Malgun Gothic" pitchFamily="34" charset="-120"/>
              </a:rPr>
              <a:t>03 운 공식</a:t>
            </a:r>
            <a:endParaRPr lang="en-US" sz="13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000" b="1" dirty="0">
                <a:solidFill>
                  <a:srgbClr val="22212A"/>
                </a:solidFill>
                <a:latin typeface="Malgun Gothic" pitchFamily="34" charset="0"/>
                <a:ea typeface="Malgun Gothic" pitchFamily="34" charset="-122"/>
                <a:cs typeface="Malgun Gothic" pitchFamily="34" charset="-120"/>
              </a:rPr>
              <a:t>4단계 — 대운(大運)</a:t>
            </a:r>
            <a:endParaRPr lang="en-US" sz="3000" dirty="0"/>
          </a:p>
        </p:txBody>
      </p:sp>
      <p:sp>
        <p:nvSpPr>
          <p:cNvPr id="4" name="Text 2"/>
          <p:cNvSpPr txBox="1"/>
          <p:nvPr/>
        </p:nvSpPr>
        <p:spPr>
          <a:xfrm>
            <a:off x="548640" y="1554480"/>
            <a:ext cx="7223760" cy="4572000"/>
          </a:xfrm>
          <a:prstGeom prst="rect">
            <a:avLst/>
          </a:prstGeom>
          <a:noFill/>
          <a:ln/>
        </p:spPr>
        <p:txBody>
          <a:bodyPr wrap="square" lIns="0" tIns="0" rIns="0" bIns="0" rtlCol="0" anchor="t"/>
          <a:lstStyle/>
          <a:p>
            <a:pPr indent="0" marL="0">
              <a:lnSpc>
                <a:spcPct val="115000"/>
              </a:lnSpc>
              <a:buNone/>
            </a:pPr>
            <a:r>
              <a:rPr lang="en-US" sz="1900" b="1" dirty="0">
                <a:solidFill>
                  <a:srgbClr val="22212A"/>
                </a:solidFill>
                <a:latin typeface="Malgun Gothic" pitchFamily="34" charset="0"/>
                <a:ea typeface="Malgun Gothic" pitchFamily="34" charset="-122"/>
                <a:cs typeface="Malgun Gothic" pitchFamily="34" charset="-120"/>
              </a:rPr>
              <a:t>대운이란</a:t>
            </a:r>
            <a:endParaRPr lang="en-US" sz="1900" dirty="0"/>
          </a:p>
          <a:p>
            <a:pPr indent="0" marL="0">
              <a:lnSpc>
                <a:spcPct val="115000"/>
              </a:lnSpc>
              <a:spcAft>
                <a:spcPts val="1600"/>
              </a:spcAft>
              <a:buNone/>
            </a:pPr>
            <a:r>
              <a:rPr lang="en-US" sz="1700" dirty="0">
                <a:solidFill>
                  <a:srgbClr val="6B6778"/>
                </a:solidFill>
                <a:latin typeface="Malgun Gothic" pitchFamily="34" charset="0"/>
                <a:ea typeface="Malgun Gothic" pitchFamily="34" charset="-122"/>
                <a:cs typeface="Malgun Gothic" pitchFamily="34" charset="-120"/>
              </a:rPr>
              <a:t>한 마디 10년, 12마디로 평생 120년. 초기 5년은 천간의 위력이 크고(약 60%), 후기 5년은 지지의 위력이 크다(약 70%).</a:t>
            </a:r>
            <a:endParaRPr lang="en-US" sz="1900" dirty="0"/>
          </a:p>
          <a:p>
            <a:pPr indent="0" marL="0">
              <a:lnSpc>
                <a:spcPct val="115000"/>
              </a:lnSpc>
              <a:buNone/>
            </a:pPr>
            <a:r>
              <a:rPr lang="en-US" sz="1900" b="1" dirty="0">
                <a:solidFill>
                  <a:srgbClr val="22212A"/>
                </a:solidFill>
                <a:latin typeface="Malgun Gothic" pitchFamily="34" charset="0"/>
                <a:ea typeface="Malgun Gothic" pitchFamily="34" charset="-122"/>
                <a:cs typeface="Malgun Gothic" pitchFamily="34" charset="-120"/>
              </a:rPr>
              <a:t>순행과 역행</a:t>
            </a:r>
            <a:endParaRPr lang="en-US" sz="1900" dirty="0"/>
          </a:p>
          <a:p>
            <a:pPr indent="0" marL="0">
              <a:lnSpc>
                <a:spcPct val="115000"/>
              </a:lnSpc>
              <a:spcAft>
                <a:spcPts val="1600"/>
              </a:spcAft>
              <a:buNone/>
            </a:pPr>
            <a:r>
              <a:rPr lang="en-US" sz="1700" dirty="0">
                <a:solidFill>
                  <a:srgbClr val="6B6778"/>
                </a:solidFill>
                <a:latin typeface="Malgun Gothic" pitchFamily="34" charset="0"/>
                <a:ea typeface="Malgun Gothic" pitchFamily="34" charset="-122"/>
                <a:cs typeface="Malgun Gothic" pitchFamily="34" charset="-120"/>
              </a:rPr>
              <a:t>양년간 남성 · 음년간 여성 → 순행 (생월 다음 간지부터)</a:t>
            </a:r>
            <a:endParaRPr lang="en-US" sz="1900" dirty="0"/>
          </a:p>
          <a:p>
            <a:pPr indent="0" marL="0">
              <a:lnSpc>
                <a:spcPct val="115000"/>
              </a:lnSpc>
              <a:spcAft>
                <a:spcPts val="1600"/>
              </a:spcAft>
              <a:buNone/>
            </a:pPr>
            <a:r>
              <a:rPr lang="en-US" sz="1700" dirty="0">
                <a:solidFill>
                  <a:srgbClr val="6B6778"/>
                </a:solidFill>
                <a:latin typeface="Malgun Gothic" pitchFamily="34" charset="0"/>
                <a:ea typeface="Malgun Gothic" pitchFamily="34" charset="-122"/>
                <a:cs typeface="Malgun Gothic" pitchFamily="34" charset="-120"/>
              </a:rPr>
              <a:t>음년간 남성 · 양년간 여성 → 역행 (생월 앞 간지부터)</a:t>
            </a:r>
            <a:endParaRPr lang="en-US" sz="1900" dirty="0"/>
          </a:p>
          <a:p>
            <a:pPr indent="0" marL="0">
              <a:lnSpc>
                <a:spcPct val="115000"/>
              </a:lnSpc>
              <a:buNone/>
            </a:pPr>
            <a:r>
              <a:rPr lang="en-US" sz="1900" b="1" dirty="0">
                <a:solidFill>
                  <a:srgbClr val="22212A"/>
                </a:solidFill>
                <a:latin typeface="Malgun Gothic" pitchFamily="34" charset="0"/>
                <a:ea typeface="Malgun Gothic" pitchFamily="34" charset="-122"/>
                <a:cs typeface="Malgun Gothic" pitchFamily="34" charset="-120"/>
              </a:rPr>
              <a:t>대운수 (운이 시작되는 나이)</a:t>
            </a:r>
            <a:endParaRPr lang="en-US" sz="1900" dirty="0"/>
          </a:p>
          <a:p>
            <a:pPr indent="0" marL="0">
              <a:lnSpc>
                <a:spcPct val="115000"/>
              </a:lnSpc>
              <a:buNone/>
            </a:pPr>
            <a:r>
              <a:rPr lang="en-US" sz="1700" dirty="0">
                <a:solidFill>
                  <a:srgbClr val="6B6778"/>
                </a:solidFill>
                <a:latin typeface="Malgun Gothic" pitchFamily="34" charset="0"/>
                <a:ea typeface="Malgun Gothic" pitchFamily="34" charset="-122"/>
                <a:cs typeface="Malgun Gothic" pitchFamily="34" charset="-120"/>
              </a:rPr>
              <a:t>순행: 생일 다음 날부터 다가오는 절기까지 날수 / 역행: 생일 전날부터 지나간 절기까지 날수</a:t>
            </a:r>
            <a:endParaRPr lang="en-US" sz="1900" dirty="0"/>
          </a:p>
          <a:p>
            <a:pPr indent="0" marL="0">
              <a:lnSpc>
                <a:spcPct val="115000"/>
              </a:lnSpc>
              <a:buNone/>
            </a:pPr>
            <a:r>
              <a:rPr lang="en-US" sz="1700" dirty="0">
                <a:solidFill>
                  <a:srgbClr val="6B6778"/>
                </a:solidFill>
                <a:latin typeface="Malgun Gothic" pitchFamily="34" charset="0"/>
                <a:ea typeface="Malgun Gothic" pitchFamily="34" charset="-122"/>
                <a:cs typeface="Malgun Gothic" pitchFamily="34" charset="-120"/>
              </a:rPr>
              <a:t>→ 날수 ÷ 3의 몫. 나머지가 2면 올리고, 1이면 버린다.</a:t>
            </a:r>
            <a:endParaRPr lang="en-US" sz="1900" dirty="0"/>
          </a:p>
        </p:txBody>
      </p:sp>
      <p:sp>
        <p:nvSpPr>
          <p:cNvPr id="5" name="Shape 3"/>
          <p:cNvSpPr/>
          <p:nvPr/>
        </p:nvSpPr>
        <p:spPr>
          <a:xfrm>
            <a:off x="8229600" y="1554480"/>
            <a:ext cx="3410712" cy="4480560"/>
          </a:xfrm>
          <a:prstGeom prst="roundRect">
            <a:avLst>
              <a:gd name="adj" fmla="val 4021"/>
            </a:avLst>
          </a:prstGeom>
          <a:solidFill>
            <a:srgbClr val="F3F1F6"/>
          </a:solidFill>
          <a:ln w="12700">
            <a:solidFill>
              <a:srgbClr val="F3F1F6"/>
            </a:solidFill>
            <a:prstDash val="solid"/>
          </a:ln>
        </p:spPr>
      </p:sp>
      <p:sp>
        <p:nvSpPr>
          <p:cNvPr id="6" name="Shape 4"/>
          <p:cNvSpPr/>
          <p:nvPr/>
        </p:nvSpPr>
        <p:spPr>
          <a:xfrm>
            <a:off x="8837676" y="1920240"/>
            <a:ext cx="2194560" cy="2194560"/>
          </a:xfrm>
          <a:prstGeom prst="ellipse">
            <a:avLst/>
          </a:prstGeom>
          <a:solidFill>
            <a:srgbClr val="22406E"/>
          </a:solidFill>
          <a:ln w="12700">
            <a:solidFill>
              <a:srgbClr val="22406E"/>
            </a:solidFill>
            <a:prstDash val="solid"/>
          </a:ln>
        </p:spPr>
      </p:sp>
      <p:sp>
        <p:nvSpPr>
          <p:cNvPr id="7" name="Text 5"/>
          <p:cNvSpPr txBox="1"/>
          <p:nvPr/>
        </p:nvSpPr>
        <p:spPr>
          <a:xfrm>
            <a:off x="8837676" y="1920240"/>
            <a:ext cx="2194560" cy="2194560"/>
          </a:xfrm>
          <a:prstGeom prst="rect">
            <a:avLst/>
          </a:prstGeom>
          <a:noFill/>
          <a:ln/>
        </p:spPr>
        <p:txBody>
          <a:bodyPr wrap="square" lIns="0" tIns="0" rIns="0" bIns="0" rtlCol="0" anchor="ctr"/>
          <a:lstStyle/>
          <a:p>
            <a:pPr algn="ctr" indent="0" marL="0">
              <a:buNone/>
            </a:pPr>
            <a:r>
              <a:rPr lang="en-US" sz="4800" b="1" dirty="0">
                <a:solidFill>
                  <a:srgbClr val="FFFFFF"/>
                </a:solidFill>
                <a:latin typeface="Malgun Gothic" pitchFamily="34" charset="0"/>
                <a:ea typeface="Malgun Gothic" pitchFamily="34" charset="-122"/>
                <a:cs typeface="Malgun Gothic" pitchFamily="34" charset="-120"/>
              </a:rPr>
              <a:t>大運</a:t>
            </a:r>
            <a:endParaRPr lang="en-US" sz="4800" dirty="0"/>
          </a:p>
        </p:txBody>
      </p:sp>
      <p:sp>
        <p:nvSpPr>
          <p:cNvPr id="8" name="Text 6"/>
          <p:cNvSpPr txBox="1"/>
          <p:nvPr/>
        </p:nvSpPr>
        <p:spPr>
          <a:xfrm>
            <a:off x="8412480" y="4343400"/>
            <a:ext cx="3044952" cy="1463040"/>
          </a:xfrm>
          <a:prstGeom prst="rect">
            <a:avLst/>
          </a:prstGeom>
          <a:noFill/>
          <a:ln/>
        </p:spPr>
        <p:txBody>
          <a:bodyPr wrap="square" lIns="0" tIns="0" rIns="0" bIns="0" rtlCol="0" anchor="t"/>
          <a:lstStyle/>
          <a:p>
            <a:pPr algn="ctr" indent="0" marL="0">
              <a:buNone/>
            </a:pPr>
            <a:r>
              <a:rPr lang="en-US" sz="1400" dirty="0">
                <a:solidFill>
                  <a:srgbClr val="22212A"/>
                </a:solidFill>
                <a:latin typeface="Malgun Gothic" pitchFamily="34" charset="0"/>
                <a:ea typeface="Malgun Gothic" pitchFamily="34" charset="-122"/>
                <a:cs typeface="Malgun Gothic" pitchFamily="34" charset="-120"/>
              </a:rPr>
              <a:t>양년간: 甲丙戊庚壬</a:t>
            </a:r>
            <a:endParaRPr lang="en-US" sz="1400" dirty="0"/>
          </a:p>
          <a:p>
            <a:pPr algn="ctr" indent="0" marL="0">
              <a:buNone/>
            </a:pPr>
            <a:r>
              <a:rPr lang="en-US" sz="1400" dirty="0">
                <a:solidFill>
                  <a:srgbClr val="22212A"/>
                </a:solidFill>
                <a:latin typeface="Malgun Gothic" pitchFamily="34" charset="0"/>
                <a:ea typeface="Malgun Gothic" pitchFamily="34" charset="-122"/>
                <a:cs typeface="Malgun Gothic" pitchFamily="34" charset="-120"/>
              </a:rPr>
              <a:t>음년간: 乙丁己辛癸</a:t>
            </a:r>
            <a:endParaRPr lang="en-US" sz="1400" dirty="0"/>
          </a:p>
        </p:txBody>
      </p:sp>
      <p:sp>
        <p:nvSpPr>
          <p:cNvPr id="9" name="Text 7"/>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B6778"/>
                </a:solidFill>
                <a:latin typeface="Malgun Gothic" pitchFamily="34" charset="0"/>
                <a:ea typeface="Malgun Gothic" pitchFamily="34" charset="-122"/>
                <a:cs typeface="Malgun Gothic" pitchFamily="34" charset="-120"/>
              </a:rPr>
              <a:t>의명보감 1 기초편 · 제5장 의명학 공식</a:t>
            </a:r>
            <a:endParaRPr lang="en-US" sz="1000" dirty="0"/>
          </a:p>
        </p:txBody>
      </p:sp>
      <p:sp>
        <p:nvSpPr>
          <p:cNvPr id="10" name="Text 8"/>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778"/>
                </a:solidFill>
                <a:latin typeface="Malgun Gothic" pitchFamily="34" charset="0"/>
                <a:ea typeface="Malgun Gothic" pitchFamily="34" charset="-122"/>
                <a:cs typeface="Malgun Gothic"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300" b="1" dirty="0">
                <a:solidFill>
                  <a:srgbClr val="B23A2E"/>
                </a:solidFill>
                <a:latin typeface="Malgun Gothic" pitchFamily="34" charset="0"/>
                <a:ea typeface="Malgun Gothic" pitchFamily="34" charset="-122"/>
                <a:cs typeface="Malgun Gothic" pitchFamily="34" charset="-120"/>
              </a:rPr>
              <a:t>03 운 공식</a:t>
            </a:r>
            <a:endParaRPr lang="en-US" sz="13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000" b="1" dirty="0">
                <a:solidFill>
                  <a:srgbClr val="22212A"/>
                </a:solidFill>
                <a:latin typeface="Malgun Gothic" pitchFamily="34" charset="0"/>
                <a:ea typeface="Malgun Gothic" pitchFamily="34" charset="-122"/>
                <a:cs typeface="Malgun Gothic" pitchFamily="34" charset="-120"/>
              </a:rPr>
              <a:t>대운 계산 예제 — 1996년 음4월 12일 18시생</a:t>
            </a:r>
            <a:endParaRPr lang="en-US" sz="3000" dirty="0"/>
          </a:p>
        </p:txBody>
      </p:sp>
      <p:sp>
        <p:nvSpPr>
          <p:cNvPr id="4" name="Text 2"/>
          <p:cNvSpPr txBox="1"/>
          <p:nvPr/>
        </p:nvSpPr>
        <p:spPr>
          <a:xfrm>
            <a:off x="640080" y="2103120"/>
            <a:ext cx="822960" cy="658368"/>
          </a:xfrm>
          <a:prstGeom prst="rect">
            <a:avLst/>
          </a:prstGeom>
          <a:noFill/>
          <a:ln/>
        </p:spPr>
        <p:txBody>
          <a:bodyPr wrap="square" lIns="0" tIns="0" rIns="0" bIns="0" rtlCol="0" anchor="ctr"/>
          <a:lstStyle/>
          <a:p>
            <a:pPr indent="0" marL="0">
              <a:buNone/>
            </a:pPr>
            <a:r>
              <a:rPr lang="en-US" sz="1400" b="1" dirty="0">
                <a:solidFill>
                  <a:srgbClr val="6B6778"/>
                </a:solidFill>
                <a:latin typeface="Malgun Gothic" pitchFamily="34" charset="0"/>
                <a:ea typeface="Malgun Gothic" pitchFamily="34" charset="-122"/>
                <a:cs typeface="Malgun Gothic" pitchFamily="34" charset="-120"/>
              </a:rPr>
              <a:t>생년</a:t>
            </a:r>
            <a:endParaRPr lang="en-US" sz="1400" dirty="0"/>
          </a:p>
        </p:txBody>
      </p:sp>
      <p:sp>
        <p:nvSpPr>
          <p:cNvPr id="5" name="Shape 3"/>
          <p:cNvSpPr/>
          <p:nvPr/>
        </p:nvSpPr>
        <p:spPr>
          <a:xfrm>
            <a:off x="1554480" y="2103120"/>
            <a:ext cx="658368" cy="658368"/>
          </a:xfrm>
          <a:prstGeom prst="ellipse">
            <a:avLst/>
          </a:prstGeom>
          <a:solidFill>
            <a:srgbClr val="C0392B"/>
          </a:solidFill>
          <a:ln w="12700">
            <a:solidFill>
              <a:srgbClr val="C0392B"/>
            </a:solidFill>
            <a:prstDash val="solid"/>
          </a:ln>
        </p:spPr>
      </p:sp>
      <p:sp>
        <p:nvSpPr>
          <p:cNvPr id="6" name="Text 4"/>
          <p:cNvSpPr txBox="1"/>
          <p:nvPr/>
        </p:nvSpPr>
        <p:spPr>
          <a:xfrm>
            <a:off x="1554480" y="2103120"/>
            <a:ext cx="658368" cy="658368"/>
          </a:xfrm>
          <a:prstGeom prst="rect">
            <a:avLst/>
          </a:prstGeom>
          <a:noFill/>
          <a:ln/>
        </p:spPr>
        <p:txBody>
          <a:bodyPr wrap="square" lIns="0" tIns="0" rIns="0" bIns="0" rtlCol="0" anchor="ctr"/>
          <a:lstStyle/>
          <a:p>
            <a:pPr algn="ctr" indent="0" marL="0">
              <a:buNone/>
            </a:pPr>
            <a:r>
              <a:rPr lang="en-US" sz="2200" b="1" dirty="0">
                <a:solidFill>
                  <a:srgbClr val="FFFFFF"/>
                </a:solidFill>
                <a:latin typeface="Malgun Gothic" pitchFamily="34" charset="0"/>
                <a:ea typeface="Malgun Gothic" pitchFamily="34" charset="-122"/>
                <a:cs typeface="Malgun Gothic" pitchFamily="34" charset="-120"/>
              </a:rPr>
              <a:t>丙</a:t>
            </a:r>
            <a:endParaRPr lang="en-US" sz="2200" dirty="0"/>
          </a:p>
        </p:txBody>
      </p:sp>
      <p:sp>
        <p:nvSpPr>
          <p:cNvPr id="7" name="Shape 5"/>
          <p:cNvSpPr/>
          <p:nvPr/>
        </p:nvSpPr>
        <p:spPr>
          <a:xfrm>
            <a:off x="2304288" y="2103120"/>
            <a:ext cx="658368" cy="658368"/>
          </a:xfrm>
          <a:prstGeom prst="ellipse">
            <a:avLst/>
          </a:prstGeom>
          <a:solidFill>
            <a:srgbClr val="22406E"/>
          </a:solidFill>
          <a:ln w="12700">
            <a:solidFill>
              <a:srgbClr val="22406E"/>
            </a:solidFill>
            <a:prstDash val="solid"/>
          </a:ln>
        </p:spPr>
      </p:sp>
      <p:sp>
        <p:nvSpPr>
          <p:cNvPr id="8" name="Text 6"/>
          <p:cNvSpPr txBox="1"/>
          <p:nvPr/>
        </p:nvSpPr>
        <p:spPr>
          <a:xfrm>
            <a:off x="2304288" y="2103120"/>
            <a:ext cx="658368" cy="658368"/>
          </a:xfrm>
          <a:prstGeom prst="rect">
            <a:avLst/>
          </a:prstGeom>
          <a:noFill/>
          <a:ln/>
        </p:spPr>
        <p:txBody>
          <a:bodyPr wrap="square" lIns="0" tIns="0" rIns="0" bIns="0" rtlCol="0" anchor="ctr"/>
          <a:lstStyle/>
          <a:p>
            <a:pPr algn="ctr" indent="0" marL="0">
              <a:buNone/>
            </a:pPr>
            <a:r>
              <a:rPr lang="en-US" sz="2200" b="1" dirty="0">
                <a:solidFill>
                  <a:srgbClr val="FFFFFF"/>
                </a:solidFill>
                <a:latin typeface="Malgun Gothic" pitchFamily="34" charset="0"/>
                <a:ea typeface="Malgun Gothic" pitchFamily="34" charset="-122"/>
                <a:cs typeface="Malgun Gothic" pitchFamily="34" charset="-120"/>
              </a:rPr>
              <a:t>子</a:t>
            </a:r>
            <a:endParaRPr lang="en-US" sz="2200" dirty="0"/>
          </a:p>
        </p:txBody>
      </p:sp>
      <p:sp>
        <p:nvSpPr>
          <p:cNvPr id="9" name="Text 7"/>
          <p:cNvSpPr txBox="1"/>
          <p:nvPr/>
        </p:nvSpPr>
        <p:spPr>
          <a:xfrm>
            <a:off x="640080" y="2962656"/>
            <a:ext cx="822960" cy="658368"/>
          </a:xfrm>
          <a:prstGeom prst="rect">
            <a:avLst/>
          </a:prstGeom>
          <a:noFill/>
          <a:ln/>
        </p:spPr>
        <p:txBody>
          <a:bodyPr wrap="square" lIns="0" tIns="0" rIns="0" bIns="0" rtlCol="0" anchor="ctr"/>
          <a:lstStyle/>
          <a:p>
            <a:pPr indent="0" marL="0">
              <a:buNone/>
            </a:pPr>
            <a:r>
              <a:rPr lang="en-US" sz="1400" b="1" dirty="0">
                <a:solidFill>
                  <a:srgbClr val="6B6778"/>
                </a:solidFill>
                <a:latin typeface="Malgun Gothic" pitchFamily="34" charset="0"/>
                <a:ea typeface="Malgun Gothic" pitchFamily="34" charset="-122"/>
                <a:cs typeface="Malgun Gothic" pitchFamily="34" charset="-120"/>
              </a:rPr>
              <a:t>생월</a:t>
            </a:r>
            <a:endParaRPr lang="en-US" sz="1400" dirty="0"/>
          </a:p>
        </p:txBody>
      </p:sp>
      <p:sp>
        <p:nvSpPr>
          <p:cNvPr id="10" name="Shape 8"/>
          <p:cNvSpPr/>
          <p:nvPr/>
        </p:nvSpPr>
        <p:spPr>
          <a:xfrm>
            <a:off x="1554480" y="2962656"/>
            <a:ext cx="658368" cy="658368"/>
          </a:xfrm>
          <a:prstGeom prst="ellipse">
            <a:avLst/>
          </a:prstGeom>
          <a:solidFill>
            <a:srgbClr val="22406E"/>
          </a:solidFill>
          <a:ln w="12700">
            <a:solidFill>
              <a:srgbClr val="22406E"/>
            </a:solidFill>
            <a:prstDash val="solid"/>
          </a:ln>
        </p:spPr>
      </p:sp>
      <p:sp>
        <p:nvSpPr>
          <p:cNvPr id="11" name="Text 9"/>
          <p:cNvSpPr txBox="1"/>
          <p:nvPr/>
        </p:nvSpPr>
        <p:spPr>
          <a:xfrm>
            <a:off x="1554480" y="2962656"/>
            <a:ext cx="658368" cy="658368"/>
          </a:xfrm>
          <a:prstGeom prst="rect">
            <a:avLst/>
          </a:prstGeom>
          <a:noFill/>
          <a:ln/>
        </p:spPr>
        <p:txBody>
          <a:bodyPr wrap="square" lIns="0" tIns="0" rIns="0" bIns="0" rtlCol="0" anchor="ctr"/>
          <a:lstStyle/>
          <a:p>
            <a:pPr algn="ctr" indent="0" marL="0">
              <a:buNone/>
            </a:pPr>
            <a:r>
              <a:rPr lang="en-US" sz="2200" b="1" dirty="0">
                <a:solidFill>
                  <a:srgbClr val="FFFFFF"/>
                </a:solidFill>
                <a:latin typeface="Malgun Gothic" pitchFamily="34" charset="0"/>
                <a:ea typeface="Malgun Gothic" pitchFamily="34" charset="-122"/>
                <a:cs typeface="Malgun Gothic" pitchFamily="34" charset="-120"/>
              </a:rPr>
              <a:t>癸</a:t>
            </a:r>
            <a:endParaRPr lang="en-US" sz="2200" dirty="0"/>
          </a:p>
        </p:txBody>
      </p:sp>
      <p:sp>
        <p:nvSpPr>
          <p:cNvPr id="12" name="Shape 10"/>
          <p:cNvSpPr/>
          <p:nvPr/>
        </p:nvSpPr>
        <p:spPr>
          <a:xfrm>
            <a:off x="2304288" y="2962656"/>
            <a:ext cx="658368" cy="658368"/>
          </a:xfrm>
          <a:prstGeom prst="ellipse">
            <a:avLst/>
          </a:prstGeom>
          <a:solidFill>
            <a:srgbClr val="C0392B"/>
          </a:solidFill>
          <a:ln w="12700">
            <a:solidFill>
              <a:srgbClr val="C0392B"/>
            </a:solidFill>
            <a:prstDash val="solid"/>
          </a:ln>
        </p:spPr>
      </p:sp>
      <p:sp>
        <p:nvSpPr>
          <p:cNvPr id="13" name="Text 11"/>
          <p:cNvSpPr txBox="1"/>
          <p:nvPr/>
        </p:nvSpPr>
        <p:spPr>
          <a:xfrm>
            <a:off x="2304288" y="2962656"/>
            <a:ext cx="658368" cy="658368"/>
          </a:xfrm>
          <a:prstGeom prst="rect">
            <a:avLst/>
          </a:prstGeom>
          <a:noFill/>
          <a:ln/>
        </p:spPr>
        <p:txBody>
          <a:bodyPr wrap="square" lIns="0" tIns="0" rIns="0" bIns="0" rtlCol="0" anchor="ctr"/>
          <a:lstStyle/>
          <a:p>
            <a:pPr algn="ctr" indent="0" marL="0">
              <a:buNone/>
            </a:pPr>
            <a:r>
              <a:rPr lang="en-US" sz="2200" b="1" dirty="0">
                <a:solidFill>
                  <a:srgbClr val="FFFFFF"/>
                </a:solidFill>
                <a:latin typeface="Malgun Gothic" pitchFamily="34" charset="0"/>
                <a:ea typeface="Malgun Gothic" pitchFamily="34" charset="-122"/>
                <a:cs typeface="Malgun Gothic" pitchFamily="34" charset="-120"/>
              </a:rPr>
              <a:t>巳</a:t>
            </a:r>
            <a:endParaRPr lang="en-US" sz="2200" dirty="0"/>
          </a:p>
        </p:txBody>
      </p:sp>
      <p:sp>
        <p:nvSpPr>
          <p:cNvPr id="14" name="Text 12"/>
          <p:cNvSpPr txBox="1"/>
          <p:nvPr/>
        </p:nvSpPr>
        <p:spPr>
          <a:xfrm>
            <a:off x="640080" y="3822192"/>
            <a:ext cx="822960" cy="658368"/>
          </a:xfrm>
          <a:prstGeom prst="rect">
            <a:avLst/>
          </a:prstGeom>
          <a:noFill/>
          <a:ln/>
        </p:spPr>
        <p:txBody>
          <a:bodyPr wrap="square" lIns="0" tIns="0" rIns="0" bIns="0" rtlCol="0" anchor="ctr"/>
          <a:lstStyle/>
          <a:p>
            <a:pPr indent="0" marL="0">
              <a:buNone/>
            </a:pPr>
            <a:r>
              <a:rPr lang="en-US" sz="1400" b="1" dirty="0">
                <a:solidFill>
                  <a:srgbClr val="6B6778"/>
                </a:solidFill>
                <a:latin typeface="Malgun Gothic" pitchFamily="34" charset="0"/>
                <a:ea typeface="Malgun Gothic" pitchFamily="34" charset="-122"/>
                <a:cs typeface="Malgun Gothic" pitchFamily="34" charset="-120"/>
              </a:rPr>
              <a:t>생일</a:t>
            </a:r>
            <a:endParaRPr lang="en-US" sz="1400" dirty="0"/>
          </a:p>
        </p:txBody>
      </p:sp>
      <p:sp>
        <p:nvSpPr>
          <p:cNvPr id="15" name="Shape 13"/>
          <p:cNvSpPr/>
          <p:nvPr/>
        </p:nvSpPr>
        <p:spPr>
          <a:xfrm>
            <a:off x="1554480" y="3822192"/>
            <a:ext cx="658368" cy="658368"/>
          </a:xfrm>
          <a:prstGeom prst="ellipse">
            <a:avLst/>
          </a:prstGeom>
          <a:solidFill>
            <a:srgbClr val="3F7D4E"/>
          </a:solidFill>
          <a:ln w="12700">
            <a:solidFill>
              <a:srgbClr val="3F7D4E"/>
            </a:solidFill>
            <a:prstDash val="solid"/>
          </a:ln>
        </p:spPr>
      </p:sp>
      <p:sp>
        <p:nvSpPr>
          <p:cNvPr id="16" name="Text 14"/>
          <p:cNvSpPr txBox="1"/>
          <p:nvPr/>
        </p:nvSpPr>
        <p:spPr>
          <a:xfrm>
            <a:off x="1554480" y="3822192"/>
            <a:ext cx="658368" cy="658368"/>
          </a:xfrm>
          <a:prstGeom prst="rect">
            <a:avLst/>
          </a:prstGeom>
          <a:noFill/>
          <a:ln/>
        </p:spPr>
        <p:txBody>
          <a:bodyPr wrap="square" lIns="0" tIns="0" rIns="0" bIns="0" rtlCol="0" anchor="ctr"/>
          <a:lstStyle/>
          <a:p>
            <a:pPr algn="ctr" indent="0" marL="0">
              <a:buNone/>
            </a:pPr>
            <a:r>
              <a:rPr lang="en-US" sz="2200" b="1" dirty="0">
                <a:solidFill>
                  <a:srgbClr val="FFFFFF"/>
                </a:solidFill>
                <a:latin typeface="Malgun Gothic" pitchFamily="34" charset="0"/>
                <a:ea typeface="Malgun Gothic" pitchFamily="34" charset="-122"/>
                <a:cs typeface="Malgun Gothic" pitchFamily="34" charset="-120"/>
              </a:rPr>
              <a:t>乙</a:t>
            </a:r>
            <a:endParaRPr lang="en-US" sz="2200" dirty="0"/>
          </a:p>
        </p:txBody>
      </p:sp>
      <p:sp>
        <p:nvSpPr>
          <p:cNvPr id="17" name="Shape 15"/>
          <p:cNvSpPr/>
          <p:nvPr/>
        </p:nvSpPr>
        <p:spPr>
          <a:xfrm>
            <a:off x="2304288" y="3822192"/>
            <a:ext cx="658368" cy="658368"/>
          </a:xfrm>
          <a:prstGeom prst="ellipse">
            <a:avLst/>
          </a:prstGeom>
          <a:solidFill>
            <a:srgbClr val="B8892A"/>
          </a:solidFill>
          <a:ln w="12700">
            <a:solidFill>
              <a:srgbClr val="B8892A"/>
            </a:solidFill>
            <a:prstDash val="solid"/>
          </a:ln>
        </p:spPr>
      </p:sp>
      <p:sp>
        <p:nvSpPr>
          <p:cNvPr id="18" name="Text 16"/>
          <p:cNvSpPr txBox="1"/>
          <p:nvPr/>
        </p:nvSpPr>
        <p:spPr>
          <a:xfrm>
            <a:off x="2304288" y="3822192"/>
            <a:ext cx="658368" cy="658368"/>
          </a:xfrm>
          <a:prstGeom prst="rect">
            <a:avLst/>
          </a:prstGeom>
          <a:noFill/>
          <a:ln/>
        </p:spPr>
        <p:txBody>
          <a:bodyPr wrap="square" lIns="0" tIns="0" rIns="0" bIns="0" rtlCol="0" anchor="ctr"/>
          <a:lstStyle/>
          <a:p>
            <a:pPr algn="ctr" indent="0" marL="0">
              <a:buNone/>
            </a:pPr>
            <a:r>
              <a:rPr lang="en-US" sz="2200" b="1" dirty="0">
                <a:solidFill>
                  <a:srgbClr val="FFFFFF"/>
                </a:solidFill>
                <a:latin typeface="Malgun Gothic" pitchFamily="34" charset="0"/>
                <a:ea typeface="Malgun Gothic" pitchFamily="34" charset="-122"/>
                <a:cs typeface="Malgun Gothic" pitchFamily="34" charset="-120"/>
              </a:rPr>
              <a:t>丑</a:t>
            </a:r>
            <a:endParaRPr lang="en-US" sz="2200" dirty="0"/>
          </a:p>
        </p:txBody>
      </p:sp>
      <p:sp>
        <p:nvSpPr>
          <p:cNvPr id="19" name="Shape 17"/>
          <p:cNvSpPr/>
          <p:nvPr/>
        </p:nvSpPr>
        <p:spPr>
          <a:xfrm>
            <a:off x="1499616" y="3767328"/>
            <a:ext cx="768096" cy="768096"/>
          </a:xfrm>
          <a:prstGeom prst="roundRect">
            <a:avLst>
              <a:gd name="adj" fmla="val 11905"/>
            </a:avLst>
          </a:prstGeom>
          <a:solidFill>
            <a:srgbClr val="FFFFFF">
              <a:alpha val="0"/>
            </a:srgbClr>
          </a:solidFill>
          <a:ln w="31750">
            <a:solidFill>
              <a:srgbClr val="B23A2E"/>
            </a:solidFill>
            <a:prstDash val="solid"/>
          </a:ln>
        </p:spPr>
      </p:sp>
      <p:sp>
        <p:nvSpPr>
          <p:cNvPr id="20" name="Text 18"/>
          <p:cNvSpPr txBox="1"/>
          <p:nvPr/>
        </p:nvSpPr>
        <p:spPr>
          <a:xfrm>
            <a:off x="640080" y="4681728"/>
            <a:ext cx="822960" cy="658368"/>
          </a:xfrm>
          <a:prstGeom prst="rect">
            <a:avLst/>
          </a:prstGeom>
          <a:noFill/>
          <a:ln/>
        </p:spPr>
        <p:txBody>
          <a:bodyPr wrap="square" lIns="0" tIns="0" rIns="0" bIns="0" rtlCol="0" anchor="ctr"/>
          <a:lstStyle/>
          <a:p>
            <a:pPr indent="0" marL="0">
              <a:buNone/>
            </a:pPr>
            <a:r>
              <a:rPr lang="en-US" sz="1400" b="1" dirty="0">
                <a:solidFill>
                  <a:srgbClr val="6B6778"/>
                </a:solidFill>
                <a:latin typeface="Malgun Gothic" pitchFamily="34" charset="0"/>
                <a:ea typeface="Malgun Gothic" pitchFamily="34" charset="-122"/>
                <a:cs typeface="Malgun Gothic" pitchFamily="34" charset="-120"/>
              </a:rPr>
              <a:t>생시</a:t>
            </a:r>
            <a:endParaRPr lang="en-US" sz="1400" dirty="0"/>
          </a:p>
        </p:txBody>
      </p:sp>
      <p:sp>
        <p:nvSpPr>
          <p:cNvPr id="21" name="Shape 19"/>
          <p:cNvSpPr/>
          <p:nvPr/>
        </p:nvSpPr>
        <p:spPr>
          <a:xfrm>
            <a:off x="1554480" y="4681728"/>
            <a:ext cx="658368" cy="658368"/>
          </a:xfrm>
          <a:prstGeom prst="ellipse">
            <a:avLst/>
          </a:prstGeom>
          <a:solidFill>
            <a:srgbClr val="3F7D4E"/>
          </a:solidFill>
          <a:ln w="12700">
            <a:solidFill>
              <a:srgbClr val="3F7D4E"/>
            </a:solidFill>
            <a:prstDash val="solid"/>
          </a:ln>
        </p:spPr>
      </p:sp>
      <p:sp>
        <p:nvSpPr>
          <p:cNvPr id="22" name="Text 20"/>
          <p:cNvSpPr txBox="1"/>
          <p:nvPr/>
        </p:nvSpPr>
        <p:spPr>
          <a:xfrm>
            <a:off x="1554480" y="4681728"/>
            <a:ext cx="658368" cy="658368"/>
          </a:xfrm>
          <a:prstGeom prst="rect">
            <a:avLst/>
          </a:prstGeom>
          <a:noFill/>
          <a:ln/>
        </p:spPr>
        <p:txBody>
          <a:bodyPr wrap="square" lIns="0" tIns="0" rIns="0" bIns="0" rtlCol="0" anchor="ctr"/>
          <a:lstStyle/>
          <a:p>
            <a:pPr algn="ctr" indent="0" marL="0">
              <a:buNone/>
            </a:pPr>
            <a:r>
              <a:rPr lang="en-US" sz="2200" b="1" dirty="0">
                <a:solidFill>
                  <a:srgbClr val="FFFFFF"/>
                </a:solidFill>
                <a:latin typeface="Malgun Gothic" pitchFamily="34" charset="0"/>
                <a:ea typeface="Malgun Gothic" pitchFamily="34" charset="-122"/>
                <a:cs typeface="Malgun Gothic" pitchFamily="34" charset="-120"/>
              </a:rPr>
              <a:t>乙</a:t>
            </a:r>
            <a:endParaRPr lang="en-US" sz="2200" dirty="0"/>
          </a:p>
        </p:txBody>
      </p:sp>
      <p:sp>
        <p:nvSpPr>
          <p:cNvPr id="23" name="Shape 21"/>
          <p:cNvSpPr/>
          <p:nvPr/>
        </p:nvSpPr>
        <p:spPr>
          <a:xfrm>
            <a:off x="2304288" y="4681728"/>
            <a:ext cx="658368" cy="658368"/>
          </a:xfrm>
          <a:prstGeom prst="ellipse">
            <a:avLst/>
          </a:prstGeom>
          <a:solidFill>
            <a:srgbClr val="6E737B"/>
          </a:solidFill>
          <a:ln w="12700">
            <a:solidFill>
              <a:srgbClr val="6E737B"/>
            </a:solidFill>
            <a:prstDash val="solid"/>
          </a:ln>
        </p:spPr>
      </p:sp>
      <p:sp>
        <p:nvSpPr>
          <p:cNvPr id="24" name="Text 22"/>
          <p:cNvSpPr txBox="1"/>
          <p:nvPr/>
        </p:nvSpPr>
        <p:spPr>
          <a:xfrm>
            <a:off x="2304288" y="4681728"/>
            <a:ext cx="658368" cy="658368"/>
          </a:xfrm>
          <a:prstGeom prst="rect">
            <a:avLst/>
          </a:prstGeom>
          <a:noFill/>
          <a:ln/>
        </p:spPr>
        <p:txBody>
          <a:bodyPr wrap="square" lIns="0" tIns="0" rIns="0" bIns="0" rtlCol="0" anchor="ctr"/>
          <a:lstStyle/>
          <a:p>
            <a:pPr algn="ctr" indent="0" marL="0">
              <a:buNone/>
            </a:pPr>
            <a:r>
              <a:rPr lang="en-US" sz="2200" b="1" dirty="0">
                <a:solidFill>
                  <a:srgbClr val="FFFFFF"/>
                </a:solidFill>
                <a:latin typeface="Malgun Gothic" pitchFamily="34" charset="0"/>
                <a:ea typeface="Malgun Gothic" pitchFamily="34" charset="-122"/>
                <a:cs typeface="Malgun Gothic" pitchFamily="34" charset="-120"/>
              </a:rPr>
              <a:t>酉</a:t>
            </a:r>
            <a:endParaRPr lang="en-US" sz="2200" dirty="0"/>
          </a:p>
        </p:txBody>
      </p:sp>
      <p:sp>
        <p:nvSpPr>
          <p:cNvPr id="25" name="Text 23"/>
          <p:cNvSpPr txBox="1"/>
          <p:nvPr/>
        </p:nvSpPr>
        <p:spPr>
          <a:xfrm>
            <a:off x="1554480" y="1755648"/>
            <a:ext cx="658368" cy="274320"/>
          </a:xfrm>
          <a:prstGeom prst="rect">
            <a:avLst/>
          </a:prstGeom>
          <a:noFill/>
          <a:ln/>
        </p:spPr>
        <p:txBody>
          <a:bodyPr wrap="square" lIns="0" tIns="0" rIns="0" bIns="0" rtlCol="0" anchor="ctr"/>
          <a:lstStyle/>
          <a:p>
            <a:pPr algn="ctr" indent="0" marL="0">
              <a:buNone/>
            </a:pPr>
            <a:r>
              <a:rPr lang="en-US" sz="1100" dirty="0">
                <a:solidFill>
                  <a:srgbClr val="6B6778"/>
                </a:solidFill>
                <a:latin typeface="Malgun Gothic" pitchFamily="34" charset="0"/>
                <a:ea typeface="Malgun Gothic" pitchFamily="34" charset="-122"/>
                <a:cs typeface="Malgun Gothic" pitchFamily="34" charset="-120"/>
              </a:rPr>
              <a:t>천간</a:t>
            </a:r>
            <a:endParaRPr lang="en-US" sz="1100" dirty="0"/>
          </a:p>
        </p:txBody>
      </p:sp>
      <p:sp>
        <p:nvSpPr>
          <p:cNvPr id="26" name="Text 24"/>
          <p:cNvSpPr txBox="1"/>
          <p:nvPr/>
        </p:nvSpPr>
        <p:spPr>
          <a:xfrm>
            <a:off x="2304288" y="1755648"/>
            <a:ext cx="658368" cy="274320"/>
          </a:xfrm>
          <a:prstGeom prst="rect">
            <a:avLst/>
          </a:prstGeom>
          <a:noFill/>
          <a:ln/>
        </p:spPr>
        <p:txBody>
          <a:bodyPr wrap="square" lIns="0" tIns="0" rIns="0" bIns="0" rtlCol="0" anchor="ctr"/>
          <a:lstStyle/>
          <a:p>
            <a:pPr algn="ctr" indent="0" marL="0">
              <a:buNone/>
            </a:pPr>
            <a:r>
              <a:rPr lang="en-US" sz="1100" dirty="0">
                <a:solidFill>
                  <a:srgbClr val="6B6778"/>
                </a:solidFill>
                <a:latin typeface="Malgun Gothic" pitchFamily="34" charset="0"/>
                <a:ea typeface="Malgun Gothic" pitchFamily="34" charset="-122"/>
                <a:cs typeface="Malgun Gothic" pitchFamily="34" charset="-120"/>
              </a:rPr>
              <a:t>지지</a:t>
            </a:r>
            <a:endParaRPr lang="en-US" sz="1100" dirty="0"/>
          </a:p>
        </p:txBody>
      </p:sp>
      <p:sp>
        <p:nvSpPr>
          <p:cNvPr id="27" name="Shape 25"/>
          <p:cNvSpPr/>
          <p:nvPr/>
        </p:nvSpPr>
        <p:spPr>
          <a:xfrm>
            <a:off x="4023360" y="1600200"/>
            <a:ext cx="7619695" cy="2011680"/>
          </a:xfrm>
          <a:prstGeom prst="roundRect">
            <a:avLst>
              <a:gd name="adj" fmla="val 4545"/>
            </a:avLst>
          </a:prstGeom>
          <a:solidFill>
            <a:srgbClr val="F3F1F6"/>
          </a:solidFill>
          <a:ln w="12700">
            <a:solidFill>
              <a:srgbClr val="F3F1F6"/>
            </a:solidFill>
            <a:prstDash val="solid"/>
          </a:ln>
        </p:spPr>
      </p:sp>
      <p:sp>
        <p:nvSpPr>
          <p:cNvPr id="28" name="Shape 26"/>
          <p:cNvSpPr/>
          <p:nvPr/>
        </p:nvSpPr>
        <p:spPr>
          <a:xfrm>
            <a:off x="4251960" y="1828800"/>
            <a:ext cx="685800" cy="685800"/>
          </a:xfrm>
          <a:prstGeom prst="ellipse">
            <a:avLst/>
          </a:prstGeom>
          <a:solidFill>
            <a:srgbClr val="22406E"/>
          </a:solidFill>
          <a:ln w="12700">
            <a:solidFill>
              <a:srgbClr val="22406E"/>
            </a:solidFill>
            <a:prstDash val="solid"/>
          </a:ln>
        </p:spPr>
      </p:sp>
      <p:sp>
        <p:nvSpPr>
          <p:cNvPr id="29" name="Text 27"/>
          <p:cNvSpPr txBox="1"/>
          <p:nvPr/>
        </p:nvSpPr>
        <p:spPr>
          <a:xfrm>
            <a:off x="4251960" y="1828800"/>
            <a:ext cx="685800" cy="685800"/>
          </a:xfrm>
          <a:prstGeom prst="rect">
            <a:avLst/>
          </a:prstGeom>
          <a:noFill/>
          <a:ln/>
        </p:spPr>
        <p:txBody>
          <a:bodyPr wrap="square" lIns="0" tIns="0" rIns="0" bIns="0" rtlCol="0" anchor="ctr"/>
          <a:lstStyle/>
          <a:p>
            <a:pPr algn="ctr" indent="0" marL="0">
              <a:buNone/>
            </a:pPr>
            <a:r>
              <a:rPr lang="en-US" sz="2000" b="1" dirty="0">
                <a:solidFill>
                  <a:srgbClr val="FFFFFF"/>
                </a:solidFill>
                <a:latin typeface="Malgun Gothic" pitchFamily="34" charset="0"/>
                <a:ea typeface="Malgun Gothic" pitchFamily="34" charset="-122"/>
                <a:cs typeface="Malgun Gothic" pitchFamily="34" charset="-120"/>
              </a:rPr>
              <a:t>男</a:t>
            </a:r>
            <a:endParaRPr lang="en-US" sz="2000" dirty="0"/>
          </a:p>
        </p:txBody>
      </p:sp>
      <p:sp>
        <p:nvSpPr>
          <p:cNvPr id="30" name="Text 28"/>
          <p:cNvSpPr txBox="1"/>
          <p:nvPr/>
        </p:nvSpPr>
        <p:spPr>
          <a:xfrm>
            <a:off x="5120640" y="1828800"/>
            <a:ext cx="6339535" cy="685800"/>
          </a:xfrm>
          <a:prstGeom prst="rect">
            <a:avLst/>
          </a:prstGeom>
          <a:noFill/>
          <a:ln/>
        </p:spPr>
        <p:txBody>
          <a:bodyPr wrap="square" lIns="0" tIns="0" rIns="0" bIns="0" rtlCol="0" anchor="ctr"/>
          <a:lstStyle/>
          <a:p>
            <a:pPr indent="0" marL="0">
              <a:buNone/>
            </a:pPr>
            <a:r>
              <a:rPr lang="en-US" sz="1700" b="1" dirty="0">
                <a:solidFill>
                  <a:srgbClr val="22212A"/>
                </a:solidFill>
                <a:latin typeface="Malgun Gothic" pitchFamily="34" charset="0"/>
                <a:ea typeface="Malgun Gothic" pitchFamily="34" charset="-122"/>
                <a:cs typeface="Malgun Gothic" pitchFamily="34" charset="-120"/>
              </a:rPr>
              <a:t>양년간(丙) 남자 → 순행</a:t>
            </a:r>
            <a:endParaRPr lang="en-US" sz="1700" dirty="0"/>
          </a:p>
        </p:txBody>
      </p:sp>
      <p:sp>
        <p:nvSpPr>
          <p:cNvPr id="31" name="Text 29"/>
          <p:cNvSpPr txBox="1"/>
          <p:nvPr/>
        </p:nvSpPr>
        <p:spPr>
          <a:xfrm>
            <a:off x="4251960" y="2606040"/>
            <a:ext cx="7162495" cy="411480"/>
          </a:xfrm>
          <a:prstGeom prst="rect">
            <a:avLst/>
          </a:prstGeom>
          <a:noFill/>
          <a:ln/>
        </p:spPr>
        <p:txBody>
          <a:bodyPr wrap="square" lIns="0" tIns="0" rIns="0" bIns="0" rtlCol="0" anchor="ctr"/>
          <a:lstStyle/>
          <a:p>
            <a:pPr indent="0" marL="0">
              <a:buNone/>
            </a:pPr>
            <a:r>
              <a:rPr lang="en-US" sz="1800" b="1" dirty="0">
                <a:solidFill>
                  <a:srgbClr val="22212A"/>
                </a:solidFill>
                <a:latin typeface="Malgun Gothic" pitchFamily="34" charset="0"/>
                <a:ea typeface="Malgun Gothic" pitchFamily="34" charset="-122"/>
                <a:cs typeface="Malgun Gothic" pitchFamily="34" charset="-120"/>
              </a:rPr>
              <a:t>甲午 → 乙未 → 丙申 → 丁酉 → 戊戌 …</a:t>
            </a:r>
            <a:endParaRPr lang="en-US" sz="1800" dirty="0"/>
          </a:p>
        </p:txBody>
      </p:sp>
      <p:sp>
        <p:nvSpPr>
          <p:cNvPr id="32" name="Text 30"/>
          <p:cNvSpPr txBox="1"/>
          <p:nvPr/>
        </p:nvSpPr>
        <p:spPr>
          <a:xfrm>
            <a:off x="4251960" y="3063240"/>
            <a:ext cx="7162495" cy="411480"/>
          </a:xfrm>
          <a:prstGeom prst="rect">
            <a:avLst/>
          </a:prstGeom>
          <a:noFill/>
          <a:ln/>
        </p:spPr>
        <p:txBody>
          <a:bodyPr wrap="square" lIns="0" tIns="0" rIns="0" bIns="0" rtlCol="0" anchor="ctr"/>
          <a:lstStyle/>
          <a:p>
            <a:pPr indent="0" marL="0">
              <a:buNone/>
            </a:pPr>
            <a:r>
              <a:rPr lang="en-US" sz="1300" dirty="0">
                <a:solidFill>
                  <a:srgbClr val="6B6778"/>
                </a:solidFill>
                <a:latin typeface="Malgun Gothic" pitchFamily="34" charset="0"/>
                <a:ea typeface="Malgun Gothic" pitchFamily="34" charset="-122"/>
                <a:cs typeface="Malgun Gothic" pitchFamily="34" charset="-120"/>
              </a:rPr>
              <a:t>다가오는 망종까지 8일 → 8 ÷ 3 = 2 … 2 → 올림 → 3세 (3·13·23세 …)</a:t>
            </a:r>
            <a:endParaRPr lang="en-US" sz="1300" dirty="0"/>
          </a:p>
        </p:txBody>
      </p:sp>
      <p:sp>
        <p:nvSpPr>
          <p:cNvPr id="33" name="Shape 31"/>
          <p:cNvSpPr/>
          <p:nvPr/>
        </p:nvSpPr>
        <p:spPr>
          <a:xfrm>
            <a:off x="4023360" y="3840480"/>
            <a:ext cx="7619695" cy="2011680"/>
          </a:xfrm>
          <a:prstGeom prst="roundRect">
            <a:avLst>
              <a:gd name="adj" fmla="val 4545"/>
            </a:avLst>
          </a:prstGeom>
          <a:solidFill>
            <a:srgbClr val="F3F1F6"/>
          </a:solidFill>
          <a:ln w="12700">
            <a:solidFill>
              <a:srgbClr val="F3F1F6"/>
            </a:solidFill>
            <a:prstDash val="solid"/>
          </a:ln>
        </p:spPr>
      </p:sp>
      <p:sp>
        <p:nvSpPr>
          <p:cNvPr id="34" name="Shape 32"/>
          <p:cNvSpPr/>
          <p:nvPr/>
        </p:nvSpPr>
        <p:spPr>
          <a:xfrm>
            <a:off x="4251960" y="4069080"/>
            <a:ext cx="685800" cy="685800"/>
          </a:xfrm>
          <a:prstGeom prst="ellipse">
            <a:avLst/>
          </a:prstGeom>
          <a:solidFill>
            <a:srgbClr val="B23A2E"/>
          </a:solidFill>
          <a:ln w="12700">
            <a:solidFill>
              <a:srgbClr val="B23A2E"/>
            </a:solidFill>
            <a:prstDash val="solid"/>
          </a:ln>
        </p:spPr>
      </p:sp>
      <p:sp>
        <p:nvSpPr>
          <p:cNvPr id="35" name="Text 33"/>
          <p:cNvSpPr txBox="1"/>
          <p:nvPr/>
        </p:nvSpPr>
        <p:spPr>
          <a:xfrm>
            <a:off x="4251960" y="4069080"/>
            <a:ext cx="685800" cy="685800"/>
          </a:xfrm>
          <a:prstGeom prst="rect">
            <a:avLst/>
          </a:prstGeom>
          <a:noFill/>
          <a:ln/>
        </p:spPr>
        <p:txBody>
          <a:bodyPr wrap="square" lIns="0" tIns="0" rIns="0" bIns="0" rtlCol="0" anchor="ctr"/>
          <a:lstStyle/>
          <a:p>
            <a:pPr algn="ctr" indent="0" marL="0">
              <a:buNone/>
            </a:pPr>
            <a:r>
              <a:rPr lang="en-US" sz="2000" b="1" dirty="0">
                <a:solidFill>
                  <a:srgbClr val="FFFFFF"/>
                </a:solidFill>
                <a:latin typeface="Malgun Gothic" pitchFamily="34" charset="0"/>
                <a:ea typeface="Malgun Gothic" pitchFamily="34" charset="-122"/>
                <a:cs typeface="Malgun Gothic" pitchFamily="34" charset="-120"/>
              </a:rPr>
              <a:t>女</a:t>
            </a:r>
            <a:endParaRPr lang="en-US" sz="2000" dirty="0"/>
          </a:p>
        </p:txBody>
      </p:sp>
      <p:sp>
        <p:nvSpPr>
          <p:cNvPr id="36" name="Text 34"/>
          <p:cNvSpPr txBox="1"/>
          <p:nvPr/>
        </p:nvSpPr>
        <p:spPr>
          <a:xfrm>
            <a:off x="5120640" y="4069080"/>
            <a:ext cx="6339535" cy="685800"/>
          </a:xfrm>
          <a:prstGeom prst="rect">
            <a:avLst/>
          </a:prstGeom>
          <a:noFill/>
          <a:ln/>
        </p:spPr>
        <p:txBody>
          <a:bodyPr wrap="square" lIns="0" tIns="0" rIns="0" bIns="0" rtlCol="0" anchor="ctr"/>
          <a:lstStyle/>
          <a:p>
            <a:pPr indent="0" marL="0">
              <a:buNone/>
            </a:pPr>
            <a:r>
              <a:rPr lang="en-US" sz="1700" b="1" dirty="0">
                <a:solidFill>
                  <a:srgbClr val="22212A"/>
                </a:solidFill>
                <a:latin typeface="Malgun Gothic" pitchFamily="34" charset="0"/>
                <a:ea typeface="Malgun Gothic" pitchFamily="34" charset="-122"/>
                <a:cs typeface="Malgun Gothic" pitchFamily="34" charset="-120"/>
              </a:rPr>
              <a:t>양년간(丙) 여자 → 역행</a:t>
            </a:r>
            <a:endParaRPr lang="en-US" sz="1700" dirty="0"/>
          </a:p>
        </p:txBody>
      </p:sp>
      <p:sp>
        <p:nvSpPr>
          <p:cNvPr id="37" name="Text 35"/>
          <p:cNvSpPr txBox="1"/>
          <p:nvPr/>
        </p:nvSpPr>
        <p:spPr>
          <a:xfrm>
            <a:off x="4251960" y="4846320"/>
            <a:ext cx="7162495" cy="411480"/>
          </a:xfrm>
          <a:prstGeom prst="rect">
            <a:avLst/>
          </a:prstGeom>
          <a:noFill/>
          <a:ln/>
        </p:spPr>
        <p:txBody>
          <a:bodyPr wrap="square" lIns="0" tIns="0" rIns="0" bIns="0" rtlCol="0" anchor="ctr"/>
          <a:lstStyle/>
          <a:p>
            <a:pPr indent="0" marL="0">
              <a:buNone/>
            </a:pPr>
            <a:r>
              <a:rPr lang="en-US" sz="1800" b="1" dirty="0">
                <a:solidFill>
                  <a:srgbClr val="22212A"/>
                </a:solidFill>
                <a:latin typeface="Malgun Gothic" pitchFamily="34" charset="0"/>
                <a:ea typeface="Malgun Gothic" pitchFamily="34" charset="-122"/>
                <a:cs typeface="Malgun Gothic" pitchFamily="34" charset="-120"/>
              </a:rPr>
              <a:t>壬辰 → 辛卯 → 庚寅 → 己丑 → 戊子 …</a:t>
            </a:r>
            <a:endParaRPr lang="en-US" sz="1800" dirty="0"/>
          </a:p>
        </p:txBody>
      </p:sp>
      <p:sp>
        <p:nvSpPr>
          <p:cNvPr id="38" name="Text 36"/>
          <p:cNvSpPr txBox="1"/>
          <p:nvPr/>
        </p:nvSpPr>
        <p:spPr>
          <a:xfrm>
            <a:off x="4251960" y="5303520"/>
            <a:ext cx="7162495" cy="411480"/>
          </a:xfrm>
          <a:prstGeom prst="rect">
            <a:avLst/>
          </a:prstGeom>
          <a:noFill/>
          <a:ln/>
        </p:spPr>
        <p:txBody>
          <a:bodyPr wrap="square" lIns="0" tIns="0" rIns="0" bIns="0" rtlCol="0" anchor="ctr"/>
          <a:lstStyle/>
          <a:p>
            <a:pPr indent="0" marL="0">
              <a:buNone/>
            </a:pPr>
            <a:r>
              <a:rPr lang="en-US" sz="1300" dirty="0">
                <a:solidFill>
                  <a:srgbClr val="6B6778"/>
                </a:solidFill>
                <a:latin typeface="Malgun Gothic" pitchFamily="34" charset="0"/>
                <a:ea typeface="Malgun Gothic" pitchFamily="34" charset="-122"/>
                <a:cs typeface="Malgun Gothic" pitchFamily="34" charset="-120"/>
              </a:rPr>
              <a:t>지나간 입하까지 23일 → 23 ÷ 3 = 7 … 2 → 올림 → 8세 (8·18·28세 …)</a:t>
            </a:r>
            <a:endParaRPr lang="en-US" sz="1300" dirty="0"/>
          </a:p>
        </p:txBody>
      </p:sp>
      <p:sp>
        <p:nvSpPr>
          <p:cNvPr id="39" name="Text 37"/>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B6778"/>
                </a:solidFill>
                <a:latin typeface="Malgun Gothic" pitchFamily="34" charset="0"/>
                <a:ea typeface="Malgun Gothic" pitchFamily="34" charset="-122"/>
                <a:cs typeface="Malgun Gothic" pitchFamily="34" charset="-120"/>
              </a:rPr>
              <a:t>의명보감 1 기초편 · 제5장 의명학 공식</a:t>
            </a:r>
            <a:endParaRPr lang="en-US" sz="1000" dirty="0"/>
          </a:p>
        </p:txBody>
      </p:sp>
      <p:sp>
        <p:nvSpPr>
          <p:cNvPr id="40" name="Text 38"/>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778"/>
                </a:solidFill>
                <a:latin typeface="Malgun Gothic" pitchFamily="34" charset="0"/>
                <a:ea typeface="Malgun Gothic" pitchFamily="34" charset="-122"/>
                <a:cs typeface="Malgun Gothic"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300" b="1" dirty="0">
                <a:solidFill>
                  <a:srgbClr val="B23A2E"/>
                </a:solidFill>
                <a:latin typeface="Malgun Gothic" pitchFamily="34" charset="0"/>
                <a:ea typeface="Malgun Gothic" pitchFamily="34" charset="-122"/>
                <a:cs typeface="Malgun Gothic" pitchFamily="34" charset="-120"/>
              </a:rPr>
              <a:t>03 운 공식</a:t>
            </a:r>
            <a:endParaRPr lang="en-US" sz="13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000" b="1" dirty="0">
                <a:solidFill>
                  <a:srgbClr val="22212A"/>
                </a:solidFill>
                <a:latin typeface="Malgun Gothic" pitchFamily="34" charset="0"/>
                <a:ea typeface="Malgun Gothic" pitchFamily="34" charset="-122"/>
                <a:cs typeface="Malgun Gothic" pitchFamily="34" charset="-120"/>
              </a:rPr>
              <a:t>5단계 — 소운(小運)과 참고: 입태일</a:t>
            </a:r>
            <a:endParaRPr lang="en-US" sz="3000" dirty="0"/>
          </a:p>
        </p:txBody>
      </p:sp>
      <p:sp>
        <p:nvSpPr>
          <p:cNvPr id="4" name="Shape 2"/>
          <p:cNvSpPr/>
          <p:nvPr/>
        </p:nvSpPr>
        <p:spPr>
          <a:xfrm>
            <a:off x="548640" y="1554480"/>
            <a:ext cx="5364328" cy="4526280"/>
          </a:xfrm>
          <a:prstGeom prst="roundRect">
            <a:avLst>
              <a:gd name="adj" fmla="val 2424"/>
            </a:avLst>
          </a:prstGeom>
          <a:solidFill>
            <a:srgbClr val="F3F1F6"/>
          </a:solidFill>
          <a:ln w="12700">
            <a:solidFill>
              <a:srgbClr val="F3F1F6"/>
            </a:solidFill>
            <a:prstDash val="solid"/>
          </a:ln>
        </p:spPr>
      </p:sp>
      <p:sp>
        <p:nvSpPr>
          <p:cNvPr id="5" name="Shape 3"/>
          <p:cNvSpPr/>
          <p:nvPr/>
        </p:nvSpPr>
        <p:spPr>
          <a:xfrm>
            <a:off x="822960" y="1783080"/>
            <a:ext cx="822960" cy="822960"/>
          </a:xfrm>
          <a:prstGeom prst="ellipse">
            <a:avLst/>
          </a:prstGeom>
          <a:solidFill>
            <a:srgbClr val="3F7D4E"/>
          </a:solidFill>
          <a:ln w="12700">
            <a:solidFill>
              <a:srgbClr val="3F7D4E"/>
            </a:solidFill>
            <a:prstDash val="solid"/>
          </a:ln>
        </p:spPr>
      </p:sp>
      <p:sp>
        <p:nvSpPr>
          <p:cNvPr id="6" name="Text 4"/>
          <p:cNvSpPr txBox="1"/>
          <p:nvPr/>
        </p:nvSpPr>
        <p:spPr>
          <a:xfrm>
            <a:off x="822960" y="1783080"/>
            <a:ext cx="822960" cy="822960"/>
          </a:xfrm>
          <a:prstGeom prst="rect">
            <a:avLst/>
          </a:prstGeom>
          <a:noFill/>
          <a:ln/>
        </p:spPr>
        <p:txBody>
          <a:bodyPr wrap="square" lIns="0" tIns="0" rIns="0" bIns="0" rtlCol="0" anchor="ctr"/>
          <a:lstStyle/>
          <a:p>
            <a:pPr algn="ctr" indent="0" marL="0">
              <a:buNone/>
            </a:pPr>
            <a:r>
              <a:rPr lang="en-US" sz="3200" b="1" dirty="0">
                <a:solidFill>
                  <a:srgbClr val="FFFFFF"/>
                </a:solidFill>
                <a:latin typeface="Malgun Gothic" pitchFamily="34" charset="0"/>
                <a:ea typeface="Malgun Gothic" pitchFamily="34" charset="-122"/>
                <a:cs typeface="Malgun Gothic" pitchFamily="34" charset="-120"/>
              </a:rPr>
              <a:t>小</a:t>
            </a:r>
            <a:endParaRPr lang="en-US" sz="3200" dirty="0"/>
          </a:p>
        </p:txBody>
      </p:sp>
      <p:sp>
        <p:nvSpPr>
          <p:cNvPr id="7" name="Text 5"/>
          <p:cNvSpPr txBox="1"/>
          <p:nvPr/>
        </p:nvSpPr>
        <p:spPr>
          <a:xfrm>
            <a:off x="1828800" y="1783080"/>
            <a:ext cx="3901288" cy="822960"/>
          </a:xfrm>
          <a:prstGeom prst="rect">
            <a:avLst/>
          </a:prstGeom>
          <a:noFill/>
          <a:ln/>
        </p:spPr>
        <p:txBody>
          <a:bodyPr wrap="square" lIns="0" tIns="0" rIns="0" bIns="0" rtlCol="0" anchor="ctr"/>
          <a:lstStyle/>
          <a:p>
            <a:pPr indent="0" marL="0">
              <a:buNone/>
            </a:pPr>
            <a:r>
              <a:rPr lang="en-US" sz="2000" b="1" dirty="0">
                <a:solidFill>
                  <a:srgbClr val="22212A"/>
                </a:solidFill>
                <a:latin typeface="Malgun Gothic" pitchFamily="34" charset="0"/>
                <a:ea typeface="Malgun Gothic" pitchFamily="34" charset="-122"/>
                <a:cs typeface="Malgun Gothic" pitchFamily="34" charset="-120"/>
              </a:rPr>
              <a:t>소운 — 입운 전 어린 시절</a:t>
            </a:r>
            <a:endParaRPr lang="en-US" sz="2000" dirty="0"/>
          </a:p>
        </p:txBody>
      </p:sp>
      <p:sp>
        <p:nvSpPr>
          <p:cNvPr id="8" name="Text 6"/>
          <p:cNvSpPr txBox="1"/>
          <p:nvPr/>
        </p:nvSpPr>
        <p:spPr>
          <a:xfrm>
            <a:off x="822960" y="2788920"/>
            <a:ext cx="4815688" cy="310896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rgbClr val="22212A"/>
                </a:solidFill>
                <a:latin typeface="Malgun Gothic" pitchFamily="34" charset="0"/>
                <a:ea typeface="Malgun Gothic" pitchFamily="34" charset="-122"/>
                <a:cs typeface="Malgun Gothic" pitchFamily="34" charset="-120"/>
              </a:rPr>
              <a:t>대운이 시작되기 전의 운</a:t>
            </a:r>
            <a:endParaRPr lang="en-US" sz="1700" dirty="0"/>
          </a:p>
          <a:p>
            <a:pPr marL="342900" indent="-342900">
              <a:spcAft>
                <a:spcPts val="1200"/>
              </a:spcAft>
              <a:buSzPct val="100000"/>
              <a:buChar char="•"/>
            </a:pPr>
            <a:r>
              <a:rPr lang="en-US" sz="1700" dirty="0">
                <a:solidFill>
                  <a:srgbClr val="22212A"/>
                </a:solidFill>
                <a:latin typeface="Malgun Gothic" pitchFamily="34" charset="0"/>
                <a:ea typeface="Malgun Gothic" pitchFamily="34" charset="-122"/>
                <a:cs typeface="Malgun Gothic" pitchFamily="34" charset="-120"/>
              </a:rPr>
              <a:t>대운처럼 순행·역행하되, 생월이 아니라 생시 간지에서 시작</a:t>
            </a:r>
            <a:endParaRPr lang="en-US" sz="1700" dirty="0"/>
          </a:p>
          <a:p>
            <a:pPr marL="342900" indent="-342900">
              <a:spcAft>
                <a:spcPts val="1200"/>
              </a:spcAft>
              <a:buSzPct val="100000"/>
              <a:buChar char="•"/>
            </a:pPr>
            <a:r>
              <a:rPr lang="en-US" sz="1700" dirty="0">
                <a:solidFill>
                  <a:srgbClr val="22212A"/>
                </a:solidFill>
                <a:latin typeface="Malgun Gothic" pitchFamily="34" charset="0"/>
                <a:ea typeface="Malgun Gothic" pitchFamily="34" charset="-122"/>
                <a:cs typeface="Malgun Gothic" pitchFamily="34" charset="-120"/>
              </a:rPr>
              <a:t>생시 간지 = 1세, 다음 간지 = 2세 … 입운 직전까지</a:t>
            </a:r>
            <a:endParaRPr lang="en-US" sz="1700" dirty="0"/>
          </a:p>
        </p:txBody>
      </p:sp>
      <p:sp>
        <p:nvSpPr>
          <p:cNvPr id="9" name="Shape 7"/>
          <p:cNvSpPr/>
          <p:nvPr/>
        </p:nvSpPr>
        <p:spPr>
          <a:xfrm>
            <a:off x="6278728" y="1554480"/>
            <a:ext cx="5364328" cy="4526280"/>
          </a:xfrm>
          <a:prstGeom prst="roundRect">
            <a:avLst>
              <a:gd name="adj" fmla="val 2424"/>
            </a:avLst>
          </a:prstGeom>
          <a:solidFill>
            <a:srgbClr val="F3F1F6"/>
          </a:solidFill>
          <a:ln w="12700">
            <a:solidFill>
              <a:srgbClr val="F3F1F6"/>
            </a:solidFill>
            <a:prstDash val="solid"/>
          </a:ln>
        </p:spPr>
      </p:sp>
      <p:sp>
        <p:nvSpPr>
          <p:cNvPr id="10" name="Shape 8"/>
          <p:cNvSpPr/>
          <p:nvPr/>
        </p:nvSpPr>
        <p:spPr>
          <a:xfrm>
            <a:off x="6553048" y="1783080"/>
            <a:ext cx="822960" cy="822960"/>
          </a:xfrm>
          <a:prstGeom prst="ellipse">
            <a:avLst/>
          </a:prstGeom>
          <a:solidFill>
            <a:srgbClr val="B8892A"/>
          </a:solidFill>
          <a:ln w="12700">
            <a:solidFill>
              <a:srgbClr val="B8892A"/>
            </a:solidFill>
            <a:prstDash val="solid"/>
          </a:ln>
        </p:spPr>
      </p:sp>
      <p:sp>
        <p:nvSpPr>
          <p:cNvPr id="11" name="Text 9"/>
          <p:cNvSpPr txBox="1"/>
          <p:nvPr/>
        </p:nvSpPr>
        <p:spPr>
          <a:xfrm>
            <a:off x="6553048" y="1783080"/>
            <a:ext cx="822960" cy="822960"/>
          </a:xfrm>
          <a:prstGeom prst="rect">
            <a:avLst/>
          </a:prstGeom>
          <a:noFill/>
          <a:ln/>
        </p:spPr>
        <p:txBody>
          <a:bodyPr wrap="square" lIns="0" tIns="0" rIns="0" bIns="0" rtlCol="0" anchor="ctr"/>
          <a:lstStyle/>
          <a:p>
            <a:pPr algn="ctr" indent="0" marL="0">
              <a:buNone/>
            </a:pPr>
            <a:r>
              <a:rPr lang="en-US" sz="3200" b="1" dirty="0">
                <a:solidFill>
                  <a:srgbClr val="FFFFFF"/>
                </a:solidFill>
                <a:latin typeface="Malgun Gothic" pitchFamily="34" charset="0"/>
                <a:ea typeface="Malgun Gothic" pitchFamily="34" charset="-122"/>
                <a:cs typeface="Malgun Gothic" pitchFamily="34" charset="-120"/>
              </a:rPr>
              <a:t>胎</a:t>
            </a:r>
            <a:endParaRPr lang="en-US" sz="3200" dirty="0"/>
          </a:p>
        </p:txBody>
      </p:sp>
      <p:sp>
        <p:nvSpPr>
          <p:cNvPr id="12" name="Text 10"/>
          <p:cNvSpPr txBox="1"/>
          <p:nvPr/>
        </p:nvSpPr>
        <p:spPr>
          <a:xfrm>
            <a:off x="7558888" y="1783080"/>
            <a:ext cx="3901288" cy="822960"/>
          </a:xfrm>
          <a:prstGeom prst="rect">
            <a:avLst/>
          </a:prstGeom>
          <a:noFill/>
          <a:ln/>
        </p:spPr>
        <p:txBody>
          <a:bodyPr wrap="square" lIns="0" tIns="0" rIns="0" bIns="0" rtlCol="0" anchor="ctr"/>
          <a:lstStyle/>
          <a:p>
            <a:pPr indent="0" marL="0">
              <a:buNone/>
            </a:pPr>
            <a:r>
              <a:rPr lang="en-US" sz="2000" b="1" dirty="0">
                <a:solidFill>
                  <a:srgbClr val="22212A"/>
                </a:solidFill>
                <a:latin typeface="Malgun Gothic" pitchFamily="34" charset="0"/>
                <a:ea typeface="Malgun Gothic" pitchFamily="34" charset="-122"/>
                <a:cs typeface="Malgun Gothic" pitchFamily="34" charset="-120"/>
              </a:rPr>
              <a:t>입태일 (참고)</a:t>
            </a:r>
            <a:endParaRPr lang="en-US" sz="2000" dirty="0"/>
          </a:p>
        </p:txBody>
      </p:sp>
      <p:sp>
        <p:nvSpPr>
          <p:cNvPr id="13" name="Text 11"/>
          <p:cNvSpPr txBox="1"/>
          <p:nvPr/>
        </p:nvSpPr>
        <p:spPr>
          <a:xfrm>
            <a:off x="6553048" y="2788920"/>
            <a:ext cx="4815688" cy="310896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rgbClr val="22212A"/>
                </a:solidFill>
                <a:latin typeface="Malgun Gothic" pitchFamily="34" charset="0"/>
                <a:ea typeface="Malgun Gothic" pitchFamily="34" charset="-122"/>
                <a:cs typeface="Malgun Gothic" pitchFamily="34" charset="-120"/>
              </a:rPr>
              <a:t>입태 간지는 출생 간지와 겉과 속(표리) 관계 — 체질과 운명에 약 30% 영향</a:t>
            </a:r>
            <a:endParaRPr lang="en-US" sz="1700" dirty="0"/>
          </a:p>
          <a:p>
            <a:pPr marL="342900" indent="-342900">
              <a:spcAft>
                <a:spcPts val="1200"/>
              </a:spcAft>
              <a:buSzPct val="100000"/>
              <a:buChar char="•"/>
            </a:pPr>
            <a:r>
              <a:rPr lang="en-US" sz="1700" dirty="0">
                <a:solidFill>
                  <a:srgbClr val="22212A"/>
                </a:solidFill>
                <a:latin typeface="Malgun Gothic" pitchFamily="34" charset="0"/>
                <a:ea typeface="Malgun Gothic" pitchFamily="34" charset="-122"/>
                <a:cs typeface="Malgun Gothic" pitchFamily="34" charset="-120"/>
              </a:rPr>
              <a:t>입태월: 월지는 생월지에서 네 번째, 천간은 두 번째 (예: 己巳월 → 庚申월)</a:t>
            </a:r>
            <a:endParaRPr lang="en-US" sz="1700" dirty="0"/>
          </a:p>
          <a:p>
            <a:pPr marL="342900" indent="-342900">
              <a:spcAft>
                <a:spcPts val="1200"/>
              </a:spcAft>
              <a:buSzPct val="100000"/>
              <a:buChar char="•"/>
            </a:pPr>
            <a:r>
              <a:rPr lang="en-US" sz="1700" dirty="0">
                <a:solidFill>
                  <a:srgbClr val="22212A"/>
                </a:solidFill>
                <a:latin typeface="Malgun Gothic" pitchFamily="34" charset="0"/>
                <a:ea typeface="Malgun Gothic" pitchFamily="34" charset="-122"/>
                <a:cs typeface="Malgun Gothic" pitchFamily="34" charset="-120"/>
              </a:rPr>
              <a:t>입태일: 생일 간지와 합하는 간지 (예: 壬申일 → 丁巳일)</a:t>
            </a:r>
            <a:endParaRPr lang="en-US" sz="1700" dirty="0"/>
          </a:p>
        </p:txBody>
      </p:sp>
      <p:sp>
        <p:nvSpPr>
          <p:cNvPr id="14" name="Text 12"/>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B6778"/>
                </a:solidFill>
                <a:latin typeface="Malgun Gothic" pitchFamily="34" charset="0"/>
                <a:ea typeface="Malgun Gothic" pitchFamily="34" charset="-122"/>
                <a:cs typeface="Malgun Gothic" pitchFamily="34" charset="-120"/>
              </a:rPr>
              <a:t>의명보감 1 기초편 · 제5장 의명학 공식</a:t>
            </a:r>
            <a:endParaRPr lang="en-US" sz="1000" dirty="0"/>
          </a:p>
        </p:txBody>
      </p:sp>
      <p:sp>
        <p:nvSpPr>
          <p:cNvPr id="15" name="Text 13"/>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778"/>
                </a:solidFill>
                <a:latin typeface="Malgun Gothic" pitchFamily="34" charset="0"/>
                <a:ea typeface="Malgun Gothic" pitchFamily="34" charset="-122"/>
                <a:cs typeface="Malgun Gothic"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D1C24"/>
        </a:solidFill>
      </p:bgPr>
    </p:bg>
    <p:spTree>
      <p:nvGrpSpPr>
        <p:cNvPr id="1" name=""/>
        <p:cNvGrpSpPr/>
        <p:nvPr/>
      </p:nvGrpSpPr>
      <p:grpSpPr>
        <a:xfrm>
          <a:off x="0" y="0"/>
          <a:ext cx="0" cy="0"/>
          <a:chOff x="0" y="0"/>
          <a:chExt cx="0" cy="0"/>
        </a:xfrm>
      </p:grpSpPr>
      <p:sp>
        <p:nvSpPr>
          <p:cNvPr id="2" name="Text 0"/>
          <p:cNvSpPr txBox="1"/>
          <p:nvPr/>
        </p:nvSpPr>
        <p:spPr>
          <a:xfrm>
            <a:off x="548640" y="1371600"/>
            <a:ext cx="3657600" cy="1645920"/>
          </a:xfrm>
          <a:prstGeom prst="rect">
            <a:avLst/>
          </a:prstGeom>
          <a:noFill/>
          <a:ln/>
        </p:spPr>
        <p:txBody>
          <a:bodyPr wrap="square" lIns="0" tIns="0" rIns="0" bIns="0" rtlCol="0" anchor="ctr"/>
          <a:lstStyle/>
          <a:p>
            <a:pPr indent="0" marL="0">
              <a:buNone/>
            </a:pPr>
            <a:r>
              <a:rPr lang="en-US" sz="11000" b="1" dirty="0">
                <a:solidFill>
                  <a:srgbClr val="B23A2E"/>
                </a:solidFill>
                <a:latin typeface="Malgun Gothic" pitchFamily="34" charset="0"/>
                <a:ea typeface="Malgun Gothic" pitchFamily="34" charset="-122"/>
                <a:cs typeface="Malgun Gothic" pitchFamily="34" charset="-120"/>
              </a:rPr>
              <a:t>04</a:t>
            </a:r>
            <a:endParaRPr lang="en-US" sz="11000" dirty="0"/>
          </a:p>
        </p:txBody>
      </p:sp>
      <p:sp>
        <p:nvSpPr>
          <p:cNvPr id="3" name="Text 1"/>
          <p:cNvSpPr txBox="1"/>
          <p:nvPr/>
        </p:nvSpPr>
        <p:spPr>
          <a:xfrm>
            <a:off x="548640" y="3108960"/>
            <a:ext cx="11094415" cy="914400"/>
          </a:xfrm>
          <a:prstGeom prst="rect">
            <a:avLst/>
          </a:prstGeom>
          <a:noFill/>
          <a:ln/>
        </p:spPr>
        <p:txBody>
          <a:bodyPr wrap="square" lIns="0" tIns="0" rIns="0" bIns="0" rtlCol="0" anchor="ctr"/>
          <a:lstStyle/>
          <a:p>
            <a:pPr indent="0" marL="0">
              <a:buNone/>
            </a:pPr>
            <a:r>
              <a:rPr lang="en-US" sz="4000" b="1" dirty="0">
                <a:solidFill>
                  <a:srgbClr val="F4F1EA"/>
                </a:solidFill>
                <a:latin typeface="Malgun Gothic" pitchFamily="34" charset="0"/>
                <a:ea typeface="Malgun Gothic" pitchFamily="34" charset="-122"/>
                <a:cs typeface="Malgun Gothic" pitchFamily="34" charset="-120"/>
              </a:rPr>
              <a:t>명운 공식 풀이 원론</a:t>
            </a:r>
            <a:endParaRPr lang="en-US" sz="4000" dirty="0"/>
          </a:p>
        </p:txBody>
      </p:sp>
      <p:sp>
        <p:nvSpPr>
          <p:cNvPr id="4" name="Text 2"/>
          <p:cNvSpPr txBox="1"/>
          <p:nvPr/>
        </p:nvSpPr>
        <p:spPr>
          <a:xfrm>
            <a:off x="548640" y="4069080"/>
            <a:ext cx="9144000" cy="914400"/>
          </a:xfrm>
          <a:prstGeom prst="rect">
            <a:avLst/>
          </a:prstGeom>
          <a:noFill/>
          <a:ln/>
        </p:spPr>
        <p:txBody>
          <a:bodyPr wrap="square" lIns="0" tIns="0" rIns="0" bIns="0" rtlCol="0" anchor="t"/>
          <a:lstStyle/>
          <a:p>
            <a:pPr indent="0" marL="0">
              <a:buNone/>
            </a:pPr>
            <a:r>
              <a:rPr lang="en-US" sz="1800" dirty="0">
                <a:solidFill>
                  <a:srgbClr val="A9A4B5"/>
                </a:solidFill>
                <a:latin typeface="Malgun Gothic" pitchFamily="34" charset="0"/>
                <a:ea typeface="Malgun Gothic" pitchFamily="34" charset="-122"/>
                <a:cs typeface="Malgun Gothic" pitchFamily="34" charset="-120"/>
              </a:rPr>
              <a:t>중용론 · 조후론 · 통관론</a:t>
            </a:r>
            <a:endParaRPr lang="en-US" sz="1800" dirty="0"/>
          </a:p>
        </p:txBody>
      </p:sp>
      <p:sp>
        <p:nvSpPr>
          <p:cNvPr id="5" name="Text 3"/>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A9A4B5"/>
                </a:solidFill>
                <a:latin typeface="Malgun Gothic" pitchFamily="34" charset="0"/>
                <a:ea typeface="Malgun Gothic" pitchFamily="34" charset="-122"/>
                <a:cs typeface="Malgun Gothic" pitchFamily="34" charset="-120"/>
              </a:rPr>
              <a:t>의명보감 1 기초편 · 제5장 의명학 공식</a:t>
            </a:r>
            <a:endParaRPr lang="en-US" sz="1000" dirty="0"/>
          </a:p>
        </p:txBody>
      </p:sp>
      <p:sp>
        <p:nvSpPr>
          <p:cNvPr id="6" name="Text 4"/>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A9A4B5"/>
                </a:solidFill>
                <a:latin typeface="Malgun Gothic" pitchFamily="34" charset="0"/>
                <a:ea typeface="Malgun Gothic" pitchFamily="34" charset="-122"/>
                <a:cs typeface="Malgun Gothic"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300" b="1" dirty="0">
                <a:solidFill>
                  <a:srgbClr val="B23A2E"/>
                </a:solidFill>
                <a:latin typeface="Malgun Gothic" pitchFamily="34" charset="0"/>
                <a:ea typeface="Malgun Gothic" pitchFamily="34" charset="-122"/>
                <a:cs typeface="Malgun Gothic" pitchFamily="34" charset="-120"/>
              </a:rPr>
              <a:t>04 풀이 원론</a:t>
            </a:r>
            <a:endParaRPr lang="en-US" sz="13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000" b="1" dirty="0">
                <a:solidFill>
                  <a:srgbClr val="22212A"/>
                </a:solidFill>
                <a:latin typeface="Malgun Gothic" pitchFamily="34" charset="0"/>
                <a:ea typeface="Malgun Gothic" pitchFamily="34" charset="-122"/>
                <a:cs typeface="Malgun Gothic" pitchFamily="34" charset="-120"/>
              </a:rPr>
              <a:t>중용론(中庸論) — 강한 것은 덜고 약한 것은 채운다</a:t>
            </a:r>
            <a:endParaRPr lang="en-US" sz="3000" dirty="0"/>
          </a:p>
        </p:txBody>
      </p:sp>
      <p:sp>
        <p:nvSpPr>
          <p:cNvPr id="4" name="Text 2"/>
          <p:cNvSpPr txBox="1"/>
          <p:nvPr/>
        </p:nvSpPr>
        <p:spPr>
          <a:xfrm>
            <a:off x="548640" y="1554480"/>
            <a:ext cx="7223760" cy="4572000"/>
          </a:xfrm>
          <a:prstGeom prst="rect">
            <a:avLst/>
          </a:prstGeom>
          <a:noFill/>
          <a:ln/>
        </p:spPr>
        <p:txBody>
          <a:bodyPr wrap="square" lIns="0" tIns="0" rIns="0" bIns="0" rtlCol="0" anchor="t"/>
          <a:lstStyle/>
          <a:p>
            <a:pPr indent="0" marL="0">
              <a:lnSpc>
                <a:spcPct val="115000"/>
              </a:lnSpc>
              <a:buNone/>
            </a:pPr>
            <a:r>
              <a:rPr lang="en-US" sz="1700" b="1" dirty="0">
                <a:solidFill>
                  <a:srgbClr val="22212A"/>
                </a:solidFill>
                <a:latin typeface="Malgun Gothic" pitchFamily="34" charset="0"/>
                <a:ea typeface="Malgun Gothic" pitchFamily="34" charset="-122"/>
                <a:cs typeface="Malgun Gothic" pitchFamily="34" charset="-120"/>
              </a:rPr>
              <a:t>핵심</a:t>
            </a:r>
            <a:endParaRPr lang="en-US" sz="1700" dirty="0"/>
          </a:p>
          <a:p>
            <a:pPr indent="0" marL="0">
              <a:lnSpc>
                <a:spcPct val="115000"/>
              </a:lnSpc>
              <a:spcAft>
                <a:spcPts val="1600"/>
              </a:spcAft>
              <a:buNone/>
            </a:pPr>
            <a:r>
              <a:rPr lang="en-US" sz="1500" dirty="0">
                <a:solidFill>
                  <a:srgbClr val="6B6778"/>
                </a:solidFill>
                <a:latin typeface="Malgun Gothic" pitchFamily="34" charset="0"/>
                <a:ea typeface="Malgun Gothic" pitchFamily="34" charset="-122"/>
                <a:cs typeface="Malgun Gothic" pitchFamily="34" charset="-120"/>
              </a:rPr>
              <a:t>오행이 치우치면 성격·오장육부·운명이 모두 치우친다. 공식 풀이는 첫째도 둘째도 강약을 가리는 일이다.</a:t>
            </a:r>
            <a:endParaRPr lang="en-US" sz="1700" dirty="0"/>
          </a:p>
          <a:p>
            <a:pPr indent="0" marL="0">
              <a:lnSpc>
                <a:spcPct val="115000"/>
              </a:lnSpc>
              <a:buNone/>
            </a:pPr>
            <a:r>
              <a:rPr lang="en-US" sz="1700" b="1" dirty="0">
                <a:solidFill>
                  <a:srgbClr val="22212A"/>
                </a:solidFill>
                <a:latin typeface="Malgun Gothic" pitchFamily="34" charset="0"/>
                <a:ea typeface="Malgun Gothic" pitchFamily="34" charset="-122"/>
                <a:cs typeface="Malgun Gothic" pitchFamily="34" charset="-120"/>
              </a:rPr>
              <a:t>방법</a:t>
            </a:r>
            <a:endParaRPr lang="en-US" sz="1700" dirty="0"/>
          </a:p>
          <a:p>
            <a:pPr indent="0" marL="0">
              <a:lnSpc>
                <a:spcPct val="115000"/>
              </a:lnSpc>
              <a:spcAft>
                <a:spcPts val="1600"/>
              </a:spcAft>
              <a:buNone/>
            </a:pPr>
            <a:r>
              <a:rPr lang="en-US" sz="1500" dirty="0">
                <a:solidFill>
                  <a:srgbClr val="6B6778"/>
                </a:solidFill>
                <a:latin typeface="Malgun Gothic" pitchFamily="34" charset="0"/>
                <a:ea typeface="Malgun Gothic" pitchFamily="34" charset="-122"/>
                <a:cs typeface="Malgun Gothic" pitchFamily="34" charset="-120"/>
              </a:rPr>
              <a:t>金이 과다하면 火로 억제하거나 水로 설기한다. 약한 木은 水와 木으로 보충한다. 과다한 金에 金이나 土를 더하면 해롭다.</a:t>
            </a:r>
            <a:endParaRPr lang="en-US" sz="1700" dirty="0"/>
          </a:p>
          <a:p>
            <a:pPr indent="0" marL="0">
              <a:lnSpc>
                <a:spcPct val="115000"/>
              </a:lnSpc>
              <a:buNone/>
            </a:pPr>
            <a:r>
              <a:rPr lang="en-US" sz="1700" b="1" dirty="0">
                <a:solidFill>
                  <a:srgbClr val="22212A"/>
                </a:solidFill>
                <a:latin typeface="Malgun Gothic" pitchFamily="34" charset="0"/>
                <a:ea typeface="Malgun Gothic" pitchFamily="34" charset="-122"/>
                <a:cs typeface="Malgun Gothic" pitchFamily="34" charset="-120"/>
              </a:rPr>
              <a:t>일간 = 나</a:t>
            </a:r>
            <a:endParaRPr lang="en-US" sz="1700" dirty="0"/>
          </a:p>
          <a:p>
            <a:pPr indent="0" marL="0">
              <a:lnSpc>
                <a:spcPct val="115000"/>
              </a:lnSpc>
              <a:spcAft>
                <a:spcPts val="1600"/>
              </a:spcAft>
              <a:buNone/>
            </a:pPr>
            <a:r>
              <a:rPr lang="en-US" sz="1500" dirty="0">
                <a:solidFill>
                  <a:srgbClr val="6B6778"/>
                </a:solidFill>
                <a:latin typeface="Malgun Gothic" pitchFamily="34" charset="0"/>
                <a:ea typeface="Malgun Gothic" pitchFamily="34" charset="-122"/>
                <a:cs typeface="Malgun Gothic" pitchFamily="34" charset="-120"/>
              </a:rPr>
              <a:t>일간을 생하는 간지가 많으면 성정이 강해져 난폭해지고, 설기하거나 극하는 간지가 많으면 몸과 마음이 쇠약해진다.</a:t>
            </a:r>
            <a:endParaRPr lang="en-US" sz="1700" dirty="0"/>
          </a:p>
          <a:p>
            <a:pPr indent="0" marL="0">
              <a:lnSpc>
                <a:spcPct val="115000"/>
              </a:lnSpc>
              <a:buNone/>
            </a:pPr>
            <a:r>
              <a:rPr lang="en-US" sz="1700" b="1" dirty="0">
                <a:solidFill>
                  <a:srgbClr val="22212A"/>
                </a:solidFill>
                <a:latin typeface="Malgun Gothic" pitchFamily="34" charset="0"/>
                <a:ea typeface="Malgun Gothic" pitchFamily="34" charset="-122"/>
                <a:cs typeface="Malgun Gothic" pitchFamily="34" charset="-120"/>
              </a:rPr>
              <a:t>대운은 바꿀 수 없다</a:t>
            </a:r>
            <a:endParaRPr lang="en-US" sz="1700" dirty="0"/>
          </a:p>
          <a:p>
            <a:pPr indent="0" marL="0">
              <a:lnSpc>
                <a:spcPct val="115000"/>
              </a:lnSpc>
              <a:buNone/>
            </a:pPr>
            <a:r>
              <a:rPr lang="en-US" sz="1500" dirty="0">
                <a:solidFill>
                  <a:srgbClr val="6B6778"/>
                </a:solidFill>
                <a:latin typeface="Malgun Gothic" pitchFamily="34" charset="0"/>
                <a:ea typeface="Malgun Gothic" pitchFamily="34" charset="-122"/>
                <a:cs typeface="Malgun Gothic" pitchFamily="34" charset="-120"/>
              </a:rPr>
              <a:t>체질은 음식과 약으로, 운명은 마음의 힘(수행)으로 극복한다. 체질을 바꾸는 것도 운명을 개조하는 한 방법이다.</a:t>
            </a:r>
            <a:endParaRPr lang="en-US" sz="1700" dirty="0"/>
          </a:p>
        </p:txBody>
      </p:sp>
      <p:sp>
        <p:nvSpPr>
          <p:cNvPr id="5" name="Shape 3"/>
          <p:cNvSpPr/>
          <p:nvPr/>
        </p:nvSpPr>
        <p:spPr>
          <a:xfrm>
            <a:off x="8229600" y="1554480"/>
            <a:ext cx="3410712" cy="4480560"/>
          </a:xfrm>
          <a:prstGeom prst="roundRect">
            <a:avLst>
              <a:gd name="adj" fmla="val 4021"/>
            </a:avLst>
          </a:prstGeom>
          <a:solidFill>
            <a:srgbClr val="F3F1F6"/>
          </a:solidFill>
          <a:ln w="12700">
            <a:solidFill>
              <a:srgbClr val="F3F1F6"/>
            </a:solidFill>
            <a:prstDash val="solid"/>
          </a:ln>
        </p:spPr>
      </p:sp>
      <p:sp>
        <p:nvSpPr>
          <p:cNvPr id="6" name="Shape 4"/>
          <p:cNvSpPr/>
          <p:nvPr/>
        </p:nvSpPr>
        <p:spPr>
          <a:xfrm>
            <a:off x="8837676" y="1920240"/>
            <a:ext cx="2194560" cy="2194560"/>
          </a:xfrm>
          <a:prstGeom prst="ellipse">
            <a:avLst/>
          </a:prstGeom>
          <a:solidFill>
            <a:srgbClr val="B23A2E"/>
          </a:solidFill>
          <a:ln w="12700">
            <a:solidFill>
              <a:srgbClr val="B23A2E"/>
            </a:solidFill>
            <a:prstDash val="solid"/>
          </a:ln>
        </p:spPr>
      </p:sp>
      <p:sp>
        <p:nvSpPr>
          <p:cNvPr id="7" name="Text 5"/>
          <p:cNvSpPr txBox="1"/>
          <p:nvPr/>
        </p:nvSpPr>
        <p:spPr>
          <a:xfrm>
            <a:off x="8837676" y="1920240"/>
            <a:ext cx="2194560" cy="2194560"/>
          </a:xfrm>
          <a:prstGeom prst="rect">
            <a:avLst/>
          </a:prstGeom>
          <a:noFill/>
          <a:ln/>
        </p:spPr>
        <p:txBody>
          <a:bodyPr wrap="square" lIns="0" tIns="0" rIns="0" bIns="0" rtlCol="0" anchor="ctr"/>
          <a:lstStyle/>
          <a:p>
            <a:pPr algn="ctr" indent="0" marL="0">
              <a:buNone/>
            </a:pPr>
            <a:r>
              <a:rPr lang="en-US" sz="4800" b="1" dirty="0">
                <a:solidFill>
                  <a:srgbClr val="FFFFFF"/>
                </a:solidFill>
                <a:latin typeface="Malgun Gothic" pitchFamily="34" charset="0"/>
                <a:ea typeface="Malgun Gothic" pitchFamily="34" charset="-122"/>
                <a:cs typeface="Malgun Gothic" pitchFamily="34" charset="-120"/>
              </a:rPr>
              <a:t>中庸</a:t>
            </a:r>
            <a:endParaRPr lang="en-US" sz="4800" dirty="0"/>
          </a:p>
        </p:txBody>
      </p:sp>
      <p:sp>
        <p:nvSpPr>
          <p:cNvPr id="8" name="Text 6"/>
          <p:cNvSpPr txBox="1"/>
          <p:nvPr/>
        </p:nvSpPr>
        <p:spPr>
          <a:xfrm>
            <a:off x="8412480" y="4343400"/>
            <a:ext cx="3044952" cy="1463040"/>
          </a:xfrm>
          <a:prstGeom prst="rect">
            <a:avLst/>
          </a:prstGeom>
          <a:noFill/>
          <a:ln/>
        </p:spPr>
        <p:txBody>
          <a:bodyPr wrap="square" lIns="0" tIns="0" rIns="0" bIns="0" rtlCol="0" anchor="t"/>
          <a:lstStyle/>
          <a:p>
            <a:pPr algn="ctr" indent="0" marL="0">
              <a:buNone/>
            </a:pPr>
            <a:r>
              <a:rPr lang="en-US" sz="1400" dirty="0">
                <a:solidFill>
                  <a:srgbClr val="22212A"/>
                </a:solidFill>
                <a:latin typeface="Malgun Gothic" pitchFamily="34" charset="0"/>
                <a:ea typeface="Malgun Gothic" pitchFamily="34" charset="-122"/>
                <a:cs typeface="Malgun Gothic" pitchFamily="34" charset="-120"/>
              </a:rPr>
              <a:t>예: 辛酉·庚子·戊午·癸丑</a:t>
            </a:r>
            <a:endParaRPr lang="en-US" sz="1400" dirty="0"/>
          </a:p>
          <a:p>
            <a:pPr algn="ctr" indent="0" marL="0">
              <a:buNone/>
            </a:pPr>
            <a:r>
              <a:rPr lang="en-US" sz="1400" dirty="0">
                <a:solidFill>
                  <a:srgbClr val="22212A"/>
                </a:solidFill>
                <a:latin typeface="Malgun Gothic" pitchFamily="34" charset="0"/>
                <a:ea typeface="Malgun Gothic" pitchFamily="34" charset="-122"/>
                <a:cs typeface="Malgun Gothic" pitchFamily="34" charset="-120"/>
              </a:rPr>
              <a:t>水가 태과, 午火가 태약</a:t>
            </a:r>
            <a:endParaRPr lang="en-US" sz="1400" dirty="0"/>
          </a:p>
          <a:p>
            <a:pPr algn="ctr" indent="0" marL="0">
              <a:buNone/>
            </a:pPr>
            <a:r>
              <a:rPr lang="en-US" sz="1400" dirty="0">
                <a:solidFill>
                  <a:srgbClr val="22212A"/>
                </a:solidFill>
                <a:latin typeface="Malgun Gothic" pitchFamily="34" charset="0"/>
                <a:ea typeface="Malgun Gothic" pitchFamily="34" charset="-122"/>
                <a:cs typeface="Malgun Gothic" pitchFamily="34" charset="-120"/>
              </a:rPr>
              <a:t>→ 木으로 火를 생하고</a:t>
            </a:r>
            <a:endParaRPr lang="en-US" sz="1400" dirty="0"/>
          </a:p>
          <a:p>
            <a:pPr algn="ctr" indent="0" marL="0">
              <a:buNone/>
            </a:pPr>
            <a:r>
              <a:rPr lang="en-US" sz="1400" dirty="0">
                <a:solidFill>
                  <a:srgbClr val="22212A"/>
                </a:solidFill>
                <a:latin typeface="Malgun Gothic" pitchFamily="34" charset="0"/>
                <a:ea typeface="Malgun Gothic" pitchFamily="34" charset="-122"/>
                <a:cs typeface="Malgun Gothic" pitchFamily="34" charset="-120"/>
              </a:rPr>
              <a:t>火로 따뜻하게</a:t>
            </a:r>
            <a:endParaRPr lang="en-US" sz="1400" dirty="0"/>
          </a:p>
        </p:txBody>
      </p:sp>
      <p:sp>
        <p:nvSpPr>
          <p:cNvPr id="9" name="Text 7"/>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B6778"/>
                </a:solidFill>
                <a:latin typeface="Malgun Gothic" pitchFamily="34" charset="0"/>
                <a:ea typeface="Malgun Gothic" pitchFamily="34" charset="-122"/>
                <a:cs typeface="Malgun Gothic" pitchFamily="34" charset="-120"/>
              </a:rPr>
              <a:t>의명보감 1 기초편 · 제5장 의명학 공식</a:t>
            </a:r>
            <a:endParaRPr lang="en-US" sz="1000" dirty="0"/>
          </a:p>
        </p:txBody>
      </p:sp>
      <p:sp>
        <p:nvSpPr>
          <p:cNvPr id="10" name="Text 8"/>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778"/>
                </a:solidFill>
                <a:latin typeface="Malgun Gothic" pitchFamily="34" charset="0"/>
                <a:ea typeface="Malgun Gothic" pitchFamily="34" charset="-122"/>
                <a:cs typeface="Malgun Gothic"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300" b="1" dirty="0">
                <a:solidFill>
                  <a:srgbClr val="B23A2E"/>
                </a:solidFill>
                <a:latin typeface="Malgun Gothic" pitchFamily="34" charset="0"/>
                <a:ea typeface="Malgun Gothic" pitchFamily="34" charset="-122"/>
                <a:cs typeface="Malgun Gothic" pitchFamily="34" charset="-120"/>
              </a:rPr>
              <a:t>04 풀이 원론</a:t>
            </a:r>
            <a:endParaRPr lang="en-US" sz="13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000" b="1" dirty="0">
                <a:solidFill>
                  <a:srgbClr val="22212A"/>
                </a:solidFill>
                <a:latin typeface="Malgun Gothic" pitchFamily="34" charset="0"/>
                <a:ea typeface="Malgun Gothic" pitchFamily="34" charset="-122"/>
                <a:cs typeface="Malgun Gothic" pitchFamily="34" charset="-120"/>
              </a:rPr>
              <a:t>조후론(調候論) — 기후를 조절하다</a:t>
            </a:r>
            <a:endParaRPr lang="en-US" sz="3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1463040"/>
                <a:gridCol w="1737360"/>
                <a:gridCol w="3017520"/>
                <a:gridCol w="2468880"/>
                <a:gridCol w="2404872"/>
              </a:tblGrid>
              <a:tr h="585216">
                <a:tc>
                  <a:txBody>
                    <a:bodyP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육기(六氣)</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c>
                  <a:txBody>
                    <a:bodyP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지지</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c>
                  <a:txBody>
                    <a:bodyP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성질</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c>
                  <a:txBody>
                    <a:bodyP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같은 기운을 또 만나면</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c>
                  <a:txBody>
                    <a:bodyP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처방</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r>
              <a:tr h="585216">
                <a:tc>
                  <a:txBody>
                    <a:bodyPr/>
                    <a:lstStyle/>
                    <a:p>
                      <a:pPr algn="ctr" indent="0" marL="0">
                        <a:buNone/>
                      </a:pPr>
                      <a:r>
                        <a:rPr lang="en-US" sz="1500" b="1" dirty="0">
                          <a:solidFill>
                            <a:srgbClr val="22212A"/>
                          </a:solidFill>
                          <a:latin typeface="Malgun Gothic" pitchFamily="34" charset="0"/>
                          <a:ea typeface="Malgun Gothic" pitchFamily="34" charset="-122"/>
                          <a:cs typeface="Malgun Gothic" pitchFamily="34" charset="-120"/>
                        </a:rPr>
                        <a:t>風 풍</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寅 · 卯</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추위 속에 따뜻함이 있는 바람</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간이 병든다</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火 (따뜻한 음식·약)</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r>
              <a:tr h="585216">
                <a:tc>
                  <a:txBody>
                    <a:bodyPr/>
                    <a:lstStyle/>
                    <a:p>
                      <a:pPr algn="ctr" indent="0" marL="0">
                        <a:buNone/>
                      </a:pPr>
                      <a:r>
                        <a:rPr lang="en-US" sz="1500" b="1" dirty="0">
                          <a:solidFill>
                            <a:srgbClr val="22212A"/>
                          </a:solidFill>
                          <a:latin typeface="Malgun Gothic" pitchFamily="34" charset="0"/>
                          <a:ea typeface="Malgun Gothic" pitchFamily="34" charset="-122"/>
                          <a:cs typeface="Malgun Gothic" pitchFamily="34" charset="-120"/>
                        </a:rPr>
                        <a:t>暑 서</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巳 · 午</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더운 기운</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열이 넘친다</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寒으로 다스림</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r>
              <a:tr h="585216">
                <a:tc>
                  <a:txBody>
                    <a:bodyPr/>
                    <a:lstStyle/>
                    <a:p>
                      <a:pPr algn="ctr" indent="0" marL="0">
                        <a:buNone/>
                      </a:pPr>
                      <a:r>
                        <a:rPr lang="en-US" sz="1500" b="1" dirty="0">
                          <a:solidFill>
                            <a:srgbClr val="22212A"/>
                          </a:solidFill>
                          <a:latin typeface="Malgun Gothic" pitchFamily="34" charset="0"/>
                          <a:ea typeface="Malgun Gothic" pitchFamily="34" charset="-122"/>
                          <a:cs typeface="Malgun Gothic" pitchFamily="34" charset="-120"/>
                        </a:rPr>
                        <a:t>燥 조</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未</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몹시 뜨거운 기운</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r>
              <a:tr h="585216">
                <a:tc>
                  <a:txBody>
                    <a:bodyPr/>
                    <a:lstStyle/>
                    <a:p>
                      <a:pPr algn="ctr" indent="0" marL="0">
                        <a:buNone/>
                      </a:pPr>
                      <a:r>
                        <a:rPr lang="en-US" sz="1500" b="1" dirty="0">
                          <a:solidFill>
                            <a:srgbClr val="22212A"/>
                          </a:solidFill>
                          <a:latin typeface="Malgun Gothic" pitchFamily="34" charset="0"/>
                          <a:ea typeface="Malgun Gothic" pitchFamily="34" charset="-122"/>
                          <a:cs typeface="Malgun Gothic" pitchFamily="34" charset="-120"/>
                        </a:rPr>
                        <a:t>濕 습</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辰</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습한 기운</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심장과 폐가 병든다</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燥한 것</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r>
              <a:tr h="585216">
                <a:tc>
                  <a:txBody>
                    <a:bodyPr/>
                    <a:lstStyle/>
                    <a:p>
                      <a:pPr algn="ctr" indent="0" marL="0">
                        <a:buNone/>
                      </a:pPr>
                      <a:r>
                        <a:rPr lang="en-US" sz="1500" b="1" dirty="0">
                          <a:solidFill>
                            <a:srgbClr val="22212A"/>
                          </a:solidFill>
                          <a:latin typeface="Malgun Gothic" pitchFamily="34" charset="0"/>
                          <a:ea typeface="Malgun Gothic" pitchFamily="34" charset="-122"/>
                          <a:cs typeface="Malgun Gothic" pitchFamily="34" charset="-120"/>
                        </a:rPr>
                        <a:t>乾 건</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申 · 酉 · 戌</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건조한 기운</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간과 위가 병든다</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濕한 음식</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r>
              <a:tr h="585216">
                <a:tc>
                  <a:txBody>
                    <a:bodyPr/>
                    <a:lstStyle/>
                    <a:p>
                      <a:pPr algn="ctr" indent="0" marL="0">
                        <a:buNone/>
                      </a:pPr>
                      <a:r>
                        <a:rPr lang="en-US" sz="1500" b="1" dirty="0">
                          <a:solidFill>
                            <a:srgbClr val="22212A"/>
                          </a:solidFill>
                          <a:latin typeface="Malgun Gothic" pitchFamily="34" charset="0"/>
                          <a:ea typeface="Malgun Gothic" pitchFamily="34" charset="-122"/>
                          <a:cs typeface="Malgun Gothic" pitchFamily="34" charset="-120"/>
                        </a:rPr>
                        <a:t>寒 한</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亥 · 子 · 丑</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추운 기운</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냉해진다</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2212A"/>
                          </a:solidFill>
                          <a:latin typeface="Malgun Gothic" pitchFamily="34" charset="0"/>
                          <a:ea typeface="Malgun Gothic" pitchFamily="34" charset="-122"/>
                          <a:cs typeface="Malgun Gothic" pitchFamily="34" charset="-120"/>
                        </a:rPr>
                        <a:t>熱로 다스림</a:t>
                      </a:r>
                      <a:endParaRPr lang="en-US" sz="15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5806440"/>
            <a:ext cx="11094415" cy="502920"/>
          </a:xfrm>
          <a:prstGeom prst="rect">
            <a:avLst/>
          </a:prstGeom>
          <a:noFill/>
          <a:ln/>
        </p:spPr>
        <p:txBody>
          <a:bodyPr wrap="square" lIns="0" tIns="0" rIns="0" bIns="0" rtlCol="0" anchor="b"/>
          <a:lstStyle/>
          <a:p>
            <a:pPr indent="0" marL="0">
              <a:buNone/>
            </a:pPr>
            <a:r>
              <a:rPr lang="en-US" sz="1100" i="1" dirty="0">
                <a:solidFill>
                  <a:srgbClr val="6B6778"/>
                </a:solidFill>
                <a:latin typeface="Malgun Gothic" pitchFamily="34" charset="0"/>
                <a:ea typeface="Malgun Gothic" pitchFamily="34" charset="-122"/>
                <a:cs typeface="Malgun Gothic" pitchFamily="34" charset="-120"/>
              </a:rPr>
              <a:t>일간을 중심으로 나머지 일곱 글자를 비교해 필요한 기운은 채우고 불필요한 기운은 버린다 — "공식 해제의 핵심" · 운명에는 "마음의 약"을 쓴다</a:t>
            </a:r>
            <a:endParaRPr lang="en-US" sz="1100" dirty="0"/>
          </a:p>
        </p:txBody>
      </p:sp>
      <p:sp>
        <p:nvSpPr>
          <p:cNvPr id="6" name="Text 3"/>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B6778"/>
                </a:solidFill>
                <a:latin typeface="Malgun Gothic" pitchFamily="34" charset="0"/>
                <a:ea typeface="Malgun Gothic" pitchFamily="34" charset="-122"/>
                <a:cs typeface="Malgun Gothic" pitchFamily="34" charset="-120"/>
              </a:rPr>
              <a:t>의명보감 1 기초편 · 제5장 의명학 공식</a:t>
            </a:r>
            <a:endParaRPr lang="en-US" sz="1000" dirty="0"/>
          </a:p>
        </p:txBody>
      </p:sp>
      <p:sp>
        <p:nvSpPr>
          <p:cNvPr id="7" name="Text 4"/>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778"/>
                </a:solidFill>
                <a:latin typeface="Malgun Gothic" pitchFamily="34" charset="0"/>
                <a:ea typeface="Malgun Gothic" pitchFamily="34" charset="-122"/>
                <a:cs typeface="Malgun Gothic"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300" b="1" dirty="0">
                <a:solidFill>
                  <a:srgbClr val="B23A2E"/>
                </a:solidFill>
                <a:latin typeface="Malgun Gothic" pitchFamily="34" charset="0"/>
                <a:ea typeface="Malgun Gothic" pitchFamily="34" charset="-122"/>
                <a:cs typeface="Malgun Gothic" pitchFamily="34" charset="-120"/>
              </a:rPr>
              <a:t>04 풀이 원론</a:t>
            </a:r>
            <a:endParaRPr lang="en-US" sz="13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000" b="1" dirty="0">
                <a:solidFill>
                  <a:srgbClr val="22212A"/>
                </a:solidFill>
                <a:latin typeface="Malgun Gothic" pitchFamily="34" charset="0"/>
                <a:ea typeface="Malgun Gothic" pitchFamily="34" charset="-122"/>
                <a:cs typeface="Malgun Gothic" pitchFamily="34" charset="-120"/>
              </a:rPr>
              <a:t>조후의 실제 — 계절별 규칙과 특수 원리</a:t>
            </a:r>
            <a:endParaRPr lang="en-US" sz="3000" dirty="0"/>
          </a:p>
        </p:txBody>
      </p:sp>
      <p:sp>
        <p:nvSpPr>
          <p:cNvPr id="4" name="Shape 2"/>
          <p:cNvSpPr/>
          <p:nvPr/>
        </p:nvSpPr>
        <p:spPr>
          <a:xfrm>
            <a:off x="548640" y="1600200"/>
            <a:ext cx="2567864" cy="4572000"/>
          </a:xfrm>
          <a:prstGeom prst="roundRect">
            <a:avLst>
              <a:gd name="adj" fmla="val 4273"/>
            </a:avLst>
          </a:prstGeom>
          <a:solidFill>
            <a:srgbClr val="F3F1F6"/>
          </a:solidFill>
          <a:ln w="12700">
            <a:solidFill>
              <a:srgbClr val="F3F1F6"/>
            </a:solidFill>
            <a:prstDash val="solid"/>
          </a:ln>
        </p:spPr>
      </p:sp>
      <p:sp>
        <p:nvSpPr>
          <p:cNvPr id="5" name="Shape 3"/>
          <p:cNvSpPr/>
          <p:nvPr/>
        </p:nvSpPr>
        <p:spPr>
          <a:xfrm>
            <a:off x="777240" y="1828800"/>
            <a:ext cx="822960" cy="822960"/>
          </a:xfrm>
          <a:prstGeom prst="ellipse">
            <a:avLst/>
          </a:prstGeom>
          <a:solidFill>
            <a:srgbClr val="3F7D4E"/>
          </a:solidFill>
          <a:ln w="12700">
            <a:solidFill>
              <a:srgbClr val="3F7D4E"/>
            </a:solidFill>
            <a:prstDash val="solid"/>
          </a:ln>
        </p:spPr>
      </p:sp>
      <p:sp>
        <p:nvSpPr>
          <p:cNvPr id="6" name="Text 4"/>
          <p:cNvSpPr txBox="1"/>
          <p:nvPr/>
        </p:nvSpPr>
        <p:spPr>
          <a:xfrm>
            <a:off x="777240" y="1828800"/>
            <a:ext cx="822960" cy="822960"/>
          </a:xfrm>
          <a:prstGeom prst="rect">
            <a:avLst/>
          </a:prstGeom>
          <a:noFill/>
          <a:ln/>
        </p:spPr>
        <p:txBody>
          <a:bodyPr wrap="square" lIns="0" tIns="0" rIns="0" bIns="0" rtlCol="0" anchor="ctr"/>
          <a:lstStyle/>
          <a:p>
            <a:pPr algn="ctr" indent="0" marL="0">
              <a:buNone/>
            </a:pPr>
            <a:r>
              <a:rPr lang="en-US" sz="3000" b="1" dirty="0">
                <a:solidFill>
                  <a:srgbClr val="FFFFFF"/>
                </a:solidFill>
                <a:latin typeface="Malgun Gothic" pitchFamily="34" charset="0"/>
                <a:ea typeface="Malgun Gothic" pitchFamily="34" charset="-122"/>
                <a:cs typeface="Malgun Gothic" pitchFamily="34" charset="-120"/>
              </a:rPr>
              <a:t>春</a:t>
            </a:r>
            <a:endParaRPr lang="en-US" sz="3000" dirty="0"/>
          </a:p>
        </p:txBody>
      </p:sp>
      <p:sp>
        <p:nvSpPr>
          <p:cNvPr id="7" name="Text 5"/>
          <p:cNvSpPr txBox="1"/>
          <p:nvPr/>
        </p:nvSpPr>
        <p:spPr>
          <a:xfrm>
            <a:off x="1783080" y="1828800"/>
            <a:ext cx="1150544" cy="822960"/>
          </a:xfrm>
          <a:prstGeom prst="rect">
            <a:avLst/>
          </a:prstGeom>
          <a:noFill/>
          <a:ln/>
        </p:spPr>
        <p:txBody>
          <a:bodyPr wrap="square" lIns="0" tIns="0" rIns="0" bIns="0" rtlCol="0" anchor="ctr"/>
          <a:lstStyle/>
          <a:p>
            <a:pPr indent="0" marL="0">
              <a:buNone/>
            </a:pPr>
            <a:r>
              <a:rPr lang="en-US" sz="1700" b="1" dirty="0">
                <a:solidFill>
                  <a:srgbClr val="22212A"/>
                </a:solidFill>
                <a:latin typeface="Malgun Gothic" pitchFamily="34" charset="0"/>
                <a:ea typeface="Malgun Gothic" pitchFamily="34" charset="-122"/>
                <a:cs typeface="Malgun Gothic" pitchFamily="34" charset="-120"/>
              </a:rPr>
              <a:t>봄의 甲乙木</a:t>
            </a:r>
            <a:endParaRPr lang="en-US" sz="1700" dirty="0"/>
          </a:p>
        </p:txBody>
      </p:sp>
      <p:sp>
        <p:nvSpPr>
          <p:cNvPr id="8" name="Text 6"/>
          <p:cNvSpPr txBox="1"/>
          <p:nvPr/>
        </p:nvSpPr>
        <p:spPr>
          <a:xfrm>
            <a:off x="777240" y="2834640"/>
            <a:ext cx="2110664" cy="3154680"/>
          </a:xfrm>
          <a:prstGeom prst="rect">
            <a:avLst/>
          </a:prstGeom>
          <a:noFill/>
          <a:ln/>
        </p:spPr>
        <p:txBody>
          <a:bodyPr wrap="square" lIns="0" tIns="0" rIns="0" bIns="0" rtlCol="0" anchor="t"/>
          <a:lstStyle/>
          <a:p>
            <a:pPr indent="0" marL="0">
              <a:lnSpc>
                <a:spcPct val="110000"/>
              </a:lnSpc>
              <a:buNone/>
            </a:pPr>
            <a:r>
              <a:rPr lang="en-US" sz="1500" dirty="0">
                <a:solidFill>
                  <a:srgbClr val="22212A"/>
                </a:solidFill>
                <a:latin typeface="Malgun Gothic" pitchFamily="34" charset="0"/>
                <a:ea typeface="Malgun Gothic" pitchFamily="34" charset="-122"/>
                <a:cs typeface="Malgun Gothic" pitchFamily="34" charset="-120"/>
              </a:rPr>
              <a:t>추위가 남아 있으므로 丙火로 따뜻하게 하고 癸水로 기른다.</a:t>
            </a:r>
            <a:endParaRPr lang="en-US" sz="1500" dirty="0"/>
          </a:p>
        </p:txBody>
      </p:sp>
      <p:sp>
        <p:nvSpPr>
          <p:cNvPr id="9" name="Shape 7"/>
          <p:cNvSpPr/>
          <p:nvPr/>
        </p:nvSpPr>
        <p:spPr>
          <a:xfrm>
            <a:off x="3390824" y="1600200"/>
            <a:ext cx="2567864" cy="4572000"/>
          </a:xfrm>
          <a:prstGeom prst="roundRect">
            <a:avLst>
              <a:gd name="adj" fmla="val 4273"/>
            </a:avLst>
          </a:prstGeom>
          <a:solidFill>
            <a:srgbClr val="F3F1F6"/>
          </a:solidFill>
          <a:ln w="12700">
            <a:solidFill>
              <a:srgbClr val="F3F1F6"/>
            </a:solidFill>
            <a:prstDash val="solid"/>
          </a:ln>
        </p:spPr>
      </p:sp>
      <p:sp>
        <p:nvSpPr>
          <p:cNvPr id="10" name="Shape 8"/>
          <p:cNvSpPr/>
          <p:nvPr/>
        </p:nvSpPr>
        <p:spPr>
          <a:xfrm>
            <a:off x="3619424" y="1828800"/>
            <a:ext cx="822960" cy="822960"/>
          </a:xfrm>
          <a:prstGeom prst="ellipse">
            <a:avLst/>
          </a:prstGeom>
          <a:solidFill>
            <a:srgbClr val="C0392B"/>
          </a:solidFill>
          <a:ln w="12700">
            <a:solidFill>
              <a:srgbClr val="C0392B"/>
            </a:solidFill>
            <a:prstDash val="solid"/>
          </a:ln>
        </p:spPr>
      </p:sp>
      <p:sp>
        <p:nvSpPr>
          <p:cNvPr id="11" name="Text 9"/>
          <p:cNvSpPr txBox="1"/>
          <p:nvPr/>
        </p:nvSpPr>
        <p:spPr>
          <a:xfrm>
            <a:off x="3619424" y="1828800"/>
            <a:ext cx="822960" cy="822960"/>
          </a:xfrm>
          <a:prstGeom prst="rect">
            <a:avLst/>
          </a:prstGeom>
          <a:noFill/>
          <a:ln/>
        </p:spPr>
        <p:txBody>
          <a:bodyPr wrap="square" lIns="0" tIns="0" rIns="0" bIns="0" rtlCol="0" anchor="ctr"/>
          <a:lstStyle/>
          <a:p>
            <a:pPr algn="ctr" indent="0" marL="0">
              <a:buNone/>
            </a:pPr>
            <a:r>
              <a:rPr lang="en-US" sz="3000" b="1" dirty="0">
                <a:solidFill>
                  <a:srgbClr val="FFFFFF"/>
                </a:solidFill>
                <a:latin typeface="Malgun Gothic" pitchFamily="34" charset="0"/>
                <a:ea typeface="Malgun Gothic" pitchFamily="34" charset="-122"/>
                <a:cs typeface="Malgun Gothic" pitchFamily="34" charset="-120"/>
              </a:rPr>
              <a:t>夏</a:t>
            </a:r>
            <a:endParaRPr lang="en-US" sz="3000" dirty="0"/>
          </a:p>
        </p:txBody>
      </p:sp>
      <p:sp>
        <p:nvSpPr>
          <p:cNvPr id="12" name="Text 10"/>
          <p:cNvSpPr txBox="1"/>
          <p:nvPr/>
        </p:nvSpPr>
        <p:spPr>
          <a:xfrm>
            <a:off x="4625264" y="1828800"/>
            <a:ext cx="1150544" cy="822960"/>
          </a:xfrm>
          <a:prstGeom prst="rect">
            <a:avLst/>
          </a:prstGeom>
          <a:noFill/>
          <a:ln/>
        </p:spPr>
        <p:txBody>
          <a:bodyPr wrap="square" lIns="0" tIns="0" rIns="0" bIns="0" rtlCol="0" anchor="ctr"/>
          <a:lstStyle/>
          <a:p>
            <a:pPr indent="0" marL="0">
              <a:buNone/>
            </a:pPr>
            <a:r>
              <a:rPr lang="en-US" sz="1700" b="1" dirty="0">
                <a:solidFill>
                  <a:srgbClr val="22212A"/>
                </a:solidFill>
                <a:latin typeface="Malgun Gothic" pitchFamily="34" charset="0"/>
                <a:ea typeface="Malgun Gothic" pitchFamily="34" charset="-122"/>
                <a:cs typeface="Malgun Gothic" pitchFamily="34" charset="-120"/>
              </a:rPr>
              <a:t>여름의 木</a:t>
            </a:r>
            <a:endParaRPr lang="en-US" sz="1700" dirty="0"/>
          </a:p>
        </p:txBody>
      </p:sp>
      <p:sp>
        <p:nvSpPr>
          <p:cNvPr id="13" name="Text 11"/>
          <p:cNvSpPr txBox="1"/>
          <p:nvPr/>
        </p:nvSpPr>
        <p:spPr>
          <a:xfrm>
            <a:off x="3619424" y="2834640"/>
            <a:ext cx="2110664" cy="3154680"/>
          </a:xfrm>
          <a:prstGeom prst="rect">
            <a:avLst/>
          </a:prstGeom>
          <a:noFill/>
          <a:ln/>
        </p:spPr>
        <p:txBody>
          <a:bodyPr wrap="square" lIns="0" tIns="0" rIns="0" bIns="0" rtlCol="0" anchor="t"/>
          <a:lstStyle/>
          <a:p>
            <a:pPr indent="0" marL="0">
              <a:lnSpc>
                <a:spcPct val="110000"/>
              </a:lnSpc>
              <a:buNone/>
            </a:pPr>
            <a:r>
              <a:rPr lang="en-US" sz="1500" dirty="0">
                <a:solidFill>
                  <a:srgbClr val="22212A"/>
                </a:solidFill>
                <a:latin typeface="Malgun Gothic" pitchFamily="34" charset="0"/>
                <a:ea typeface="Malgun Gothic" pitchFamily="34" charset="-122"/>
                <a:cs typeface="Malgun Gothic" pitchFamily="34" charset="-120"/>
              </a:rPr>
              <a:t>癸水로 식히고, 金을 水의 뿌리로 삼는다.</a:t>
            </a:r>
            <a:endParaRPr lang="en-US" sz="1500" dirty="0"/>
          </a:p>
        </p:txBody>
      </p:sp>
      <p:sp>
        <p:nvSpPr>
          <p:cNvPr id="14" name="Shape 12"/>
          <p:cNvSpPr/>
          <p:nvPr/>
        </p:nvSpPr>
        <p:spPr>
          <a:xfrm>
            <a:off x="6233008" y="1600200"/>
            <a:ext cx="2567864" cy="4572000"/>
          </a:xfrm>
          <a:prstGeom prst="roundRect">
            <a:avLst>
              <a:gd name="adj" fmla="val 4273"/>
            </a:avLst>
          </a:prstGeom>
          <a:solidFill>
            <a:srgbClr val="F3F1F6"/>
          </a:solidFill>
          <a:ln w="12700">
            <a:solidFill>
              <a:srgbClr val="F3F1F6"/>
            </a:solidFill>
            <a:prstDash val="solid"/>
          </a:ln>
        </p:spPr>
      </p:sp>
      <p:sp>
        <p:nvSpPr>
          <p:cNvPr id="15" name="Shape 13"/>
          <p:cNvSpPr/>
          <p:nvPr/>
        </p:nvSpPr>
        <p:spPr>
          <a:xfrm>
            <a:off x="6461608" y="1828800"/>
            <a:ext cx="822960" cy="822960"/>
          </a:xfrm>
          <a:prstGeom prst="ellipse">
            <a:avLst/>
          </a:prstGeom>
          <a:solidFill>
            <a:srgbClr val="22406E"/>
          </a:solidFill>
          <a:ln w="12700">
            <a:solidFill>
              <a:srgbClr val="22406E"/>
            </a:solidFill>
            <a:prstDash val="solid"/>
          </a:ln>
        </p:spPr>
      </p:sp>
      <p:sp>
        <p:nvSpPr>
          <p:cNvPr id="16" name="Text 14"/>
          <p:cNvSpPr txBox="1"/>
          <p:nvPr/>
        </p:nvSpPr>
        <p:spPr>
          <a:xfrm>
            <a:off x="6461608" y="1828800"/>
            <a:ext cx="822960" cy="822960"/>
          </a:xfrm>
          <a:prstGeom prst="rect">
            <a:avLst/>
          </a:prstGeom>
          <a:noFill/>
          <a:ln/>
        </p:spPr>
        <p:txBody>
          <a:bodyPr wrap="square" lIns="0" tIns="0" rIns="0" bIns="0" rtlCol="0" anchor="ctr"/>
          <a:lstStyle/>
          <a:p>
            <a:pPr algn="ctr" indent="0" marL="0">
              <a:buNone/>
            </a:pPr>
            <a:r>
              <a:rPr lang="en-US" sz="3000" b="1" dirty="0">
                <a:solidFill>
                  <a:srgbClr val="FFFFFF"/>
                </a:solidFill>
                <a:latin typeface="Malgun Gothic" pitchFamily="34" charset="0"/>
                <a:ea typeface="Malgun Gothic" pitchFamily="34" charset="-122"/>
                <a:cs typeface="Malgun Gothic" pitchFamily="34" charset="-120"/>
              </a:rPr>
              <a:t>冬</a:t>
            </a:r>
            <a:endParaRPr lang="en-US" sz="3000" dirty="0"/>
          </a:p>
        </p:txBody>
      </p:sp>
      <p:sp>
        <p:nvSpPr>
          <p:cNvPr id="17" name="Text 15"/>
          <p:cNvSpPr txBox="1"/>
          <p:nvPr/>
        </p:nvSpPr>
        <p:spPr>
          <a:xfrm>
            <a:off x="7467448" y="1828800"/>
            <a:ext cx="1150544" cy="822960"/>
          </a:xfrm>
          <a:prstGeom prst="rect">
            <a:avLst/>
          </a:prstGeom>
          <a:noFill/>
          <a:ln/>
        </p:spPr>
        <p:txBody>
          <a:bodyPr wrap="square" lIns="0" tIns="0" rIns="0" bIns="0" rtlCol="0" anchor="ctr"/>
          <a:lstStyle/>
          <a:p>
            <a:pPr indent="0" marL="0">
              <a:buNone/>
            </a:pPr>
            <a:r>
              <a:rPr lang="en-US" sz="1700" b="1" dirty="0">
                <a:solidFill>
                  <a:srgbClr val="22212A"/>
                </a:solidFill>
                <a:latin typeface="Malgun Gothic" pitchFamily="34" charset="0"/>
                <a:ea typeface="Malgun Gothic" pitchFamily="34" charset="-122"/>
                <a:cs typeface="Malgun Gothic" pitchFamily="34" charset="-120"/>
              </a:rPr>
              <a:t>겨울의 木</a:t>
            </a:r>
            <a:endParaRPr lang="en-US" sz="1700" dirty="0"/>
          </a:p>
        </p:txBody>
      </p:sp>
      <p:sp>
        <p:nvSpPr>
          <p:cNvPr id="18" name="Text 16"/>
          <p:cNvSpPr txBox="1"/>
          <p:nvPr/>
        </p:nvSpPr>
        <p:spPr>
          <a:xfrm>
            <a:off x="6461608" y="2834640"/>
            <a:ext cx="2110664" cy="3154680"/>
          </a:xfrm>
          <a:prstGeom prst="rect">
            <a:avLst/>
          </a:prstGeom>
          <a:noFill/>
          <a:ln/>
        </p:spPr>
        <p:txBody>
          <a:bodyPr wrap="square" lIns="0" tIns="0" rIns="0" bIns="0" rtlCol="0" anchor="t"/>
          <a:lstStyle/>
          <a:p>
            <a:pPr indent="0" marL="0">
              <a:lnSpc>
                <a:spcPct val="110000"/>
              </a:lnSpc>
              <a:buNone/>
            </a:pPr>
            <a:r>
              <a:rPr lang="en-US" sz="1500" dirty="0">
                <a:solidFill>
                  <a:srgbClr val="22212A"/>
                </a:solidFill>
                <a:latin typeface="Malgun Gothic" pitchFamily="34" charset="0"/>
                <a:ea typeface="Malgun Gothic" pitchFamily="34" charset="-122"/>
                <a:cs typeface="Malgun Gothic" pitchFamily="34" charset="-120"/>
              </a:rPr>
              <a:t>丙丁火로 조후하고, 戊土로 뿌리를 두텁게 한다.</a:t>
            </a:r>
            <a:endParaRPr lang="en-US" sz="1500" dirty="0"/>
          </a:p>
        </p:txBody>
      </p:sp>
      <p:sp>
        <p:nvSpPr>
          <p:cNvPr id="19" name="Shape 17"/>
          <p:cNvSpPr/>
          <p:nvPr/>
        </p:nvSpPr>
        <p:spPr>
          <a:xfrm>
            <a:off x="9075191" y="1600200"/>
            <a:ext cx="2567864" cy="4572000"/>
          </a:xfrm>
          <a:prstGeom prst="roundRect">
            <a:avLst>
              <a:gd name="adj" fmla="val 4273"/>
            </a:avLst>
          </a:prstGeom>
          <a:solidFill>
            <a:srgbClr val="F3F1F6"/>
          </a:solidFill>
          <a:ln w="12700">
            <a:solidFill>
              <a:srgbClr val="F3F1F6"/>
            </a:solidFill>
            <a:prstDash val="solid"/>
          </a:ln>
        </p:spPr>
      </p:sp>
      <p:sp>
        <p:nvSpPr>
          <p:cNvPr id="20" name="Shape 18"/>
          <p:cNvSpPr/>
          <p:nvPr/>
        </p:nvSpPr>
        <p:spPr>
          <a:xfrm>
            <a:off x="9303791" y="1828800"/>
            <a:ext cx="822960" cy="822960"/>
          </a:xfrm>
          <a:prstGeom prst="ellipse">
            <a:avLst/>
          </a:prstGeom>
          <a:solidFill>
            <a:srgbClr val="B23A2E"/>
          </a:solidFill>
          <a:ln w="12700">
            <a:solidFill>
              <a:srgbClr val="B23A2E"/>
            </a:solidFill>
            <a:prstDash val="solid"/>
          </a:ln>
        </p:spPr>
      </p:sp>
      <p:sp>
        <p:nvSpPr>
          <p:cNvPr id="21" name="Text 19"/>
          <p:cNvSpPr txBox="1"/>
          <p:nvPr/>
        </p:nvSpPr>
        <p:spPr>
          <a:xfrm>
            <a:off x="9303791" y="1828800"/>
            <a:ext cx="822960" cy="822960"/>
          </a:xfrm>
          <a:prstGeom prst="rect">
            <a:avLst/>
          </a:prstGeom>
          <a:noFill/>
          <a:ln/>
        </p:spPr>
        <p:txBody>
          <a:bodyPr wrap="square" lIns="0" tIns="0" rIns="0" bIns="0" rtlCol="0" anchor="ctr"/>
          <a:lstStyle/>
          <a:p>
            <a:pPr algn="ctr" indent="0" marL="0">
              <a:buNone/>
            </a:pPr>
            <a:r>
              <a:rPr lang="en-US" sz="3000" b="1" dirty="0">
                <a:solidFill>
                  <a:srgbClr val="FFFFFF"/>
                </a:solidFill>
                <a:latin typeface="Malgun Gothic" pitchFamily="34" charset="0"/>
                <a:ea typeface="Malgun Gothic" pitchFamily="34" charset="-122"/>
                <a:cs typeface="Malgun Gothic" pitchFamily="34" charset="-120"/>
              </a:rPr>
              <a:t>勢</a:t>
            </a:r>
            <a:endParaRPr lang="en-US" sz="3000" dirty="0"/>
          </a:p>
        </p:txBody>
      </p:sp>
      <p:sp>
        <p:nvSpPr>
          <p:cNvPr id="22" name="Text 20"/>
          <p:cNvSpPr txBox="1"/>
          <p:nvPr/>
        </p:nvSpPr>
        <p:spPr>
          <a:xfrm>
            <a:off x="10309631" y="1828800"/>
            <a:ext cx="1150544" cy="822960"/>
          </a:xfrm>
          <a:prstGeom prst="rect">
            <a:avLst/>
          </a:prstGeom>
          <a:noFill/>
          <a:ln/>
        </p:spPr>
        <p:txBody>
          <a:bodyPr wrap="square" lIns="0" tIns="0" rIns="0" bIns="0" rtlCol="0" anchor="ctr"/>
          <a:lstStyle/>
          <a:p>
            <a:pPr indent="0" marL="0">
              <a:buNone/>
            </a:pPr>
            <a:r>
              <a:rPr lang="en-US" sz="1700" b="1" dirty="0">
                <a:solidFill>
                  <a:srgbClr val="22212A"/>
                </a:solidFill>
                <a:latin typeface="Malgun Gothic" pitchFamily="34" charset="0"/>
                <a:ea typeface="Malgun Gothic" pitchFamily="34" charset="-122"/>
                <a:cs typeface="Malgun Gothic" pitchFamily="34" charset="-120"/>
              </a:rPr>
              <a:t>특수 원리</a:t>
            </a:r>
            <a:endParaRPr lang="en-US" sz="1700" dirty="0"/>
          </a:p>
        </p:txBody>
      </p:sp>
      <p:sp>
        <p:nvSpPr>
          <p:cNvPr id="23" name="Text 21"/>
          <p:cNvSpPr txBox="1"/>
          <p:nvPr/>
        </p:nvSpPr>
        <p:spPr>
          <a:xfrm>
            <a:off x="9303791" y="2834640"/>
            <a:ext cx="2110664" cy="3154680"/>
          </a:xfrm>
          <a:prstGeom prst="rect">
            <a:avLst/>
          </a:prstGeom>
          <a:noFill/>
          <a:ln/>
        </p:spPr>
        <p:txBody>
          <a:bodyPr wrap="square" lIns="0" tIns="0" rIns="0" bIns="0" rtlCol="0" anchor="t"/>
          <a:lstStyle/>
          <a:p>
            <a:pPr indent="0" marL="0">
              <a:lnSpc>
                <a:spcPct val="110000"/>
              </a:lnSpc>
              <a:buNone/>
            </a:pPr>
            <a:r>
              <a:rPr lang="en-US" sz="1500" dirty="0">
                <a:solidFill>
                  <a:srgbClr val="22212A"/>
                </a:solidFill>
                <a:latin typeface="Malgun Gothic" pitchFamily="34" charset="0"/>
                <a:ea typeface="Malgun Gothic" pitchFamily="34" charset="-122"/>
                <a:cs typeface="Malgun Gothic" pitchFamily="34" charset="-120"/>
              </a:rPr>
              <a:t>공식 전체가 水이면 火가, 전체가 火이면 水가 저절로 응해 온다. 이때는 억지로 막지 말고 기세를 따른다.</a:t>
            </a:r>
            <a:endParaRPr lang="en-US" sz="1500" dirty="0"/>
          </a:p>
        </p:txBody>
      </p:sp>
      <p:sp>
        <p:nvSpPr>
          <p:cNvPr id="24" name="Text 22"/>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B6778"/>
                </a:solidFill>
                <a:latin typeface="Malgun Gothic" pitchFamily="34" charset="0"/>
                <a:ea typeface="Malgun Gothic" pitchFamily="34" charset="-122"/>
                <a:cs typeface="Malgun Gothic" pitchFamily="34" charset="-120"/>
              </a:rPr>
              <a:t>의명보감 1 기초편 · 제5장 의명학 공식</a:t>
            </a:r>
            <a:endParaRPr lang="en-US" sz="1000" dirty="0"/>
          </a:p>
        </p:txBody>
      </p:sp>
      <p:sp>
        <p:nvSpPr>
          <p:cNvPr id="25" name="Text 23"/>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778"/>
                </a:solidFill>
                <a:latin typeface="Malgun Gothic" pitchFamily="34" charset="0"/>
                <a:ea typeface="Malgun Gothic" pitchFamily="34" charset="-122"/>
                <a:cs typeface="Malgun Gothic"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300" b="1" dirty="0">
                <a:solidFill>
                  <a:srgbClr val="B23A2E"/>
                </a:solidFill>
                <a:latin typeface="Malgun Gothic" pitchFamily="34" charset="0"/>
                <a:ea typeface="Malgun Gothic" pitchFamily="34" charset="-122"/>
                <a:cs typeface="Malgun Gothic" pitchFamily="34" charset="-120"/>
              </a:rPr>
              <a:t>04 풀이 원론</a:t>
            </a:r>
            <a:endParaRPr lang="en-US" sz="13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000" b="1" dirty="0">
                <a:solidFill>
                  <a:srgbClr val="22212A"/>
                </a:solidFill>
                <a:latin typeface="Malgun Gothic" pitchFamily="34" charset="0"/>
                <a:ea typeface="Malgun Gothic" pitchFamily="34" charset="-122"/>
                <a:cs typeface="Malgun Gothic" pitchFamily="34" charset="-120"/>
              </a:rPr>
              <a:t>통관론(通關論) — 다투는 두 세력 사이를 상생으로 잇다</a:t>
            </a:r>
            <a:endParaRPr lang="en-US" sz="3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3108960"/>
                <a:gridCol w="3108960"/>
                <a:gridCol w="4873752"/>
              </a:tblGrid>
              <a:tr h="685800">
                <a:tc>
                  <a:txBody>
                    <a:bodyP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다투는 두 세력</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c>
                  <a:txBody>
                    <a:bodyP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통관하는 오행</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c>
                  <a:txBody>
                    <a:bodyPr/>
                    <a:lstStyle/>
                    <a:p>
                      <a:pPr algn="ctr" indent="0" marL="0">
                        <a:buNone/>
                      </a:pPr>
                      <a:r>
                        <a:rPr lang="en-US" sz="1800" b="1" dirty="0">
                          <a:solidFill>
                            <a:srgbClr val="FFFFFF"/>
                          </a:solidFill>
                          <a:latin typeface="Malgun Gothic" pitchFamily="34" charset="0"/>
                          <a:ea typeface="Malgun Gothic" pitchFamily="34" charset="-122"/>
                          <a:cs typeface="Malgun Gothic" pitchFamily="34" charset="-120"/>
                        </a:rPr>
                        <a:t>흐름</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1D1C24"/>
                    </a:solidFill>
                  </a:tcPr>
                </a:tc>
              </a:tr>
              <a:tr h="685800">
                <a:tc>
                  <a:txBody>
                    <a:bodyPr/>
                    <a:lstStyle/>
                    <a:p>
                      <a:pPr algn="ctr" indent="0" marL="0">
                        <a:buNone/>
                      </a:pPr>
                      <a:r>
                        <a:rPr lang="en-US" sz="1800" b="1" dirty="0">
                          <a:solidFill>
                            <a:srgbClr val="22212A"/>
                          </a:solidFill>
                          <a:latin typeface="Malgun Gothic" pitchFamily="34" charset="0"/>
                          <a:ea typeface="Malgun Gothic" pitchFamily="34" charset="-122"/>
                          <a:cs typeface="Malgun Gothic" pitchFamily="34" charset="-120"/>
                        </a:rPr>
                        <a:t>金 ↔ 木</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800" dirty="0">
                          <a:solidFill>
                            <a:srgbClr val="22212A"/>
                          </a:solidFill>
                          <a:latin typeface="Malgun Gothic" pitchFamily="34" charset="0"/>
                          <a:ea typeface="Malgun Gothic" pitchFamily="34" charset="-122"/>
                          <a:cs typeface="Malgun Gothic" pitchFamily="34" charset="-120"/>
                        </a:rPr>
                        <a:t>水</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800" dirty="0">
                          <a:solidFill>
                            <a:srgbClr val="22212A"/>
                          </a:solidFill>
                          <a:latin typeface="Malgun Gothic" pitchFamily="34" charset="0"/>
                          <a:ea typeface="Malgun Gothic" pitchFamily="34" charset="-122"/>
                          <a:cs typeface="Malgun Gothic" pitchFamily="34" charset="-120"/>
                        </a:rPr>
                        <a:t>金 → 水 → 木</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r>
              <a:tr h="685800">
                <a:tc>
                  <a:txBody>
                    <a:bodyPr/>
                    <a:lstStyle/>
                    <a:p>
                      <a:pPr algn="ctr" indent="0" marL="0">
                        <a:buNone/>
                      </a:pPr>
                      <a:r>
                        <a:rPr lang="en-US" sz="1800" b="1" dirty="0">
                          <a:solidFill>
                            <a:srgbClr val="22212A"/>
                          </a:solidFill>
                          <a:latin typeface="Malgun Gothic" pitchFamily="34" charset="0"/>
                          <a:ea typeface="Malgun Gothic" pitchFamily="34" charset="-122"/>
                          <a:cs typeface="Malgun Gothic" pitchFamily="34" charset="-120"/>
                        </a:rPr>
                        <a:t>水 ↔ 火</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2212A"/>
                          </a:solidFill>
                          <a:latin typeface="Malgun Gothic" pitchFamily="34" charset="0"/>
                          <a:ea typeface="Malgun Gothic" pitchFamily="34" charset="-122"/>
                          <a:cs typeface="Malgun Gothic" pitchFamily="34" charset="-120"/>
                        </a:rPr>
                        <a:t>木</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2212A"/>
                          </a:solidFill>
                          <a:latin typeface="Malgun Gothic" pitchFamily="34" charset="0"/>
                          <a:ea typeface="Malgun Gothic" pitchFamily="34" charset="-122"/>
                          <a:cs typeface="Malgun Gothic" pitchFamily="34" charset="-120"/>
                        </a:rPr>
                        <a:t>水 → 木 → 火</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r>
              <a:tr h="685800">
                <a:tc>
                  <a:txBody>
                    <a:bodyPr/>
                    <a:lstStyle/>
                    <a:p>
                      <a:pPr algn="ctr" indent="0" marL="0">
                        <a:buNone/>
                      </a:pPr>
                      <a:r>
                        <a:rPr lang="en-US" sz="1800" b="1" dirty="0">
                          <a:solidFill>
                            <a:srgbClr val="22212A"/>
                          </a:solidFill>
                          <a:latin typeface="Malgun Gothic" pitchFamily="34" charset="0"/>
                          <a:ea typeface="Malgun Gothic" pitchFamily="34" charset="-122"/>
                          <a:cs typeface="Malgun Gothic" pitchFamily="34" charset="-120"/>
                        </a:rPr>
                        <a:t>木 ↔ 土</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800" dirty="0">
                          <a:solidFill>
                            <a:srgbClr val="22212A"/>
                          </a:solidFill>
                          <a:latin typeface="Malgun Gothic" pitchFamily="34" charset="0"/>
                          <a:ea typeface="Malgun Gothic" pitchFamily="34" charset="-122"/>
                          <a:cs typeface="Malgun Gothic" pitchFamily="34" charset="-120"/>
                        </a:rPr>
                        <a:t>火</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800" dirty="0">
                          <a:solidFill>
                            <a:srgbClr val="22212A"/>
                          </a:solidFill>
                          <a:latin typeface="Malgun Gothic" pitchFamily="34" charset="0"/>
                          <a:ea typeface="Malgun Gothic" pitchFamily="34" charset="-122"/>
                          <a:cs typeface="Malgun Gothic" pitchFamily="34" charset="-120"/>
                        </a:rPr>
                        <a:t>木 → 火 → 土</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r>
              <a:tr h="685800">
                <a:tc>
                  <a:txBody>
                    <a:bodyPr/>
                    <a:lstStyle/>
                    <a:p>
                      <a:pPr algn="ctr" indent="0" marL="0">
                        <a:buNone/>
                      </a:pPr>
                      <a:r>
                        <a:rPr lang="en-US" sz="1800" b="1" dirty="0">
                          <a:solidFill>
                            <a:srgbClr val="22212A"/>
                          </a:solidFill>
                          <a:latin typeface="Malgun Gothic" pitchFamily="34" charset="0"/>
                          <a:ea typeface="Malgun Gothic" pitchFamily="34" charset="-122"/>
                          <a:cs typeface="Malgun Gothic" pitchFamily="34" charset="-120"/>
                        </a:rPr>
                        <a:t>火 ↔ 金</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2212A"/>
                          </a:solidFill>
                          <a:latin typeface="Malgun Gothic" pitchFamily="34" charset="0"/>
                          <a:ea typeface="Malgun Gothic" pitchFamily="34" charset="-122"/>
                          <a:cs typeface="Malgun Gothic" pitchFamily="34" charset="-120"/>
                        </a:rPr>
                        <a:t>土</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c>
                  <a:txBody>
                    <a:bodyPr/>
                    <a:lstStyle/>
                    <a:p>
                      <a:pPr algn="l" indent="0" marL="0">
                        <a:buNone/>
                      </a:pPr>
                      <a:r>
                        <a:rPr lang="en-US" sz="1800" dirty="0">
                          <a:solidFill>
                            <a:srgbClr val="22212A"/>
                          </a:solidFill>
                          <a:latin typeface="Malgun Gothic" pitchFamily="34" charset="0"/>
                          <a:ea typeface="Malgun Gothic" pitchFamily="34" charset="-122"/>
                          <a:cs typeface="Malgun Gothic" pitchFamily="34" charset="-120"/>
                        </a:rPr>
                        <a:t>火 → 土 → 金</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FFFFF"/>
                    </a:solidFill>
                  </a:tcPr>
                </a:tc>
              </a:tr>
              <a:tr h="685800">
                <a:tc>
                  <a:txBody>
                    <a:bodyPr/>
                    <a:lstStyle/>
                    <a:p>
                      <a:pPr algn="ctr" indent="0" marL="0">
                        <a:buNone/>
                      </a:pPr>
                      <a:r>
                        <a:rPr lang="en-US" sz="1800" b="1" dirty="0">
                          <a:solidFill>
                            <a:srgbClr val="22212A"/>
                          </a:solidFill>
                          <a:latin typeface="Malgun Gothic" pitchFamily="34" charset="0"/>
                          <a:ea typeface="Malgun Gothic" pitchFamily="34" charset="-122"/>
                          <a:cs typeface="Malgun Gothic" pitchFamily="34" charset="-120"/>
                        </a:rPr>
                        <a:t>土 ↔ 水</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800" dirty="0">
                          <a:solidFill>
                            <a:srgbClr val="22212A"/>
                          </a:solidFill>
                          <a:latin typeface="Malgun Gothic" pitchFamily="34" charset="0"/>
                          <a:ea typeface="Malgun Gothic" pitchFamily="34" charset="-122"/>
                          <a:cs typeface="Malgun Gothic" pitchFamily="34" charset="-120"/>
                        </a:rPr>
                        <a:t>木과 火가 함께</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c>
                  <a:txBody>
                    <a:bodyPr/>
                    <a:lstStyle/>
                    <a:p>
                      <a:pPr algn="l" indent="0" marL="0">
                        <a:buNone/>
                      </a:pPr>
                      <a:r>
                        <a:rPr lang="en-US" sz="1800" dirty="0">
                          <a:solidFill>
                            <a:srgbClr val="22212A"/>
                          </a:solidFill>
                          <a:latin typeface="Malgun Gothic" pitchFamily="34" charset="0"/>
                          <a:ea typeface="Malgun Gothic" pitchFamily="34" charset="-122"/>
                          <a:cs typeface="Malgun Gothic" pitchFamily="34" charset="-120"/>
                        </a:rPr>
                        <a:t>水 → 木 → 火 → 土</a:t>
                      </a:r>
                      <a:endParaRPr lang="en-US" sz="1800" dirty="0">
                        <a:latin typeface="Malgun Gothic" charset="0"/>
                        <a:ea typeface="Malgun Gothic" charset="0"/>
                        <a:cs typeface="Malgun Gothic" charset="0"/>
                      </a:endParaRPr>
                    </a:p>
                  </a:txBody>
                  <a:tcPr marL="73152" marR="73152" marT="36576" marB="36576" anchor="ctr">
                    <a:lnL w="9525" cap="flat" cmpd="sng" algn="ctr">
                      <a:solidFill>
                        <a:srgbClr val="D9D5E0"/>
                      </a:solidFill>
                      <a:prstDash val="solid"/>
                      <a:round/>
                      <a:headEnd type="none" w="med" len="med"/>
                      <a:tailEnd type="none" w="med" len="med"/>
                    </a:lnL>
                    <a:lnR w="9525" cap="flat" cmpd="sng" algn="ctr">
                      <a:solidFill>
                        <a:srgbClr val="D9D5E0"/>
                      </a:solidFill>
                      <a:prstDash val="solid"/>
                      <a:round/>
                      <a:headEnd type="none" w="med" len="med"/>
                      <a:tailEnd type="none" w="med" len="med"/>
                    </a:lnR>
                    <a:lnT w="9525" cap="flat" cmpd="sng" algn="ctr">
                      <a:solidFill>
                        <a:srgbClr val="D9D5E0"/>
                      </a:solidFill>
                      <a:prstDash val="solid"/>
                      <a:round/>
                      <a:headEnd type="none" w="med" len="med"/>
                      <a:tailEnd type="none" w="med" len="med"/>
                    </a:lnT>
                    <a:lnB w="9525" cap="flat" cmpd="sng" algn="ctr">
                      <a:solidFill>
                        <a:srgbClr val="D9D5E0"/>
                      </a:solidFill>
                      <a:prstDash val="solid"/>
                      <a:round/>
                      <a:headEnd type="none" w="med" len="med"/>
                      <a:tailEnd type="none" w="med" len="med"/>
                    </a:lnB>
                    <a:solidFill>
                      <a:srgbClr val="F3F1F6"/>
                    </a:solidFill>
                  </a:tcPr>
                </a:tc>
              </a:tr>
            </a:tbl>
          </a:graphicData>
        </a:graphic>
      </p:graphicFrame>
      <p:sp>
        <p:nvSpPr>
          <p:cNvPr id="5" name="Text 2"/>
          <p:cNvSpPr txBox="1"/>
          <p:nvPr/>
        </p:nvSpPr>
        <p:spPr>
          <a:xfrm>
            <a:off x="548640" y="5806440"/>
            <a:ext cx="11094415" cy="502920"/>
          </a:xfrm>
          <a:prstGeom prst="rect">
            <a:avLst/>
          </a:prstGeom>
          <a:noFill/>
          <a:ln/>
        </p:spPr>
        <p:txBody>
          <a:bodyPr wrap="square" lIns="0" tIns="0" rIns="0" bIns="0" rtlCol="0" anchor="b"/>
          <a:lstStyle/>
          <a:p>
            <a:pPr indent="0" marL="0">
              <a:buNone/>
            </a:pPr>
            <a:r>
              <a:rPr lang="en-US" sz="1100" i="1" dirty="0">
                <a:solidFill>
                  <a:srgbClr val="6B6778"/>
                </a:solidFill>
                <a:latin typeface="Malgun Gothic" pitchFamily="34" charset="0"/>
                <a:ea typeface="Malgun Gothic" pitchFamily="34" charset="-122"/>
                <a:cs typeface="Malgun Gothic" pitchFamily="34" charset="-120"/>
              </a:rPr>
              <a:t>예: 丁卯·壬寅·丁酉·戊申 — 寅卯木과 申酉金이 다투므로 水로 통관해 金→水→木으로 흐르게 한다 · 합하는 지지끼리는 충하지 않는다 (寅亥, 卯戌)</a:t>
            </a:r>
            <a:endParaRPr lang="en-US" sz="1100" dirty="0"/>
          </a:p>
        </p:txBody>
      </p:sp>
      <p:sp>
        <p:nvSpPr>
          <p:cNvPr id="6" name="Text 3"/>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B6778"/>
                </a:solidFill>
                <a:latin typeface="Malgun Gothic" pitchFamily="34" charset="0"/>
                <a:ea typeface="Malgun Gothic" pitchFamily="34" charset="-122"/>
                <a:cs typeface="Malgun Gothic" pitchFamily="34" charset="-120"/>
              </a:rPr>
              <a:t>의명보감 1 기초편 · 제5장 의명학 공식</a:t>
            </a:r>
            <a:endParaRPr lang="en-US" sz="1000" dirty="0"/>
          </a:p>
        </p:txBody>
      </p:sp>
      <p:sp>
        <p:nvSpPr>
          <p:cNvPr id="7" name="Text 4"/>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778"/>
                </a:solidFill>
                <a:latin typeface="Malgun Gothic" pitchFamily="34" charset="0"/>
                <a:ea typeface="Malgun Gothic" pitchFamily="34" charset="-122"/>
                <a:cs typeface="Malgun Gothic"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D1C24"/>
        </a:solidFill>
      </p:bgPr>
    </p:bg>
    <p:spTree>
      <p:nvGrpSpPr>
        <p:cNvPr id="1" name=""/>
        <p:cNvGrpSpPr/>
        <p:nvPr/>
      </p:nvGrpSpPr>
      <p:grpSpPr>
        <a:xfrm>
          <a:off x="0" y="0"/>
          <a:ext cx="0" cy="0"/>
          <a:chOff x="0" y="0"/>
          <a:chExt cx="0" cy="0"/>
        </a:xfrm>
      </p:grpSpPr>
      <p:sp>
        <p:nvSpPr>
          <p:cNvPr id="2" name="Text 0"/>
          <p:cNvSpPr txBox="1"/>
          <p:nvPr/>
        </p:nvSpPr>
        <p:spPr>
          <a:xfrm>
            <a:off x="548640" y="1371600"/>
            <a:ext cx="3657600" cy="1645920"/>
          </a:xfrm>
          <a:prstGeom prst="rect">
            <a:avLst/>
          </a:prstGeom>
          <a:noFill/>
          <a:ln/>
        </p:spPr>
        <p:txBody>
          <a:bodyPr wrap="square" lIns="0" tIns="0" rIns="0" bIns="0" rtlCol="0" anchor="ctr"/>
          <a:lstStyle/>
          <a:p>
            <a:pPr indent="0" marL="0">
              <a:buNone/>
            </a:pPr>
            <a:r>
              <a:rPr lang="en-US" sz="11000" b="1" dirty="0">
                <a:solidFill>
                  <a:srgbClr val="B23A2E"/>
                </a:solidFill>
                <a:latin typeface="Malgun Gothic" pitchFamily="34" charset="0"/>
                <a:ea typeface="Malgun Gothic" pitchFamily="34" charset="-122"/>
                <a:cs typeface="Malgun Gothic" pitchFamily="34" charset="-120"/>
              </a:rPr>
              <a:t>05</a:t>
            </a:r>
            <a:endParaRPr lang="en-US" sz="11000" dirty="0"/>
          </a:p>
        </p:txBody>
      </p:sp>
      <p:sp>
        <p:nvSpPr>
          <p:cNvPr id="3" name="Text 1"/>
          <p:cNvSpPr txBox="1"/>
          <p:nvPr/>
        </p:nvSpPr>
        <p:spPr>
          <a:xfrm>
            <a:off x="548640" y="3108960"/>
            <a:ext cx="11094415" cy="914400"/>
          </a:xfrm>
          <a:prstGeom prst="rect">
            <a:avLst/>
          </a:prstGeom>
          <a:noFill/>
          <a:ln/>
        </p:spPr>
        <p:txBody>
          <a:bodyPr wrap="square" lIns="0" tIns="0" rIns="0" bIns="0" rtlCol="0" anchor="ctr"/>
          <a:lstStyle/>
          <a:p>
            <a:pPr indent="0" marL="0">
              <a:buNone/>
            </a:pPr>
            <a:r>
              <a:rPr lang="en-US" sz="4000" b="1" dirty="0">
                <a:solidFill>
                  <a:srgbClr val="F4F1EA"/>
                </a:solidFill>
                <a:latin typeface="Malgun Gothic" pitchFamily="34" charset="0"/>
                <a:ea typeface="Malgun Gothic" pitchFamily="34" charset="-122"/>
                <a:cs typeface="Malgun Gothic" pitchFamily="34" charset="-120"/>
              </a:rPr>
              <a:t>풀이 예제</a:t>
            </a:r>
            <a:endParaRPr lang="en-US" sz="4000" dirty="0"/>
          </a:p>
        </p:txBody>
      </p:sp>
      <p:sp>
        <p:nvSpPr>
          <p:cNvPr id="4" name="Text 2"/>
          <p:cNvSpPr txBox="1"/>
          <p:nvPr/>
        </p:nvSpPr>
        <p:spPr>
          <a:xfrm>
            <a:off x="548640" y="4069080"/>
            <a:ext cx="9144000" cy="914400"/>
          </a:xfrm>
          <a:prstGeom prst="rect">
            <a:avLst/>
          </a:prstGeom>
          <a:noFill/>
          <a:ln/>
        </p:spPr>
        <p:txBody>
          <a:bodyPr wrap="square" lIns="0" tIns="0" rIns="0" bIns="0" rtlCol="0" anchor="t"/>
          <a:lstStyle/>
          <a:p>
            <a:pPr indent="0" marL="0">
              <a:buNone/>
            </a:pPr>
            <a:r>
              <a:rPr lang="en-US" sz="1800" dirty="0">
                <a:solidFill>
                  <a:srgbClr val="A9A4B5"/>
                </a:solidFill>
                <a:latin typeface="Malgun Gothic" pitchFamily="34" charset="0"/>
                <a:ea typeface="Malgun Gothic" pitchFamily="34" charset="-122"/>
                <a:cs typeface="Malgun Gothic" pitchFamily="34" charset="-120"/>
              </a:rPr>
              <a:t>책의 예문 두 개를 단순화했다</a:t>
            </a:r>
            <a:endParaRPr lang="en-US" sz="1800" dirty="0"/>
          </a:p>
        </p:txBody>
      </p:sp>
      <p:sp>
        <p:nvSpPr>
          <p:cNvPr id="5" name="Text 3"/>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A9A4B5"/>
                </a:solidFill>
                <a:latin typeface="Malgun Gothic" pitchFamily="34" charset="0"/>
                <a:ea typeface="Malgun Gothic" pitchFamily="34" charset="-122"/>
                <a:cs typeface="Malgun Gothic" pitchFamily="34" charset="-120"/>
              </a:rPr>
              <a:t>의명보감 1 기초편 · 제5장 의명학 공식</a:t>
            </a:r>
            <a:endParaRPr lang="en-US" sz="1000" dirty="0"/>
          </a:p>
        </p:txBody>
      </p:sp>
      <p:sp>
        <p:nvSpPr>
          <p:cNvPr id="6" name="Text 4"/>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A9A4B5"/>
                </a:solidFill>
                <a:latin typeface="Malgun Gothic" pitchFamily="34" charset="0"/>
                <a:ea typeface="Malgun Gothic" pitchFamily="34" charset="-122"/>
                <a:cs typeface="Malgun Gothic"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300" b="1" dirty="0">
                <a:solidFill>
                  <a:srgbClr val="B23A2E"/>
                </a:solidFill>
                <a:latin typeface="Malgun Gothic" pitchFamily="34" charset="0"/>
                <a:ea typeface="Malgun Gothic" pitchFamily="34" charset="-122"/>
                <a:cs typeface="Malgun Gothic" pitchFamily="34" charset="-120"/>
              </a:rPr>
              <a:t>05 풀이 예제</a:t>
            </a:r>
            <a:endParaRPr lang="en-US" sz="13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000" b="1" dirty="0">
                <a:solidFill>
                  <a:srgbClr val="22212A"/>
                </a:solidFill>
                <a:latin typeface="Malgun Gothic" pitchFamily="34" charset="0"/>
                <a:ea typeface="Malgun Gothic" pitchFamily="34" charset="-122"/>
                <a:cs typeface="Malgun Gothic" pitchFamily="34" charset="-120"/>
              </a:rPr>
              <a:t>예제 A — 봄에 태어난 丙火</a:t>
            </a:r>
            <a:endParaRPr lang="en-US" sz="3000" dirty="0"/>
          </a:p>
        </p:txBody>
      </p:sp>
      <p:sp>
        <p:nvSpPr>
          <p:cNvPr id="4" name="Text 2"/>
          <p:cNvSpPr txBox="1"/>
          <p:nvPr/>
        </p:nvSpPr>
        <p:spPr>
          <a:xfrm>
            <a:off x="640080" y="1965960"/>
            <a:ext cx="822960" cy="566928"/>
          </a:xfrm>
          <a:prstGeom prst="rect">
            <a:avLst/>
          </a:prstGeom>
          <a:noFill/>
          <a:ln/>
        </p:spPr>
        <p:txBody>
          <a:bodyPr wrap="square" lIns="0" tIns="0" rIns="0" bIns="0" rtlCol="0" anchor="ctr"/>
          <a:lstStyle/>
          <a:p>
            <a:pPr indent="0" marL="0">
              <a:buNone/>
            </a:pPr>
            <a:r>
              <a:rPr lang="en-US" sz="1400" b="1" dirty="0">
                <a:solidFill>
                  <a:srgbClr val="6B6778"/>
                </a:solidFill>
                <a:latin typeface="Malgun Gothic" pitchFamily="34" charset="0"/>
                <a:ea typeface="Malgun Gothic" pitchFamily="34" charset="-122"/>
                <a:cs typeface="Malgun Gothic" pitchFamily="34" charset="-120"/>
              </a:rPr>
              <a:t>생년</a:t>
            </a:r>
            <a:endParaRPr lang="en-US" sz="1400" dirty="0"/>
          </a:p>
        </p:txBody>
      </p:sp>
      <p:sp>
        <p:nvSpPr>
          <p:cNvPr id="5" name="Shape 3"/>
          <p:cNvSpPr/>
          <p:nvPr/>
        </p:nvSpPr>
        <p:spPr>
          <a:xfrm>
            <a:off x="1554480" y="1965960"/>
            <a:ext cx="566928" cy="566928"/>
          </a:xfrm>
          <a:prstGeom prst="ellipse">
            <a:avLst/>
          </a:prstGeom>
          <a:solidFill>
            <a:srgbClr val="C0392B"/>
          </a:solidFill>
          <a:ln w="12700">
            <a:solidFill>
              <a:srgbClr val="C0392B"/>
            </a:solidFill>
            <a:prstDash val="solid"/>
          </a:ln>
        </p:spPr>
      </p:sp>
      <p:sp>
        <p:nvSpPr>
          <p:cNvPr id="6" name="Text 4"/>
          <p:cNvSpPr txBox="1"/>
          <p:nvPr/>
        </p:nvSpPr>
        <p:spPr>
          <a:xfrm>
            <a:off x="1554480" y="1965960"/>
            <a:ext cx="566928" cy="566928"/>
          </a:xfrm>
          <a:prstGeom prst="rect">
            <a:avLst/>
          </a:prstGeom>
          <a:noFill/>
          <a:ln/>
        </p:spPr>
        <p:txBody>
          <a:bodyPr wrap="square" lIns="0" tIns="0" rIns="0" bIns="0" rtlCol="0" anchor="ctr"/>
          <a:lstStyle/>
          <a:p>
            <a:pPr algn="ctr" indent="0" marL="0">
              <a:buNone/>
            </a:pPr>
            <a:r>
              <a:rPr lang="en-US" sz="1900" b="1" dirty="0">
                <a:solidFill>
                  <a:srgbClr val="FFFFFF"/>
                </a:solidFill>
                <a:latin typeface="Malgun Gothic" pitchFamily="34" charset="0"/>
                <a:ea typeface="Malgun Gothic" pitchFamily="34" charset="-122"/>
                <a:cs typeface="Malgun Gothic" pitchFamily="34" charset="-120"/>
              </a:rPr>
              <a:t>丙</a:t>
            </a:r>
            <a:endParaRPr lang="en-US" sz="1900" dirty="0"/>
          </a:p>
        </p:txBody>
      </p:sp>
      <p:sp>
        <p:nvSpPr>
          <p:cNvPr id="7" name="Shape 5"/>
          <p:cNvSpPr/>
          <p:nvPr/>
        </p:nvSpPr>
        <p:spPr>
          <a:xfrm>
            <a:off x="2212848" y="1965960"/>
            <a:ext cx="566928" cy="566928"/>
          </a:xfrm>
          <a:prstGeom prst="ellipse">
            <a:avLst/>
          </a:prstGeom>
          <a:solidFill>
            <a:srgbClr val="22406E"/>
          </a:solidFill>
          <a:ln w="12700">
            <a:solidFill>
              <a:srgbClr val="22406E"/>
            </a:solidFill>
            <a:prstDash val="solid"/>
          </a:ln>
        </p:spPr>
      </p:sp>
      <p:sp>
        <p:nvSpPr>
          <p:cNvPr id="8" name="Text 6"/>
          <p:cNvSpPr txBox="1"/>
          <p:nvPr/>
        </p:nvSpPr>
        <p:spPr>
          <a:xfrm>
            <a:off x="2212848" y="1965960"/>
            <a:ext cx="566928" cy="566928"/>
          </a:xfrm>
          <a:prstGeom prst="rect">
            <a:avLst/>
          </a:prstGeom>
          <a:noFill/>
          <a:ln/>
        </p:spPr>
        <p:txBody>
          <a:bodyPr wrap="square" lIns="0" tIns="0" rIns="0" bIns="0" rtlCol="0" anchor="ctr"/>
          <a:lstStyle/>
          <a:p>
            <a:pPr algn="ctr" indent="0" marL="0">
              <a:buNone/>
            </a:pPr>
            <a:r>
              <a:rPr lang="en-US" sz="1900" b="1" dirty="0">
                <a:solidFill>
                  <a:srgbClr val="FFFFFF"/>
                </a:solidFill>
                <a:latin typeface="Malgun Gothic" pitchFamily="34" charset="0"/>
                <a:ea typeface="Malgun Gothic" pitchFamily="34" charset="-122"/>
                <a:cs typeface="Malgun Gothic" pitchFamily="34" charset="-120"/>
              </a:rPr>
              <a:t>子</a:t>
            </a:r>
            <a:endParaRPr lang="en-US" sz="1900" dirty="0"/>
          </a:p>
        </p:txBody>
      </p:sp>
      <p:sp>
        <p:nvSpPr>
          <p:cNvPr id="9" name="Text 7"/>
          <p:cNvSpPr txBox="1"/>
          <p:nvPr/>
        </p:nvSpPr>
        <p:spPr>
          <a:xfrm>
            <a:off x="640080" y="2734056"/>
            <a:ext cx="822960" cy="566928"/>
          </a:xfrm>
          <a:prstGeom prst="rect">
            <a:avLst/>
          </a:prstGeom>
          <a:noFill/>
          <a:ln/>
        </p:spPr>
        <p:txBody>
          <a:bodyPr wrap="square" lIns="0" tIns="0" rIns="0" bIns="0" rtlCol="0" anchor="ctr"/>
          <a:lstStyle/>
          <a:p>
            <a:pPr indent="0" marL="0">
              <a:buNone/>
            </a:pPr>
            <a:r>
              <a:rPr lang="en-US" sz="1400" b="1" dirty="0">
                <a:solidFill>
                  <a:srgbClr val="6B6778"/>
                </a:solidFill>
                <a:latin typeface="Malgun Gothic" pitchFamily="34" charset="0"/>
                <a:ea typeface="Malgun Gothic" pitchFamily="34" charset="-122"/>
                <a:cs typeface="Malgun Gothic" pitchFamily="34" charset="-120"/>
              </a:rPr>
              <a:t>생월</a:t>
            </a:r>
            <a:endParaRPr lang="en-US" sz="1400" dirty="0"/>
          </a:p>
        </p:txBody>
      </p:sp>
      <p:sp>
        <p:nvSpPr>
          <p:cNvPr id="10" name="Shape 8"/>
          <p:cNvSpPr/>
          <p:nvPr/>
        </p:nvSpPr>
        <p:spPr>
          <a:xfrm>
            <a:off x="1554480" y="2734056"/>
            <a:ext cx="566928" cy="566928"/>
          </a:xfrm>
          <a:prstGeom prst="ellipse">
            <a:avLst/>
          </a:prstGeom>
          <a:solidFill>
            <a:srgbClr val="6E737B"/>
          </a:solidFill>
          <a:ln w="12700">
            <a:solidFill>
              <a:srgbClr val="6E737B"/>
            </a:solidFill>
            <a:prstDash val="solid"/>
          </a:ln>
        </p:spPr>
      </p:sp>
      <p:sp>
        <p:nvSpPr>
          <p:cNvPr id="11" name="Text 9"/>
          <p:cNvSpPr txBox="1"/>
          <p:nvPr/>
        </p:nvSpPr>
        <p:spPr>
          <a:xfrm>
            <a:off x="1554480" y="2734056"/>
            <a:ext cx="566928" cy="566928"/>
          </a:xfrm>
          <a:prstGeom prst="rect">
            <a:avLst/>
          </a:prstGeom>
          <a:noFill/>
          <a:ln/>
        </p:spPr>
        <p:txBody>
          <a:bodyPr wrap="square" lIns="0" tIns="0" rIns="0" bIns="0" rtlCol="0" anchor="ctr"/>
          <a:lstStyle/>
          <a:p>
            <a:pPr algn="ctr" indent="0" marL="0">
              <a:buNone/>
            </a:pPr>
            <a:r>
              <a:rPr lang="en-US" sz="1900" b="1" dirty="0">
                <a:solidFill>
                  <a:srgbClr val="FFFFFF"/>
                </a:solidFill>
                <a:latin typeface="Malgun Gothic" pitchFamily="34" charset="0"/>
                <a:ea typeface="Malgun Gothic" pitchFamily="34" charset="-122"/>
                <a:cs typeface="Malgun Gothic" pitchFamily="34" charset="-120"/>
              </a:rPr>
              <a:t>辛</a:t>
            </a:r>
            <a:endParaRPr lang="en-US" sz="1900" dirty="0"/>
          </a:p>
        </p:txBody>
      </p:sp>
      <p:sp>
        <p:nvSpPr>
          <p:cNvPr id="12" name="Shape 10"/>
          <p:cNvSpPr/>
          <p:nvPr/>
        </p:nvSpPr>
        <p:spPr>
          <a:xfrm>
            <a:off x="2212848" y="2734056"/>
            <a:ext cx="566928" cy="566928"/>
          </a:xfrm>
          <a:prstGeom prst="ellipse">
            <a:avLst/>
          </a:prstGeom>
          <a:solidFill>
            <a:srgbClr val="3F7D4E"/>
          </a:solidFill>
          <a:ln w="12700">
            <a:solidFill>
              <a:srgbClr val="3F7D4E"/>
            </a:solidFill>
            <a:prstDash val="solid"/>
          </a:ln>
        </p:spPr>
      </p:sp>
      <p:sp>
        <p:nvSpPr>
          <p:cNvPr id="13" name="Text 11"/>
          <p:cNvSpPr txBox="1"/>
          <p:nvPr/>
        </p:nvSpPr>
        <p:spPr>
          <a:xfrm>
            <a:off x="2212848" y="2734056"/>
            <a:ext cx="566928" cy="566928"/>
          </a:xfrm>
          <a:prstGeom prst="rect">
            <a:avLst/>
          </a:prstGeom>
          <a:noFill/>
          <a:ln/>
        </p:spPr>
        <p:txBody>
          <a:bodyPr wrap="square" lIns="0" tIns="0" rIns="0" bIns="0" rtlCol="0" anchor="ctr"/>
          <a:lstStyle/>
          <a:p>
            <a:pPr algn="ctr" indent="0" marL="0">
              <a:buNone/>
            </a:pPr>
            <a:r>
              <a:rPr lang="en-US" sz="1900" b="1" dirty="0">
                <a:solidFill>
                  <a:srgbClr val="FFFFFF"/>
                </a:solidFill>
                <a:latin typeface="Malgun Gothic" pitchFamily="34" charset="0"/>
                <a:ea typeface="Malgun Gothic" pitchFamily="34" charset="-122"/>
                <a:cs typeface="Malgun Gothic" pitchFamily="34" charset="-120"/>
              </a:rPr>
              <a:t>卯</a:t>
            </a:r>
            <a:endParaRPr lang="en-US" sz="1900" dirty="0"/>
          </a:p>
        </p:txBody>
      </p:sp>
      <p:sp>
        <p:nvSpPr>
          <p:cNvPr id="14" name="Text 12"/>
          <p:cNvSpPr txBox="1"/>
          <p:nvPr/>
        </p:nvSpPr>
        <p:spPr>
          <a:xfrm>
            <a:off x="640080" y="3502152"/>
            <a:ext cx="822960" cy="566928"/>
          </a:xfrm>
          <a:prstGeom prst="rect">
            <a:avLst/>
          </a:prstGeom>
          <a:noFill/>
          <a:ln/>
        </p:spPr>
        <p:txBody>
          <a:bodyPr wrap="square" lIns="0" tIns="0" rIns="0" bIns="0" rtlCol="0" anchor="ctr"/>
          <a:lstStyle/>
          <a:p>
            <a:pPr indent="0" marL="0">
              <a:buNone/>
            </a:pPr>
            <a:r>
              <a:rPr lang="en-US" sz="1400" b="1" dirty="0">
                <a:solidFill>
                  <a:srgbClr val="6B6778"/>
                </a:solidFill>
                <a:latin typeface="Malgun Gothic" pitchFamily="34" charset="0"/>
                <a:ea typeface="Malgun Gothic" pitchFamily="34" charset="-122"/>
                <a:cs typeface="Malgun Gothic" pitchFamily="34" charset="-120"/>
              </a:rPr>
              <a:t>생일</a:t>
            </a:r>
            <a:endParaRPr lang="en-US" sz="1400" dirty="0"/>
          </a:p>
        </p:txBody>
      </p:sp>
      <p:sp>
        <p:nvSpPr>
          <p:cNvPr id="15" name="Shape 13"/>
          <p:cNvSpPr/>
          <p:nvPr/>
        </p:nvSpPr>
        <p:spPr>
          <a:xfrm>
            <a:off x="1554480" y="3502152"/>
            <a:ext cx="566928" cy="566928"/>
          </a:xfrm>
          <a:prstGeom prst="ellipse">
            <a:avLst/>
          </a:prstGeom>
          <a:solidFill>
            <a:srgbClr val="C0392B"/>
          </a:solidFill>
          <a:ln w="12700">
            <a:solidFill>
              <a:srgbClr val="C0392B"/>
            </a:solidFill>
            <a:prstDash val="solid"/>
          </a:ln>
        </p:spPr>
      </p:sp>
      <p:sp>
        <p:nvSpPr>
          <p:cNvPr id="16" name="Text 14"/>
          <p:cNvSpPr txBox="1"/>
          <p:nvPr/>
        </p:nvSpPr>
        <p:spPr>
          <a:xfrm>
            <a:off x="1554480" y="3502152"/>
            <a:ext cx="566928" cy="566928"/>
          </a:xfrm>
          <a:prstGeom prst="rect">
            <a:avLst/>
          </a:prstGeom>
          <a:noFill/>
          <a:ln/>
        </p:spPr>
        <p:txBody>
          <a:bodyPr wrap="square" lIns="0" tIns="0" rIns="0" bIns="0" rtlCol="0" anchor="ctr"/>
          <a:lstStyle/>
          <a:p>
            <a:pPr algn="ctr" indent="0" marL="0">
              <a:buNone/>
            </a:pPr>
            <a:r>
              <a:rPr lang="en-US" sz="1900" b="1" dirty="0">
                <a:solidFill>
                  <a:srgbClr val="FFFFFF"/>
                </a:solidFill>
                <a:latin typeface="Malgun Gothic" pitchFamily="34" charset="0"/>
                <a:ea typeface="Malgun Gothic" pitchFamily="34" charset="-122"/>
                <a:cs typeface="Malgun Gothic" pitchFamily="34" charset="-120"/>
              </a:rPr>
              <a:t>丙</a:t>
            </a:r>
            <a:endParaRPr lang="en-US" sz="1900" dirty="0"/>
          </a:p>
        </p:txBody>
      </p:sp>
      <p:sp>
        <p:nvSpPr>
          <p:cNvPr id="17" name="Shape 15"/>
          <p:cNvSpPr/>
          <p:nvPr/>
        </p:nvSpPr>
        <p:spPr>
          <a:xfrm>
            <a:off x="2212848" y="3502152"/>
            <a:ext cx="566928" cy="566928"/>
          </a:xfrm>
          <a:prstGeom prst="ellipse">
            <a:avLst/>
          </a:prstGeom>
          <a:solidFill>
            <a:srgbClr val="C0392B"/>
          </a:solidFill>
          <a:ln w="12700">
            <a:solidFill>
              <a:srgbClr val="C0392B"/>
            </a:solidFill>
            <a:prstDash val="solid"/>
          </a:ln>
        </p:spPr>
      </p:sp>
      <p:sp>
        <p:nvSpPr>
          <p:cNvPr id="18" name="Text 16"/>
          <p:cNvSpPr txBox="1"/>
          <p:nvPr/>
        </p:nvSpPr>
        <p:spPr>
          <a:xfrm>
            <a:off x="2212848" y="3502152"/>
            <a:ext cx="566928" cy="566928"/>
          </a:xfrm>
          <a:prstGeom prst="rect">
            <a:avLst/>
          </a:prstGeom>
          <a:noFill/>
          <a:ln/>
        </p:spPr>
        <p:txBody>
          <a:bodyPr wrap="square" lIns="0" tIns="0" rIns="0" bIns="0" rtlCol="0" anchor="ctr"/>
          <a:lstStyle/>
          <a:p>
            <a:pPr algn="ctr" indent="0" marL="0">
              <a:buNone/>
            </a:pPr>
            <a:r>
              <a:rPr lang="en-US" sz="1900" b="1" dirty="0">
                <a:solidFill>
                  <a:srgbClr val="FFFFFF"/>
                </a:solidFill>
                <a:latin typeface="Malgun Gothic" pitchFamily="34" charset="0"/>
                <a:ea typeface="Malgun Gothic" pitchFamily="34" charset="-122"/>
                <a:cs typeface="Malgun Gothic" pitchFamily="34" charset="-120"/>
              </a:rPr>
              <a:t>午</a:t>
            </a:r>
            <a:endParaRPr lang="en-US" sz="1900" dirty="0"/>
          </a:p>
        </p:txBody>
      </p:sp>
      <p:sp>
        <p:nvSpPr>
          <p:cNvPr id="19" name="Shape 17"/>
          <p:cNvSpPr/>
          <p:nvPr/>
        </p:nvSpPr>
        <p:spPr>
          <a:xfrm>
            <a:off x="1499616" y="3447288"/>
            <a:ext cx="676656" cy="676656"/>
          </a:xfrm>
          <a:prstGeom prst="roundRect">
            <a:avLst>
              <a:gd name="adj" fmla="val 13514"/>
            </a:avLst>
          </a:prstGeom>
          <a:solidFill>
            <a:srgbClr val="FFFFFF">
              <a:alpha val="0"/>
            </a:srgbClr>
          </a:solidFill>
          <a:ln w="31750">
            <a:solidFill>
              <a:srgbClr val="B23A2E"/>
            </a:solidFill>
            <a:prstDash val="solid"/>
          </a:ln>
        </p:spPr>
      </p:sp>
      <p:sp>
        <p:nvSpPr>
          <p:cNvPr id="20" name="Text 18"/>
          <p:cNvSpPr txBox="1"/>
          <p:nvPr/>
        </p:nvSpPr>
        <p:spPr>
          <a:xfrm>
            <a:off x="640080" y="4270248"/>
            <a:ext cx="822960" cy="566928"/>
          </a:xfrm>
          <a:prstGeom prst="rect">
            <a:avLst/>
          </a:prstGeom>
          <a:noFill/>
          <a:ln/>
        </p:spPr>
        <p:txBody>
          <a:bodyPr wrap="square" lIns="0" tIns="0" rIns="0" bIns="0" rtlCol="0" anchor="ctr"/>
          <a:lstStyle/>
          <a:p>
            <a:pPr indent="0" marL="0">
              <a:buNone/>
            </a:pPr>
            <a:r>
              <a:rPr lang="en-US" sz="1400" b="1" dirty="0">
                <a:solidFill>
                  <a:srgbClr val="6B6778"/>
                </a:solidFill>
                <a:latin typeface="Malgun Gothic" pitchFamily="34" charset="0"/>
                <a:ea typeface="Malgun Gothic" pitchFamily="34" charset="-122"/>
                <a:cs typeface="Malgun Gothic" pitchFamily="34" charset="-120"/>
              </a:rPr>
              <a:t>생시</a:t>
            </a:r>
            <a:endParaRPr lang="en-US" sz="1400" dirty="0"/>
          </a:p>
        </p:txBody>
      </p:sp>
      <p:sp>
        <p:nvSpPr>
          <p:cNvPr id="21" name="Shape 19"/>
          <p:cNvSpPr/>
          <p:nvPr/>
        </p:nvSpPr>
        <p:spPr>
          <a:xfrm>
            <a:off x="1554480" y="4270248"/>
            <a:ext cx="566928" cy="566928"/>
          </a:xfrm>
          <a:prstGeom prst="ellipse">
            <a:avLst/>
          </a:prstGeom>
          <a:solidFill>
            <a:srgbClr val="C0392B"/>
          </a:solidFill>
          <a:ln w="12700">
            <a:solidFill>
              <a:srgbClr val="C0392B"/>
            </a:solidFill>
            <a:prstDash val="solid"/>
          </a:ln>
        </p:spPr>
      </p:sp>
      <p:sp>
        <p:nvSpPr>
          <p:cNvPr id="22" name="Text 20"/>
          <p:cNvSpPr txBox="1"/>
          <p:nvPr/>
        </p:nvSpPr>
        <p:spPr>
          <a:xfrm>
            <a:off x="1554480" y="4270248"/>
            <a:ext cx="566928" cy="566928"/>
          </a:xfrm>
          <a:prstGeom prst="rect">
            <a:avLst/>
          </a:prstGeom>
          <a:noFill/>
          <a:ln/>
        </p:spPr>
        <p:txBody>
          <a:bodyPr wrap="square" lIns="0" tIns="0" rIns="0" bIns="0" rtlCol="0" anchor="ctr"/>
          <a:lstStyle/>
          <a:p>
            <a:pPr algn="ctr" indent="0" marL="0">
              <a:buNone/>
            </a:pPr>
            <a:r>
              <a:rPr lang="en-US" sz="1900" b="1" dirty="0">
                <a:solidFill>
                  <a:srgbClr val="FFFFFF"/>
                </a:solidFill>
                <a:latin typeface="Malgun Gothic" pitchFamily="34" charset="0"/>
                <a:ea typeface="Malgun Gothic" pitchFamily="34" charset="-122"/>
                <a:cs typeface="Malgun Gothic" pitchFamily="34" charset="-120"/>
              </a:rPr>
              <a:t>丙</a:t>
            </a:r>
            <a:endParaRPr lang="en-US" sz="1900" dirty="0"/>
          </a:p>
        </p:txBody>
      </p:sp>
      <p:sp>
        <p:nvSpPr>
          <p:cNvPr id="23" name="Shape 21"/>
          <p:cNvSpPr/>
          <p:nvPr/>
        </p:nvSpPr>
        <p:spPr>
          <a:xfrm>
            <a:off x="2212848" y="4270248"/>
            <a:ext cx="566928" cy="566928"/>
          </a:xfrm>
          <a:prstGeom prst="ellipse">
            <a:avLst/>
          </a:prstGeom>
          <a:solidFill>
            <a:srgbClr val="6E737B"/>
          </a:solidFill>
          <a:ln w="12700">
            <a:solidFill>
              <a:srgbClr val="6E737B"/>
            </a:solidFill>
            <a:prstDash val="solid"/>
          </a:ln>
        </p:spPr>
      </p:sp>
      <p:sp>
        <p:nvSpPr>
          <p:cNvPr id="24" name="Text 22"/>
          <p:cNvSpPr txBox="1"/>
          <p:nvPr/>
        </p:nvSpPr>
        <p:spPr>
          <a:xfrm>
            <a:off x="2212848" y="4270248"/>
            <a:ext cx="566928" cy="566928"/>
          </a:xfrm>
          <a:prstGeom prst="rect">
            <a:avLst/>
          </a:prstGeom>
          <a:noFill/>
          <a:ln/>
        </p:spPr>
        <p:txBody>
          <a:bodyPr wrap="square" lIns="0" tIns="0" rIns="0" bIns="0" rtlCol="0" anchor="ctr"/>
          <a:lstStyle/>
          <a:p>
            <a:pPr algn="ctr" indent="0" marL="0">
              <a:buNone/>
            </a:pPr>
            <a:r>
              <a:rPr lang="en-US" sz="1900" b="1" dirty="0">
                <a:solidFill>
                  <a:srgbClr val="FFFFFF"/>
                </a:solidFill>
                <a:latin typeface="Malgun Gothic" pitchFamily="34" charset="0"/>
                <a:ea typeface="Malgun Gothic" pitchFamily="34" charset="-122"/>
                <a:cs typeface="Malgun Gothic" pitchFamily="34" charset="-120"/>
              </a:rPr>
              <a:t>申</a:t>
            </a:r>
            <a:endParaRPr lang="en-US" sz="1900" dirty="0"/>
          </a:p>
        </p:txBody>
      </p:sp>
      <p:sp>
        <p:nvSpPr>
          <p:cNvPr id="25" name="Text 23"/>
          <p:cNvSpPr txBox="1"/>
          <p:nvPr/>
        </p:nvSpPr>
        <p:spPr>
          <a:xfrm>
            <a:off x="1554480" y="1618488"/>
            <a:ext cx="566928" cy="274320"/>
          </a:xfrm>
          <a:prstGeom prst="rect">
            <a:avLst/>
          </a:prstGeom>
          <a:noFill/>
          <a:ln/>
        </p:spPr>
        <p:txBody>
          <a:bodyPr wrap="square" lIns="0" tIns="0" rIns="0" bIns="0" rtlCol="0" anchor="ctr"/>
          <a:lstStyle/>
          <a:p>
            <a:pPr algn="ctr" indent="0" marL="0">
              <a:buNone/>
            </a:pPr>
            <a:r>
              <a:rPr lang="en-US" sz="1100" dirty="0">
                <a:solidFill>
                  <a:srgbClr val="6B6778"/>
                </a:solidFill>
                <a:latin typeface="Malgun Gothic" pitchFamily="34" charset="0"/>
                <a:ea typeface="Malgun Gothic" pitchFamily="34" charset="-122"/>
                <a:cs typeface="Malgun Gothic" pitchFamily="34" charset="-120"/>
              </a:rPr>
              <a:t>천간</a:t>
            </a:r>
            <a:endParaRPr lang="en-US" sz="1100" dirty="0"/>
          </a:p>
        </p:txBody>
      </p:sp>
      <p:sp>
        <p:nvSpPr>
          <p:cNvPr id="26" name="Text 24"/>
          <p:cNvSpPr txBox="1"/>
          <p:nvPr/>
        </p:nvSpPr>
        <p:spPr>
          <a:xfrm>
            <a:off x="2212848" y="1618488"/>
            <a:ext cx="566928" cy="274320"/>
          </a:xfrm>
          <a:prstGeom prst="rect">
            <a:avLst/>
          </a:prstGeom>
          <a:noFill/>
          <a:ln/>
        </p:spPr>
        <p:txBody>
          <a:bodyPr wrap="square" lIns="0" tIns="0" rIns="0" bIns="0" rtlCol="0" anchor="ctr"/>
          <a:lstStyle/>
          <a:p>
            <a:pPr algn="ctr" indent="0" marL="0">
              <a:buNone/>
            </a:pPr>
            <a:r>
              <a:rPr lang="en-US" sz="1100" dirty="0">
                <a:solidFill>
                  <a:srgbClr val="6B6778"/>
                </a:solidFill>
                <a:latin typeface="Malgun Gothic" pitchFamily="34" charset="0"/>
                <a:ea typeface="Malgun Gothic" pitchFamily="34" charset="-122"/>
                <a:cs typeface="Malgun Gothic" pitchFamily="34" charset="-120"/>
              </a:rPr>
              <a:t>지지</a:t>
            </a:r>
            <a:endParaRPr lang="en-US" sz="1100" dirty="0"/>
          </a:p>
        </p:txBody>
      </p:sp>
      <p:sp>
        <p:nvSpPr>
          <p:cNvPr id="27" name="Text 25"/>
          <p:cNvSpPr txBox="1"/>
          <p:nvPr/>
        </p:nvSpPr>
        <p:spPr>
          <a:xfrm>
            <a:off x="3657600" y="1600200"/>
            <a:ext cx="7985455" cy="1188720"/>
          </a:xfrm>
          <a:prstGeom prst="rect">
            <a:avLst/>
          </a:prstGeom>
          <a:noFill/>
          <a:ln/>
        </p:spPr>
        <p:txBody>
          <a:bodyPr wrap="square" lIns="0" tIns="0" rIns="0" bIns="0" rtlCol="0" anchor="ctr"/>
          <a:lstStyle/>
          <a:p>
            <a:pPr indent="0" marL="0">
              <a:spcAft>
                <a:spcPts val="600"/>
              </a:spcAft>
              <a:buNone/>
            </a:pPr>
            <a:r>
              <a:rPr lang="en-US" sz="1500" b="1" dirty="0">
                <a:solidFill>
                  <a:srgbClr val="B23A2E"/>
                </a:solidFill>
                <a:latin typeface="Malgun Gothic" pitchFamily="34" charset="0"/>
                <a:ea typeface="Malgun Gothic" pitchFamily="34" charset="-122"/>
                <a:cs typeface="Malgun Gothic" pitchFamily="34" charset="-120"/>
              </a:rPr>
              <a:t>분석  </a:t>
            </a:r>
            <a:pPr indent="0" marL="0">
              <a:spcAft>
                <a:spcPts val="600"/>
              </a:spcAft>
              <a:buNone/>
            </a:pPr>
            <a:r>
              <a:rPr lang="en-US" sz="1500" dirty="0">
                <a:solidFill>
                  <a:srgbClr val="22212A"/>
                </a:solidFill>
                <a:latin typeface="Malgun Gothic" pitchFamily="34" charset="0"/>
                <a:ea typeface="Malgun Gothic" pitchFamily="34" charset="-122"/>
                <a:cs typeface="Malgun Gothic" pitchFamily="34" charset="-120"/>
              </a:rPr>
              <a:t>卯월 丙火 — 子水가 卯木을, 卯木이 午火를 생하고 시간 丙火까지 가세해 "태양처럼 뜨겁다"</a:t>
            </a:r>
            <a:endParaRPr lang="en-US" sz="1500" dirty="0"/>
          </a:p>
          <a:p>
            <a:pPr indent="0" marL="0">
              <a:spcAft>
                <a:spcPts val="600"/>
              </a:spcAft>
              <a:buNone/>
            </a:pPr>
            <a:r>
              <a:rPr lang="en-US" sz="1500" b="1" dirty="0">
                <a:solidFill>
                  <a:srgbClr val="B23A2E"/>
                </a:solidFill>
                <a:latin typeface="Malgun Gothic" pitchFamily="34" charset="0"/>
                <a:ea typeface="Malgun Gothic" pitchFamily="34" charset="-122"/>
                <a:cs typeface="Malgun Gothic" pitchFamily="34" charset="-120"/>
              </a:rPr>
              <a:t>필요  </a:t>
            </a:r>
            <a:pPr indent="0" marL="0">
              <a:spcAft>
                <a:spcPts val="600"/>
              </a:spcAft>
              <a:buNone/>
            </a:pPr>
            <a:r>
              <a:rPr lang="en-US" sz="1500" dirty="0">
                <a:solidFill>
                  <a:srgbClr val="22212A"/>
                </a:solidFill>
                <a:latin typeface="Malgun Gothic" pitchFamily="34" charset="0"/>
                <a:ea typeface="Malgun Gothic" pitchFamily="34" charset="-122"/>
                <a:cs typeface="Malgun Gothic" pitchFamily="34" charset="-120"/>
              </a:rPr>
              <a:t>火를 누를 壬水 + 水의 뿌리가 될 庚·辛·申·酉 金</a:t>
            </a:r>
            <a:endParaRPr lang="en-US" sz="1500" dirty="0"/>
          </a:p>
        </p:txBody>
      </p:sp>
      <p:sp>
        <p:nvSpPr>
          <p:cNvPr id="28" name="Shape 26"/>
          <p:cNvSpPr/>
          <p:nvPr/>
        </p:nvSpPr>
        <p:spPr>
          <a:xfrm>
            <a:off x="3712464" y="3108960"/>
            <a:ext cx="1031051" cy="2514600"/>
          </a:xfrm>
          <a:prstGeom prst="roundRect">
            <a:avLst>
              <a:gd name="adj" fmla="val 7095"/>
            </a:avLst>
          </a:prstGeom>
          <a:solidFill>
            <a:srgbClr val="F3F1F6"/>
          </a:solidFill>
          <a:ln w="12700">
            <a:solidFill>
              <a:srgbClr val="F3F1F6"/>
            </a:solidFill>
            <a:prstDash val="solid"/>
          </a:ln>
        </p:spPr>
      </p:sp>
      <p:sp>
        <p:nvSpPr>
          <p:cNvPr id="29" name="Text 27"/>
          <p:cNvSpPr txBox="1"/>
          <p:nvPr/>
        </p:nvSpPr>
        <p:spPr>
          <a:xfrm>
            <a:off x="3657600" y="3218688"/>
            <a:ext cx="1140779" cy="457200"/>
          </a:xfrm>
          <a:prstGeom prst="rect">
            <a:avLst/>
          </a:prstGeom>
          <a:noFill/>
          <a:ln/>
        </p:spPr>
        <p:txBody>
          <a:bodyPr wrap="square" lIns="0" tIns="0" rIns="0" bIns="0" rtlCol="0" anchor="ctr"/>
          <a:lstStyle/>
          <a:p>
            <a:pPr algn="ctr" indent="0" marL="0">
              <a:buNone/>
            </a:pPr>
            <a:r>
              <a:rPr lang="en-US" sz="2000" b="1" dirty="0">
                <a:solidFill>
                  <a:srgbClr val="22212A"/>
                </a:solidFill>
                <a:latin typeface="Malgun Gothic" pitchFamily="34" charset="0"/>
                <a:ea typeface="Malgun Gothic" pitchFamily="34" charset="-122"/>
                <a:cs typeface="Malgun Gothic" pitchFamily="34" charset="-120"/>
              </a:rPr>
              <a:t>壬辰</a:t>
            </a:r>
            <a:endParaRPr lang="en-US" sz="2000" dirty="0"/>
          </a:p>
        </p:txBody>
      </p:sp>
      <p:sp>
        <p:nvSpPr>
          <p:cNvPr id="30" name="Text 28"/>
          <p:cNvSpPr txBox="1"/>
          <p:nvPr/>
        </p:nvSpPr>
        <p:spPr>
          <a:xfrm>
            <a:off x="3816510" y="3749040"/>
            <a:ext cx="822960" cy="310896"/>
          </a:xfrm>
          <a:prstGeom prst="rect">
            <a:avLst/>
          </a:prstGeom>
          <a:solidFill>
            <a:srgbClr val="3F7D4E"/>
          </a:solid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좋음</a:t>
            </a:r>
            <a:endParaRPr lang="en-US" sz="1200" dirty="0"/>
          </a:p>
        </p:txBody>
      </p:sp>
      <p:sp>
        <p:nvSpPr>
          <p:cNvPr id="31" name="Text 29"/>
          <p:cNvSpPr txBox="1"/>
          <p:nvPr/>
        </p:nvSpPr>
        <p:spPr>
          <a:xfrm>
            <a:off x="3767328" y="4160520"/>
            <a:ext cx="921323" cy="1371600"/>
          </a:xfrm>
          <a:prstGeom prst="rect">
            <a:avLst/>
          </a:prstGeom>
          <a:noFill/>
          <a:ln/>
        </p:spPr>
        <p:txBody>
          <a:bodyPr wrap="square" lIns="0" tIns="0" rIns="0" bIns="0" rtlCol="0" anchor="t"/>
          <a:lstStyle/>
          <a:p>
            <a:pPr algn="ctr" indent="0" marL="0">
              <a:buNone/>
            </a:pPr>
            <a:r>
              <a:rPr lang="en-US" sz="1300" dirty="0">
                <a:solidFill>
                  <a:srgbClr val="22212A"/>
                </a:solidFill>
                <a:latin typeface="Malgun Gothic" pitchFamily="34" charset="0"/>
                <a:ea typeface="Malgun Gothic" pitchFamily="34" charset="-122"/>
                <a:cs typeface="Malgun Gothic" pitchFamily="34" charset="-120"/>
              </a:rPr>
              <a:t>壬水 조후</a:t>
            </a:r>
            <a:endParaRPr lang="en-US" sz="1300" dirty="0"/>
          </a:p>
          <a:p>
            <a:pPr algn="ctr" indent="0" marL="0">
              <a:buNone/>
            </a:pPr>
            <a:r>
              <a:rPr lang="en-US" sz="1300" dirty="0">
                <a:solidFill>
                  <a:srgbClr val="22212A"/>
                </a:solidFill>
                <a:latin typeface="Malgun Gothic" pitchFamily="34" charset="0"/>
                <a:ea typeface="Malgun Gothic" pitchFamily="34" charset="-122"/>
                <a:cs typeface="Malgun Gothic" pitchFamily="34" charset="-120"/>
              </a:rPr>
              <a:t>申子辰 水局</a:t>
            </a:r>
            <a:endParaRPr lang="en-US" sz="1300" dirty="0"/>
          </a:p>
          <a:p>
            <a:pPr algn="ctr" indent="0" marL="0">
              <a:buNone/>
            </a:pPr>
            <a:r>
              <a:rPr lang="en-US" sz="1300" dirty="0">
                <a:solidFill>
                  <a:srgbClr val="22212A"/>
                </a:solidFill>
                <a:latin typeface="Malgun Gothic" pitchFamily="34" charset="0"/>
                <a:ea typeface="Malgun Gothic" pitchFamily="34" charset="-122"/>
                <a:cs typeface="Malgun Gothic" pitchFamily="34" charset="-120"/>
              </a:rPr>
              <a:t>건강하게 자람</a:t>
            </a:r>
            <a:endParaRPr lang="en-US" sz="1300" dirty="0"/>
          </a:p>
        </p:txBody>
      </p:sp>
      <p:sp>
        <p:nvSpPr>
          <p:cNvPr id="32" name="Shape 30"/>
          <p:cNvSpPr/>
          <p:nvPr/>
        </p:nvSpPr>
        <p:spPr>
          <a:xfrm>
            <a:off x="4853243" y="3108960"/>
            <a:ext cx="1031051" cy="2514600"/>
          </a:xfrm>
          <a:prstGeom prst="roundRect">
            <a:avLst>
              <a:gd name="adj" fmla="val 7095"/>
            </a:avLst>
          </a:prstGeom>
          <a:solidFill>
            <a:srgbClr val="F3F1F6"/>
          </a:solidFill>
          <a:ln w="12700">
            <a:solidFill>
              <a:srgbClr val="F3F1F6"/>
            </a:solidFill>
            <a:prstDash val="solid"/>
          </a:ln>
        </p:spPr>
      </p:sp>
      <p:sp>
        <p:nvSpPr>
          <p:cNvPr id="33" name="Text 31"/>
          <p:cNvSpPr txBox="1"/>
          <p:nvPr/>
        </p:nvSpPr>
        <p:spPr>
          <a:xfrm>
            <a:off x="4798379" y="3218688"/>
            <a:ext cx="1140779" cy="457200"/>
          </a:xfrm>
          <a:prstGeom prst="rect">
            <a:avLst/>
          </a:prstGeom>
          <a:noFill/>
          <a:ln/>
        </p:spPr>
        <p:txBody>
          <a:bodyPr wrap="square" lIns="0" tIns="0" rIns="0" bIns="0" rtlCol="0" anchor="ctr"/>
          <a:lstStyle/>
          <a:p>
            <a:pPr algn="ctr" indent="0" marL="0">
              <a:buNone/>
            </a:pPr>
            <a:r>
              <a:rPr lang="en-US" sz="2000" b="1" dirty="0">
                <a:solidFill>
                  <a:srgbClr val="22212A"/>
                </a:solidFill>
                <a:latin typeface="Malgun Gothic" pitchFamily="34" charset="0"/>
                <a:ea typeface="Malgun Gothic" pitchFamily="34" charset="-122"/>
                <a:cs typeface="Malgun Gothic" pitchFamily="34" charset="-120"/>
              </a:rPr>
              <a:t>癸巳</a:t>
            </a:r>
            <a:endParaRPr lang="en-US" sz="2000" dirty="0"/>
          </a:p>
        </p:txBody>
      </p:sp>
      <p:sp>
        <p:nvSpPr>
          <p:cNvPr id="34" name="Text 32"/>
          <p:cNvSpPr txBox="1"/>
          <p:nvPr/>
        </p:nvSpPr>
        <p:spPr>
          <a:xfrm>
            <a:off x="4957289" y="3749040"/>
            <a:ext cx="822960" cy="310896"/>
          </a:xfrm>
          <a:prstGeom prst="rect">
            <a:avLst/>
          </a:prstGeom>
          <a:solidFill>
            <a:srgbClr val="8E8A99"/>
          </a:solid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보통</a:t>
            </a:r>
            <a:endParaRPr lang="en-US" sz="1200" dirty="0"/>
          </a:p>
        </p:txBody>
      </p:sp>
      <p:sp>
        <p:nvSpPr>
          <p:cNvPr id="35" name="Text 33"/>
          <p:cNvSpPr txBox="1"/>
          <p:nvPr/>
        </p:nvSpPr>
        <p:spPr>
          <a:xfrm>
            <a:off x="4908107" y="4160520"/>
            <a:ext cx="921323" cy="1371600"/>
          </a:xfrm>
          <a:prstGeom prst="rect">
            <a:avLst/>
          </a:prstGeom>
          <a:noFill/>
          <a:ln/>
        </p:spPr>
        <p:txBody>
          <a:bodyPr wrap="square" lIns="0" tIns="0" rIns="0" bIns="0" rtlCol="0" anchor="t"/>
          <a:lstStyle/>
          <a:p>
            <a:pPr algn="ctr" indent="0" marL="0">
              <a:buNone/>
            </a:pPr>
            <a:r>
              <a:rPr lang="en-US" sz="1300" dirty="0">
                <a:solidFill>
                  <a:srgbClr val="22212A"/>
                </a:solidFill>
                <a:latin typeface="Malgun Gothic" pitchFamily="34" charset="0"/>
                <a:ea typeface="Malgun Gothic" pitchFamily="34" charset="-122"/>
                <a:cs typeface="Malgun Gothic" pitchFamily="34" charset="-120"/>
              </a:rPr>
              <a:t>가난하나</a:t>
            </a:r>
            <a:endParaRPr lang="en-US" sz="1300" dirty="0"/>
          </a:p>
          <a:p>
            <a:pPr algn="ctr" indent="0" marL="0">
              <a:buNone/>
            </a:pPr>
            <a:r>
              <a:rPr lang="en-US" sz="1300" dirty="0">
                <a:solidFill>
                  <a:srgbClr val="22212A"/>
                </a:solidFill>
                <a:latin typeface="Malgun Gothic" pitchFamily="34" charset="0"/>
                <a:ea typeface="Malgun Gothic" pitchFamily="34" charset="-122"/>
                <a:cs typeface="Malgun Gothic" pitchFamily="34" charset="-120"/>
              </a:rPr>
              <a:t>큰 고통 없음</a:t>
            </a:r>
            <a:endParaRPr lang="en-US" sz="1300" dirty="0"/>
          </a:p>
        </p:txBody>
      </p:sp>
      <p:sp>
        <p:nvSpPr>
          <p:cNvPr id="36" name="Shape 34"/>
          <p:cNvSpPr/>
          <p:nvPr/>
        </p:nvSpPr>
        <p:spPr>
          <a:xfrm>
            <a:off x="5994023" y="3108960"/>
            <a:ext cx="1031051" cy="2514600"/>
          </a:xfrm>
          <a:prstGeom prst="roundRect">
            <a:avLst>
              <a:gd name="adj" fmla="val 7095"/>
            </a:avLst>
          </a:prstGeom>
          <a:solidFill>
            <a:srgbClr val="F3F1F6"/>
          </a:solidFill>
          <a:ln w="12700">
            <a:solidFill>
              <a:srgbClr val="F3F1F6"/>
            </a:solidFill>
            <a:prstDash val="solid"/>
          </a:ln>
        </p:spPr>
      </p:sp>
      <p:sp>
        <p:nvSpPr>
          <p:cNvPr id="37" name="Text 35"/>
          <p:cNvSpPr txBox="1"/>
          <p:nvPr/>
        </p:nvSpPr>
        <p:spPr>
          <a:xfrm>
            <a:off x="5939159" y="3218688"/>
            <a:ext cx="1140779" cy="457200"/>
          </a:xfrm>
          <a:prstGeom prst="rect">
            <a:avLst/>
          </a:prstGeom>
          <a:noFill/>
          <a:ln/>
        </p:spPr>
        <p:txBody>
          <a:bodyPr wrap="square" lIns="0" tIns="0" rIns="0" bIns="0" rtlCol="0" anchor="ctr"/>
          <a:lstStyle/>
          <a:p>
            <a:pPr algn="ctr" indent="0" marL="0">
              <a:buNone/>
            </a:pPr>
            <a:r>
              <a:rPr lang="en-US" sz="2000" b="1" dirty="0">
                <a:solidFill>
                  <a:srgbClr val="22212A"/>
                </a:solidFill>
                <a:latin typeface="Malgun Gothic" pitchFamily="34" charset="0"/>
                <a:ea typeface="Malgun Gothic" pitchFamily="34" charset="-122"/>
                <a:cs typeface="Malgun Gothic" pitchFamily="34" charset="-120"/>
              </a:rPr>
              <a:t>甲午</a:t>
            </a:r>
            <a:endParaRPr lang="en-US" sz="2000" dirty="0"/>
          </a:p>
        </p:txBody>
      </p:sp>
      <p:sp>
        <p:nvSpPr>
          <p:cNvPr id="38" name="Text 36"/>
          <p:cNvSpPr txBox="1"/>
          <p:nvPr/>
        </p:nvSpPr>
        <p:spPr>
          <a:xfrm>
            <a:off x="6098068" y="3749040"/>
            <a:ext cx="822960" cy="310896"/>
          </a:xfrm>
          <a:prstGeom prst="rect">
            <a:avLst/>
          </a:prstGeom>
          <a:solidFill>
            <a:srgbClr val="B23A2E"/>
          </a:solid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나쁨</a:t>
            </a:r>
            <a:endParaRPr lang="en-US" sz="1200" dirty="0"/>
          </a:p>
        </p:txBody>
      </p:sp>
      <p:sp>
        <p:nvSpPr>
          <p:cNvPr id="39" name="Text 37"/>
          <p:cNvSpPr txBox="1"/>
          <p:nvPr/>
        </p:nvSpPr>
        <p:spPr>
          <a:xfrm>
            <a:off x="6048887" y="4160520"/>
            <a:ext cx="921323" cy="1371600"/>
          </a:xfrm>
          <a:prstGeom prst="rect">
            <a:avLst/>
          </a:prstGeom>
          <a:noFill/>
          <a:ln/>
        </p:spPr>
        <p:txBody>
          <a:bodyPr wrap="square" lIns="0" tIns="0" rIns="0" bIns="0" rtlCol="0" anchor="t"/>
          <a:lstStyle/>
          <a:p>
            <a:pPr algn="ctr" indent="0" marL="0">
              <a:buNone/>
            </a:pPr>
            <a:r>
              <a:rPr lang="en-US" sz="1300" dirty="0">
                <a:solidFill>
                  <a:srgbClr val="22212A"/>
                </a:solidFill>
                <a:latin typeface="Malgun Gothic" pitchFamily="34" charset="0"/>
                <a:ea typeface="Malgun Gothic" pitchFamily="34" charset="-122"/>
                <a:cs typeface="Malgun Gothic" pitchFamily="34" charset="-120"/>
              </a:rPr>
              <a:t>극심한 가난</a:t>
            </a:r>
            <a:endParaRPr lang="en-US" sz="1300" dirty="0"/>
          </a:p>
          <a:p>
            <a:pPr algn="ctr" indent="0" marL="0">
              <a:buNone/>
            </a:pPr>
            <a:r>
              <a:rPr lang="en-US" sz="1300" dirty="0">
                <a:solidFill>
                  <a:srgbClr val="22212A"/>
                </a:solidFill>
                <a:latin typeface="Malgun Gothic" pitchFamily="34" charset="0"/>
                <a:ea typeface="Malgun Gothic" pitchFamily="34" charset="-122"/>
                <a:cs typeface="Malgun Gothic" pitchFamily="34" charset="-120"/>
              </a:rPr>
              <a:t>열에 의한</a:t>
            </a:r>
            <a:endParaRPr lang="en-US" sz="1300" dirty="0"/>
          </a:p>
          <a:p>
            <a:pPr algn="ctr" indent="0" marL="0">
              <a:buNone/>
            </a:pPr>
            <a:r>
              <a:rPr lang="en-US" sz="1300" dirty="0">
                <a:solidFill>
                  <a:srgbClr val="22212A"/>
                </a:solidFill>
                <a:latin typeface="Malgun Gothic" pitchFamily="34" charset="0"/>
                <a:ea typeface="Malgun Gothic" pitchFamily="34" charset="-122"/>
                <a:cs typeface="Malgun Gothic" pitchFamily="34" charset="-120"/>
              </a:rPr>
              <a:t>온갖 질병</a:t>
            </a:r>
            <a:endParaRPr lang="en-US" sz="1300" dirty="0"/>
          </a:p>
        </p:txBody>
      </p:sp>
      <p:sp>
        <p:nvSpPr>
          <p:cNvPr id="40" name="Shape 38"/>
          <p:cNvSpPr/>
          <p:nvPr/>
        </p:nvSpPr>
        <p:spPr>
          <a:xfrm>
            <a:off x="7134802" y="3108960"/>
            <a:ext cx="1031051" cy="2514600"/>
          </a:xfrm>
          <a:prstGeom prst="roundRect">
            <a:avLst>
              <a:gd name="adj" fmla="val 7095"/>
            </a:avLst>
          </a:prstGeom>
          <a:solidFill>
            <a:srgbClr val="F3F1F6"/>
          </a:solidFill>
          <a:ln w="12700">
            <a:solidFill>
              <a:srgbClr val="F3F1F6"/>
            </a:solidFill>
            <a:prstDash val="solid"/>
          </a:ln>
        </p:spPr>
      </p:sp>
      <p:sp>
        <p:nvSpPr>
          <p:cNvPr id="41" name="Text 39"/>
          <p:cNvSpPr txBox="1"/>
          <p:nvPr/>
        </p:nvSpPr>
        <p:spPr>
          <a:xfrm>
            <a:off x="7079938" y="3218688"/>
            <a:ext cx="1140779" cy="457200"/>
          </a:xfrm>
          <a:prstGeom prst="rect">
            <a:avLst/>
          </a:prstGeom>
          <a:noFill/>
          <a:ln/>
        </p:spPr>
        <p:txBody>
          <a:bodyPr wrap="square" lIns="0" tIns="0" rIns="0" bIns="0" rtlCol="0" anchor="ctr"/>
          <a:lstStyle/>
          <a:p>
            <a:pPr algn="ctr" indent="0" marL="0">
              <a:buNone/>
            </a:pPr>
            <a:r>
              <a:rPr lang="en-US" sz="2000" b="1" dirty="0">
                <a:solidFill>
                  <a:srgbClr val="22212A"/>
                </a:solidFill>
                <a:latin typeface="Malgun Gothic" pitchFamily="34" charset="0"/>
                <a:ea typeface="Malgun Gothic" pitchFamily="34" charset="-122"/>
                <a:cs typeface="Malgun Gothic" pitchFamily="34" charset="-120"/>
              </a:rPr>
              <a:t>乙未</a:t>
            </a:r>
            <a:endParaRPr lang="en-US" sz="2000" dirty="0"/>
          </a:p>
        </p:txBody>
      </p:sp>
      <p:sp>
        <p:nvSpPr>
          <p:cNvPr id="42" name="Text 40"/>
          <p:cNvSpPr txBox="1"/>
          <p:nvPr/>
        </p:nvSpPr>
        <p:spPr>
          <a:xfrm>
            <a:off x="7238848" y="3749040"/>
            <a:ext cx="822960" cy="310896"/>
          </a:xfrm>
          <a:prstGeom prst="rect">
            <a:avLst/>
          </a:prstGeom>
          <a:solidFill>
            <a:srgbClr val="B23A2E"/>
          </a:solid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나쁨</a:t>
            </a:r>
            <a:endParaRPr lang="en-US" sz="1200" dirty="0"/>
          </a:p>
        </p:txBody>
      </p:sp>
      <p:sp>
        <p:nvSpPr>
          <p:cNvPr id="43" name="Text 41"/>
          <p:cNvSpPr txBox="1"/>
          <p:nvPr/>
        </p:nvSpPr>
        <p:spPr>
          <a:xfrm>
            <a:off x="7189666" y="4160520"/>
            <a:ext cx="921323" cy="1371600"/>
          </a:xfrm>
          <a:prstGeom prst="rect">
            <a:avLst/>
          </a:prstGeom>
          <a:noFill/>
          <a:ln/>
        </p:spPr>
        <p:txBody>
          <a:bodyPr wrap="square" lIns="0" tIns="0" rIns="0" bIns="0" rtlCol="0" anchor="t"/>
          <a:lstStyle/>
          <a:p>
            <a:pPr algn="ctr" indent="0" marL="0">
              <a:buNone/>
            </a:pPr>
            <a:r>
              <a:rPr lang="en-US" sz="1300" dirty="0">
                <a:solidFill>
                  <a:srgbClr val="22212A"/>
                </a:solidFill>
                <a:latin typeface="Malgun Gothic" pitchFamily="34" charset="0"/>
                <a:ea typeface="Malgun Gothic" pitchFamily="34" charset="-122"/>
                <a:cs typeface="Malgun Gothic" pitchFamily="34" charset="-120"/>
              </a:rPr>
              <a:t>木火가 더해져</a:t>
            </a:r>
            <a:endParaRPr lang="en-US" sz="1300" dirty="0"/>
          </a:p>
          <a:p>
            <a:pPr algn="ctr" indent="0" marL="0">
              <a:buNone/>
            </a:pPr>
            <a:r>
              <a:rPr lang="en-US" sz="1300" dirty="0">
                <a:solidFill>
                  <a:srgbClr val="22212A"/>
                </a:solidFill>
                <a:latin typeface="Malgun Gothic" pitchFamily="34" charset="0"/>
                <a:ea typeface="Malgun Gothic" pitchFamily="34" charset="-122"/>
                <a:cs typeface="Malgun Gothic" pitchFamily="34" charset="-120"/>
              </a:rPr>
              <a:t>고통 지속</a:t>
            </a:r>
            <a:endParaRPr lang="en-US" sz="1300" dirty="0"/>
          </a:p>
        </p:txBody>
      </p:sp>
      <p:sp>
        <p:nvSpPr>
          <p:cNvPr id="44" name="Shape 42"/>
          <p:cNvSpPr/>
          <p:nvPr/>
        </p:nvSpPr>
        <p:spPr>
          <a:xfrm>
            <a:off x="8275581" y="3108960"/>
            <a:ext cx="1031051" cy="2514600"/>
          </a:xfrm>
          <a:prstGeom prst="roundRect">
            <a:avLst>
              <a:gd name="adj" fmla="val 7095"/>
            </a:avLst>
          </a:prstGeom>
          <a:solidFill>
            <a:srgbClr val="F3F1F6"/>
          </a:solidFill>
          <a:ln w="12700">
            <a:solidFill>
              <a:srgbClr val="F3F1F6"/>
            </a:solidFill>
            <a:prstDash val="solid"/>
          </a:ln>
        </p:spPr>
      </p:sp>
      <p:sp>
        <p:nvSpPr>
          <p:cNvPr id="45" name="Text 43"/>
          <p:cNvSpPr txBox="1"/>
          <p:nvPr/>
        </p:nvSpPr>
        <p:spPr>
          <a:xfrm>
            <a:off x="8220717" y="3218688"/>
            <a:ext cx="1140779" cy="457200"/>
          </a:xfrm>
          <a:prstGeom prst="rect">
            <a:avLst/>
          </a:prstGeom>
          <a:noFill/>
          <a:ln/>
        </p:spPr>
        <p:txBody>
          <a:bodyPr wrap="square" lIns="0" tIns="0" rIns="0" bIns="0" rtlCol="0" anchor="ctr"/>
          <a:lstStyle/>
          <a:p>
            <a:pPr algn="ctr" indent="0" marL="0">
              <a:buNone/>
            </a:pPr>
            <a:r>
              <a:rPr lang="en-US" sz="2000" b="1" dirty="0">
                <a:solidFill>
                  <a:srgbClr val="22212A"/>
                </a:solidFill>
                <a:latin typeface="Malgun Gothic" pitchFamily="34" charset="0"/>
                <a:ea typeface="Malgun Gothic" pitchFamily="34" charset="-122"/>
                <a:cs typeface="Malgun Gothic" pitchFamily="34" charset="-120"/>
              </a:rPr>
              <a:t>丙申</a:t>
            </a:r>
            <a:endParaRPr lang="en-US" sz="2000" dirty="0"/>
          </a:p>
        </p:txBody>
      </p:sp>
      <p:sp>
        <p:nvSpPr>
          <p:cNvPr id="46" name="Text 44"/>
          <p:cNvSpPr txBox="1"/>
          <p:nvPr/>
        </p:nvSpPr>
        <p:spPr>
          <a:xfrm>
            <a:off x="8379627" y="3749040"/>
            <a:ext cx="822960" cy="310896"/>
          </a:xfrm>
          <a:prstGeom prst="rect">
            <a:avLst/>
          </a:prstGeom>
          <a:solidFill>
            <a:srgbClr val="8E8A99"/>
          </a:solid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보통</a:t>
            </a:r>
            <a:endParaRPr lang="en-US" sz="1200" dirty="0"/>
          </a:p>
        </p:txBody>
      </p:sp>
      <p:sp>
        <p:nvSpPr>
          <p:cNvPr id="47" name="Text 45"/>
          <p:cNvSpPr txBox="1"/>
          <p:nvPr/>
        </p:nvSpPr>
        <p:spPr>
          <a:xfrm>
            <a:off x="8330445" y="4160520"/>
            <a:ext cx="921323" cy="1371600"/>
          </a:xfrm>
          <a:prstGeom prst="rect">
            <a:avLst/>
          </a:prstGeom>
          <a:noFill/>
          <a:ln/>
        </p:spPr>
        <p:txBody>
          <a:bodyPr wrap="square" lIns="0" tIns="0" rIns="0" bIns="0" rtlCol="0" anchor="t"/>
          <a:lstStyle/>
          <a:p>
            <a:pPr algn="ctr" indent="0" marL="0">
              <a:buNone/>
            </a:pPr>
            <a:r>
              <a:rPr lang="en-US" sz="1300" dirty="0">
                <a:solidFill>
                  <a:srgbClr val="22212A"/>
                </a:solidFill>
                <a:latin typeface="Malgun Gothic" pitchFamily="34" charset="0"/>
                <a:ea typeface="Malgun Gothic" pitchFamily="34" charset="-122"/>
                <a:cs typeface="Malgun Gothic" pitchFamily="34" charset="-120"/>
              </a:rPr>
              <a:t>金이 水를 생해</a:t>
            </a:r>
            <a:endParaRPr lang="en-US" sz="1300" dirty="0"/>
          </a:p>
          <a:p>
            <a:pPr algn="ctr" indent="0" marL="0">
              <a:buNone/>
            </a:pPr>
            <a:r>
              <a:rPr lang="en-US" sz="1300" dirty="0">
                <a:solidFill>
                  <a:srgbClr val="22212A"/>
                </a:solidFill>
                <a:latin typeface="Malgun Gothic" pitchFamily="34" charset="0"/>
                <a:ea typeface="Malgun Gothic" pitchFamily="34" charset="-122"/>
                <a:cs typeface="Malgun Gothic" pitchFamily="34" charset="-120"/>
              </a:rPr>
              <a:t>나아지나 평범</a:t>
            </a:r>
            <a:endParaRPr lang="en-US" sz="1300" dirty="0"/>
          </a:p>
        </p:txBody>
      </p:sp>
      <p:sp>
        <p:nvSpPr>
          <p:cNvPr id="48" name="Shape 46"/>
          <p:cNvSpPr/>
          <p:nvPr/>
        </p:nvSpPr>
        <p:spPr>
          <a:xfrm>
            <a:off x="9416361" y="3108960"/>
            <a:ext cx="1031051" cy="2514600"/>
          </a:xfrm>
          <a:prstGeom prst="roundRect">
            <a:avLst>
              <a:gd name="adj" fmla="val 7095"/>
            </a:avLst>
          </a:prstGeom>
          <a:solidFill>
            <a:srgbClr val="F3F1F6"/>
          </a:solidFill>
          <a:ln w="12700">
            <a:solidFill>
              <a:srgbClr val="F3F1F6"/>
            </a:solidFill>
            <a:prstDash val="solid"/>
          </a:ln>
        </p:spPr>
      </p:sp>
      <p:sp>
        <p:nvSpPr>
          <p:cNvPr id="49" name="Text 47"/>
          <p:cNvSpPr txBox="1"/>
          <p:nvPr/>
        </p:nvSpPr>
        <p:spPr>
          <a:xfrm>
            <a:off x="9361497" y="3218688"/>
            <a:ext cx="1140779" cy="457200"/>
          </a:xfrm>
          <a:prstGeom prst="rect">
            <a:avLst/>
          </a:prstGeom>
          <a:noFill/>
          <a:ln/>
        </p:spPr>
        <p:txBody>
          <a:bodyPr wrap="square" lIns="0" tIns="0" rIns="0" bIns="0" rtlCol="0" anchor="ctr"/>
          <a:lstStyle/>
          <a:p>
            <a:pPr algn="ctr" indent="0" marL="0">
              <a:buNone/>
            </a:pPr>
            <a:r>
              <a:rPr lang="en-US" sz="2000" b="1" dirty="0">
                <a:solidFill>
                  <a:srgbClr val="22212A"/>
                </a:solidFill>
                <a:latin typeface="Malgun Gothic" pitchFamily="34" charset="0"/>
                <a:ea typeface="Malgun Gothic" pitchFamily="34" charset="-122"/>
                <a:cs typeface="Malgun Gothic" pitchFamily="34" charset="-120"/>
              </a:rPr>
              <a:t>丁酉</a:t>
            </a:r>
            <a:endParaRPr lang="en-US" sz="2000" dirty="0"/>
          </a:p>
        </p:txBody>
      </p:sp>
      <p:sp>
        <p:nvSpPr>
          <p:cNvPr id="50" name="Text 48"/>
          <p:cNvSpPr txBox="1"/>
          <p:nvPr/>
        </p:nvSpPr>
        <p:spPr>
          <a:xfrm>
            <a:off x="9520406" y="3749040"/>
            <a:ext cx="822960" cy="310896"/>
          </a:xfrm>
          <a:prstGeom prst="rect">
            <a:avLst/>
          </a:prstGeom>
          <a:solidFill>
            <a:srgbClr val="8E8A99"/>
          </a:solid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보통</a:t>
            </a:r>
            <a:endParaRPr lang="en-US" sz="1200" dirty="0"/>
          </a:p>
        </p:txBody>
      </p:sp>
      <p:sp>
        <p:nvSpPr>
          <p:cNvPr id="51" name="Text 49"/>
          <p:cNvSpPr txBox="1"/>
          <p:nvPr/>
        </p:nvSpPr>
        <p:spPr>
          <a:xfrm>
            <a:off x="9471225" y="4160520"/>
            <a:ext cx="921323" cy="1371600"/>
          </a:xfrm>
          <a:prstGeom prst="rect">
            <a:avLst/>
          </a:prstGeom>
          <a:noFill/>
          <a:ln/>
        </p:spPr>
        <p:txBody>
          <a:bodyPr wrap="square" lIns="0" tIns="0" rIns="0" bIns="0" rtlCol="0" anchor="t"/>
          <a:lstStyle/>
          <a:p>
            <a:pPr algn="ctr" indent="0" marL="0">
              <a:buNone/>
            </a:pPr>
            <a:r>
              <a:rPr lang="en-US" sz="1300" dirty="0">
                <a:solidFill>
                  <a:srgbClr val="22212A"/>
                </a:solidFill>
                <a:latin typeface="Malgun Gothic" pitchFamily="34" charset="0"/>
                <a:ea typeface="Malgun Gothic" pitchFamily="34" charset="-122"/>
                <a:cs typeface="Malgun Gothic" pitchFamily="34" charset="-120"/>
              </a:rPr>
              <a:t>평범</a:t>
            </a:r>
            <a:endParaRPr lang="en-US" sz="1300" dirty="0"/>
          </a:p>
        </p:txBody>
      </p:sp>
      <p:sp>
        <p:nvSpPr>
          <p:cNvPr id="52" name="Shape 50"/>
          <p:cNvSpPr/>
          <p:nvPr/>
        </p:nvSpPr>
        <p:spPr>
          <a:xfrm>
            <a:off x="10557140" y="3108960"/>
            <a:ext cx="1031051" cy="2514600"/>
          </a:xfrm>
          <a:prstGeom prst="roundRect">
            <a:avLst>
              <a:gd name="adj" fmla="val 7095"/>
            </a:avLst>
          </a:prstGeom>
          <a:solidFill>
            <a:srgbClr val="F3F1F6"/>
          </a:solidFill>
          <a:ln w="12700">
            <a:solidFill>
              <a:srgbClr val="F3F1F6"/>
            </a:solidFill>
            <a:prstDash val="solid"/>
          </a:ln>
        </p:spPr>
      </p:sp>
      <p:sp>
        <p:nvSpPr>
          <p:cNvPr id="53" name="Text 51"/>
          <p:cNvSpPr txBox="1"/>
          <p:nvPr/>
        </p:nvSpPr>
        <p:spPr>
          <a:xfrm>
            <a:off x="10502276" y="3218688"/>
            <a:ext cx="1140779" cy="457200"/>
          </a:xfrm>
          <a:prstGeom prst="rect">
            <a:avLst/>
          </a:prstGeom>
          <a:noFill/>
          <a:ln/>
        </p:spPr>
        <p:txBody>
          <a:bodyPr wrap="square" lIns="0" tIns="0" rIns="0" bIns="0" rtlCol="0" anchor="ctr"/>
          <a:lstStyle/>
          <a:p>
            <a:pPr algn="ctr" indent="0" marL="0">
              <a:buNone/>
            </a:pPr>
            <a:r>
              <a:rPr lang="en-US" sz="2000" b="1" dirty="0">
                <a:solidFill>
                  <a:srgbClr val="22212A"/>
                </a:solidFill>
                <a:latin typeface="Malgun Gothic" pitchFamily="34" charset="0"/>
                <a:ea typeface="Malgun Gothic" pitchFamily="34" charset="-122"/>
                <a:cs typeface="Malgun Gothic" pitchFamily="34" charset="-120"/>
              </a:rPr>
              <a:t>戊戌</a:t>
            </a:r>
            <a:endParaRPr lang="en-US" sz="2000" dirty="0"/>
          </a:p>
        </p:txBody>
      </p:sp>
      <p:sp>
        <p:nvSpPr>
          <p:cNvPr id="54" name="Text 52"/>
          <p:cNvSpPr txBox="1"/>
          <p:nvPr/>
        </p:nvSpPr>
        <p:spPr>
          <a:xfrm>
            <a:off x="10661186" y="3749040"/>
            <a:ext cx="822960" cy="310896"/>
          </a:xfrm>
          <a:prstGeom prst="rect">
            <a:avLst/>
          </a:prstGeom>
          <a:solidFill>
            <a:srgbClr val="B23A2E"/>
          </a:solid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나쁨</a:t>
            </a:r>
            <a:endParaRPr lang="en-US" sz="1200" dirty="0"/>
          </a:p>
        </p:txBody>
      </p:sp>
      <p:sp>
        <p:nvSpPr>
          <p:cNvPr id="55" name="Text 53"/>
          <p:cNvSpPr txBox="1"/>
          <p:nvPr/>
        </p:nvSpPr>
        <p:spPr>
          <a:xfrm>
            <a:off x="10612004" y="4160520"/>
            <a:ext cx="921323" cy="1371600"/>
          </a:xfrm>
          <a:prstGeom prst="rect">
            <a:avLst/>
          </a:prstGeom>
          <a:noFill/>
          <a:ln/>
        </p:spPr>
        <p:txBody>
          <a:bodyPr wrap="square" lIns="0" tIns="0" rIns="0" bIns="0" rtlCol="0" anchor="t"/>
          <a:lstStyle/>
          <a:p>
            <a:pPr algn="ctr" indent="0" marL="0">
              <a:buNone/>
            </a:pPr>
            <a:r>
              <a:rPr lang="en-US" sz="1300" dirty="0">
                <a:solidFill>
                  <a:srgbClr val="22212A"/>
                </a:solidFill>
                <a:latin typeface="Malgun Gothic" pitchFamily="34" charset="0"/>
                <a:ea typeface="Malgun Gothic" pitchFamily="34" charset="-122"/>
                <a:cs typeface="Malgun Gothic" pitchFamily="34" charset="-120"/>
              </a:rPr>
              <a:t>卯戌 合火</a:t>
            </a:r>
            <a:endParaRPr lang="en-US" sz="1300" dirty="0"/>
          </a:p>
          <a:p>
            <a:pPr algn="ctr" indent="0" marL="0">
              <a:buNone/>
            </a:pPr>
            <a:r>
              <a:rPr lang="en-US" sz="1300" dirty="0">
                <a:solidFill>
                  <a:srgbClr val="22212A"/>
                </a:solidFill>
                <a:latin typeface="Malgun Gothic" pitchFamily="34" charset="0"/>
                <a:ea typeface="Malgun Gothic" pitchFamily="34" charset="-122"/>
                <a:cs typeface="Malgun Gothic" pitchFamily="34" charset="-120"/>
              </a:rPr>
              <a:t>고통이 극에 달함</a:t>
            </a:r>
            <a:endParaRPr lang="en-US" sz="1300" dirty="0"/>
          </a:p>
        </p:txBody>
      </p:sp>
      <p:sp>
        <p:nvSpPr>
          <p:cNvPr id="56" name="Text 54"/>
          <p:cNvSpPr txBox="1"/>
          <p:nvPr/>
        </p:nvSpPr>
        <p:spPr>
          <a:xfrm>
            <a:off x="3657600" y="2788920"/>
            <a:ext cx="2743200" cy="274320"/>
          </a:xfrm>
          <a:prstGeom prst="rect">
            <a:avLst/>
          </a:prstGeom>
          <a:noFill/>
          <a:ln/>
        </p:spPr>
        <p:txBody>
          <a:bodyPr wrap="square" lIns="0" tIns="0" rIns="0" bIns="0" rtlCol="0" anchor="ctr"/>
          <a:lstStyle/>
          <a:p>
            <a:pPr indent="0" marL="0">
              <a:buNone/>
            </a:pPr>
            <a:r>
              <a:rPr lang="en-US" sz="1200" dirty="0">
                <a:solidFill>
                  <a:srgbClr val="6B6778"/>
                </a:solidFill>
                <a:latin typeface="Malgun Gothic" pitchFamily="34" charset="0"/>
                <a:ea typeface="Malgun Gothic" pitchFamily="34" charset="-122"/>
                <a:cs typeface="Malgun Gothic" pitchFamily="34" charset="-120"/>
              </a:rPr>
              <a:t>대운 (순행) →</a:t>
            </a:r>
            <a:endParaRPr lang="en-US" sz="1200" dirty="0"/>
          </a:p>
        </p:txBody>
      </p:sp>
      <p:sp>
        <p:nvSpPr>
          <p:cNvPr id="57" name="Text 55"/>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B6778"/>
                </a:solidFill>
                <a:latin typeface="Malgun Gothic" pitchFamily="34" charset="0"/>
                <a:ea typeface="Malgun Gothic" pitchFamily="34" charset="-122"/>
                <a:cs typeface="Malgun Gothic" pitchFamily="34" charset="-120"/>
              </a:rPr>
              <a:t>의명보감 1 기초편 · 제5장 의명학 공식</a:t>
            </a:r>
            <a:endParaRPr lang="en-US" sz="1000" dirty="0"/>
          </a:p>
        </p:txBody>
      </p:sp>
      <p:sp>
        <p:nvSpPr>
          <p:cNvPr id="58" name="Text 56"/>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778"/>
                </a:solidFill>
                <a:latin typeface="Malgun Gothic" pitchFamily="34" charset="0"/>
                <a:ea typeface="Malgun Gothic" pitchFamily="34" charset="-122"/>
                <a:cs typeface="Malgun Gothic"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300" b="1" dirty="0">
                <a:solidFill>
                  <a:srgbClr val="B23A2E"/>
                </a:solidFill>
                <a:latin typeface="Malgun Gothic" pitchFamily="34" charset="0"/>
                <a:ea typeface="Malgun Gothic" pitchFamily="34" charset="-122"/>
                <a:cs typeface="Malgun Gothic" pitchFamily="34" charset="-120"/>
              </a:rPr>
              <a:t>05 풀이 예제</a:t>
            </a:r>
            <a:endParaRPr lang="en-US" sz="13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000" b="1" dirty="0">
                <a:solidFill>
                  <a:srgbClr val="22212A"/>
                </a:solidFill>
                <a:latin typeface="Malgun Gothic" pitchFamily="34" charset="0"/>
                <a:ea typeface="Malgun Gothic" pitchFamily="34" charset="-122"/>
                <a:cs typeface="Malgun Gothic" pitchFamily="34" charset="-120"/>
              </a:rPr>
              <a:t>예제 B — 겨울에 태어난 壬水</a:t>
            </a:r>
            <a:endParaRPr lang="en-US" sz="3000" dirty="0"/>
          </a:p>
        </p:txBody>
      </p:sp>
      <p:sp>
        <p:nvSpPr>
          <p:cNvPr id="4" name="Text 2"/>
          <p:cNvSpPr txBox="1"/>
          <p:nvPr/>
        </p:nvSpPr>
        <p:spPr>
          <a:xfrm>
            <a:off x="640080" y="1965960"/>
            <a:ext cx="822960" cy="566928"/>
          </a:xfrm>
          <a:prstGeom prst="rect">
            <a:avLst/>
          </a:prstGeom>
          <a:noFill/>
          <a:ln/>
        </p:spPr>
        <p:txBody>
          <a:bodyPr wrap="square" lIns="0" tIns="0" rIns="0" bIns="0" rtlCol="0" anchor="ctr"/>
          <a:lstStyle/>
          <a:p>
            <a:pPr indent="0" marL="0">
              <a:buNone/>
            </a:pPr>
            <a:r>
              <a:rPr lang="en-US" sz="1400" b="1" dirty="0">
                <a:solidFill>
                  <a:srgbClr val="6B6778"/>
                </a:solidFill>
                <a:latin typeface="Malgun Gothic" pitchFamily="34" charset="0"/>
                <a:ea typeface="Malgun Gothic" pitchFamily="34" charset="-122"/>
                <a:cs typeface="Malgun Gothic" pitchFamily="34" charset="-120"/>
              </a:rPr>
              <a:t>생년</a:t>
            </a:r>
            <a:endParaRPr lang="en-US" sz="1400" dirty="0"/>
          </a:p>
        </p:txBody>
      </p:sp>
      <p:sp>
        <p:nvSpPr>
          <p:cNvPr id="5" name="Shape 3"/>
          <p:cNvSpPr/>
          <p:nvPr/>
        </p:nvSpPr>
        <p:spPr>
          <a:xfrm>
            <a:off x="1554480" y="1965960"/>
            <a:ext cx="566928" cy="566928"/>
          </a:xfrm>
          <a:prstGeom prst="ellipse">
            <a:avLst/>
          </a:prstGeom>
          <a:solidFill>
            <a:srgbClr val="3F7D4E"/>
          </a:solidFill>
          <a:ln w="12700">
            <a:solidFill>
              <a:srgbClr val="3F7D4E"/>
            </a:solidFill>
            <a:prstDash val="solid"/>
          </a:ln>
        </p:spPr>
      </p:sp>
      <p:sp>
        <p:nvSpPr>
          <p:cNvPr id="6" name="Text 4"/>
          <p:cNvSpPr txBox="1"/>
          <p:nvPr/>
        </p:nvSpPr>
        <p:spPr>
          <a:xfrm>
            <a:off x="1554480" y="1965960"/>
            <a:ext cx="566928" cy="566928"/>
          </a:xfrm>
          <a:prstGeom prst="rect">
            <a:avLst/>
          </a:prstGeom>
          <a:noFill/>
          <a:ln/>
        </p:spPr>
        <p:txBody>
          <a:bodyPr wrap="square" lIns="0" tIns="0" rIns="0" bIns="0" rtlCol="0" anchor="ctr"/>
          <a:lstStyle/>
          <a:p>
            <a:pPr algn="ctr" indent="0" marL="0">
              <a:buNone/>
            </a:pPr>
            <a:r>
              <a:rPr lang="en-US" sz="1900" b="1" dirty="0">
                <a:solidFill>
                  <a:srgbClr val="FFFFFF"/>
                </a:solidFill>
                <a:latin typeface="Malgun Gothic" pitchFamily="34" charset="0"/>
                <a:ea typeface="Malgun Gothic" pitchFamily="34" charset="-122"/>
                <a:cs typeface="Malgun Gothic" pitchFamily="34" charset="-120"/>
              </a:rPr>
              <a:t>乙</a:t>
            </a:r>
            <a:endParaRPr lang="en-US" sz="1900" dirty="0"/>
          </a:p>
        </p:txBody>
      </p:sp>
      <p:sp>
        <p:nvSpPr>
          <p:cNvPr id="7" name="Shape 5"/>
          <p:cNvSpPr/>
          <p:nvPr/>
        </p:nvSpPr>
        <p:spPr>
          <a:xfrm>
            <a:off x="2212848" y="1965960"/>
            <a:ext cx="566928" cy="566928"/>
          </a:xfrm>
          <a:prstGeom prst="ellipse">
            <a:avLst/>
          </a:prstGeom>
          <a:solidFill>
            <a:srgbClr val="3F7D4E"/>
          </a:solidFill>
          <a:ln w="12700">
            <a:solidFill>
              <a:srgbClr val="3F7D4E"/>
            </a:solidFill>
            <a:prstDash val="solid"/>
          </a:ln>
        </p:spPr>
      </p:sp>
      <p:sp>
        <p:nvSpPr>
          <p:cNvPr id="8" name="Text 6"/>
          <p:cNvSpPr txBox="1"/>
          <p:nvPr/>
        </p:nvSpPr>
        <p:spPr>
          <a:xfrm>
            <a:off x="2212848" y="1965960"/>
            <a:ext cx="566928" cy="566928"/>
          </a:xfrm>
          <a:prstGeom prst="rect">
            <a:avLst/>
          </a:prstGeom>
          <a:noFill/>
          <a:ln/>
        </p:spPr>
        <p:txBody>
          <a:bodyPr wrap="square" lIns="0" tIns="0" rIns="0" bIns="0" rtlCol="0" anchor="ctr"/>
          <a:lstStyle/>
          <a:p>
            <a:pPr algn="ctr" indent="0" marL="0">
              <a:buNone/>
            </a:pPr>
            <a:r>
              <a:rPr lang="en-US" sz="1900" b="1" dirty="0">
                <a:solidFill>
                  <a:srgbClr val="FFFFFF"/>
                </a:solidFill>
                <a:latin typeface="Malgun Gothic" pitchFamily="34" charset="0"/>
                <a:ea typeface="Malgun Gothic" pitchFamily="34" charset="-122"/>
                <a:cs typeface="Malgun Gothic" pitchFamily="34" charset="-120"/>
              </a:rPr>
              <a:t>卯</a:t>
            </a:r>
            <a:endParaRPr lang="en-US" sz="1900" dirty="0"/>
          </a:p>
        </p:txBody>
      </p:sp>
      <p:sp>
        <p:nvSpPr>
          <p:cNvPr id="9" name="Text 7"/>
          <p:cNvSpPr txBox="1"/>
          <p:nvPr/>
        </p:nvSpPr>
        <p:spPr>
          <a:xfrm>
            <a:off x="640080" y="2734056"/>
            <a:ext cx="822960" cy="566928"/>
          </a:xfrm>
          <a:prstGeom prst="rect">
            <a:avLst/>
          </a:prstGeom>
          <a:noFill/>
          <a:ln/>
        </p:spPr>
        <p:txBody>
          <a:bodyPr wrap="square" lIns="0" tIns="0" rIns="0" bIns="0" rtlCol="0" anchor="ctr"/>
          <a:lstStyle/>
          <a:p>
            <a:pPr indent="0" marL="0">
              <a:buNone/>
            </a:pPr>
            <a:r>
              <a:rPr lang="en-US" sz="1400" b="1" dirty="0">
                <a:solidFill>
                  <a:srgbClr val="6B6778"/>
                </a:solidFill>
                <a:latin typeface="Malgun Gothic" pitchFamily="34" charset="0"/>
                <a:ea typeface="Malgun Gothic" pitchFamily="34" charset="-122"/>
                <a:cs typeface="Malgun Gothic" pitchFamily="34" charset="-120"/>
              </a:rPr>
              <a:t>생월</a:t>
            </a:r>
            <a:endParaRPr lang="en-US" sz="1400" dirty="0"/>
          </a:p>
        </p:txBody>
      </p:sp>
      <p:sp>
        <p:nvSpPr>
          <p:cNvPr id="10" name="Shape 8"/>
          <p:cNvSpPr/>
          <p:nvPr/>
        </p:nvSpPr>
        <p:spPr>
          <a:xfrm>
            <a:off x="1554480" y="2734056"/>
            <a:ext cx="566928" cy="566928"/>
          </a:xfrm>
          <a:prstGeom prst="ellipse">
            <a:avLst/>
          </a:prstGeom>
          <a:solidFill>
            <a:srgbClr val="B8892A"/>
          </a:solidFill>
          <a:ln w="12700">
            <a:solidFill>
              <a:srgbClr val="B8892A"/>
            </a:solidFill>
            <a:prstDash val="solid"/>
          </a:ln>
        </p:spPr>
      </p:sp>
      <p:sp>
        <p:nvSpPr>
          <p:cNvPr id="11" name="Text 9"/>
          <p:cNvSpPr txBox="1"/>
          <p:nvPr/>
        </p:nvSpPr>
        <p:spPr>
          <a:xfrm>
            <a:off x="1554480" y="2734056"/>
            <a:ext cx="566928" cy="566928"/>
          </a:xfrm>
          <a:prstGeom prst="rect">
            <a:avLst/>
          </a:prstGeom>
          <a:noFill/>
          <a:ln/>
        </p:spPr>
        <p:txBody>
          <a:bodyPr wrap="square" lIns="0" tIns="0" rIns="0" bIns="0" rtlCol="0" anchor="ctr"/>
          <a:lstStyle/>
          <a:p>
            <a:pPr algn="ctr" indent="0" marL="0">
              <a:buNone/>
            </a:pPr>
            <a:r>
              <a:rPr lang="en-US" sz="1900" b="1" dirty="0">
                <a:solidFill>
                  <a:srgbClr val="FFFFFF"/>
                </a:solidFill>
                <a:latin typeface="Malgun Gothic" pitchFamily="34" charset="0"/>
                <a:ea typeface="Malgun Gothic" pitchFamily="34" charset="-122"/>
                <a:cs typeface="Malgun Gothic" pitchFamily="34" charset="-120"/>
              </a:rPr>
              <a:t>己</a:t>
            </a:r>
            <a:endParaRPr lang="en-US" sz="1900" dirty="0"/>
          </a:p>
        </p:txBody>
      </p:sp>
      <p:sp>
        <p:nvSpPr>
          <p:cNvPr id="12" name="Shape 10"/>
          <p:cNvSpPr/>
          <p:nvPr/>
        </p:nvSpPr>
        <p:spPr>
          <a:xfrm>
            <a:off x="2212848" y="2734056"/>
            <a:ext cx="566928" cy="566928"/>
          </a:xfrm>
          <a:prstGeom prst="ellipse">
            <a:avLst/>
          </a:prstGeom>
          <a:solidFill>
            <a:srgbClr val="B8892A"/>
          </a:solidFill>
          <a:ln w="12700">
            <a:solidFill>
              <a:srgbClr val="B8892A"/>
            </a:solidFill>
            <a:prstDash val="solid"/>
          </a:ln>
        </p:spPr>
      </p:sp>
      <p:sp>
        <p:nvSpPr>
          <p:cNvPr id="13" name="Text 11"/>
          <p:cNvSpPr txBox="1"/>
          <p:nvPr/>
        </p:nvSpPr>
        <p:spPr>
          <a:xfrm>
            <a:off x="2212848" y="2734056"/>
            <a:ext cx="566928" cy="566928"/>
          </a:xfrm>
          <a:prstGeom prst="rect">
            <a:avLst/>
          </a:prstGeom>
          <a:noFill/>
          <a:ln/>
        </p:spPr>
        <p:txBody>
          <a:bodyPr wrap="square" lIns="0" tIns="0" rIns="0" bIns="0" rtlCol="0" anchor="ctr"/>
          <a:lstStyle/>
          <a:p>
            <a:pPr algn="ctr" indent="0" marL="0">
              <a:buNone/>
            </a:pPr>
            <a:r>
              <a:rPr lang="en-US" sz="1900" b="1" dirty="0">
                <a:solidFill>
                  <a:srgbClr val="FFFFFF"/>
                </a:solidFill>
                <a:latin typeface="Malgun Gothic" pitchFamily="34" charset="0"/>
                <a:ea typeface="Malgun Gothic" pitchFamily="34" charset="-122"/>
                <a:cs typeface="Malgun Gothic" pitchFamily="34" charset="-120"/>
              </a:rPr>
              <a:t>丑</a:t>
            </a:r>
            <a:endParaRPr lang="en-US" sz="1900" dirty="0"/>
          </a:p>
        </p:txBody>
      </p:sp>
      <p:sp>
        <p:nvSpPr>
          <p:cNvPr id="14" name="Text 12"/>
          <p:cNvSpPr txBox="1"/>
          <p:nvPr/>
        </p:nvSpPr>
        <p:spPr>
          <a:xfrm>
            <a:off x="640080" y="3502152"/>
            <a:ext cx="822960" cy="566928"/>
          </a:xfrm>
          <a:prstGeom prst="rect">
            <a:avLst/>
          </a:prstGeom>
          <a:noFill/>
          <a:ln/>
        </p:spPr>
        <p:txBody>
          <a:bodyPr wrap="square" lIns="0" tIns="0" rIns="0" bIns="0" rtlCol="0" anchor="ctr"/>
          <a:lstStyle/>
          <a:p>
            <a:pPr indent="0" marL="0">
              <a:buNone/>
            </a:pPr>
            <a:r>
              <a:rPr lang="en-US" sz="1400" b="1" dirty="0">
                <a:solidFill>
                  <a:srgbClr val="6B6778"/>
                </a:solidFill>
                <a:latin typeface="Malgun Gothic" pitchFamily="34" charset="0"/>
                <a:ea typeface="Malgun Gothic" pitchFamily="34" charset="-122"/>
                <a:cs typeface="Malgun Gothic" pitchFamily="34" charset="-120"/>
              </a:rPr>
              <a:t>생일</a:t>
            </a:r>
            <a:endParaRPr lang="en-US" sz="1400" dirty="0"/>
          </a:p>
        </p:txBody>
      </p:sp>
      <p:sp>
        <p:nvSpPr>
          <p:cNvPr id="15" name="Shape 13"/>
          <p:cNvSpPr/>
          <p:nvPr/>
        </p:nvSpPr>
        <p:spPr>
          <a:xfrm>
            <a:off x="1554480" y="3502152"/>
            <a:ext cx="566928" cy="566928"/>
          </a:xfrm>
          <a:prstGeom prst="ellipse">
            <a:avLst/>
          </a:prstGeom>
          <a:solidFill>
            <a:srgbClr val="22406E"/>
          </a:solidFill>
          <a:ln w="12700">
            <a:solidFill>
              <a:srgbClr val="22406E"/>
            </a:solidFill>
            <a:prstDash val="solid"/>
          </a:ln>
        </p:spPr>
      </p:sp>
      <p:sp>
        <p:nvSpPr>
          <p:cNvPr id="16" name="Text 14"/>
          <p:cNvSpPr txBox="1"/>
          <p:nvPr/>
        </p:nvSpPr>
        <p:spPr>
          <a:xfrm>
            <a:off x="1554480" y="3502152"/>
            <a:ext cx="566928" cy="566928"/>
          </a:xfrm>
          <a:prstGeom prst="rect">
            <a:avLst/>
          </a:prstGeom>
          <a:noFill/>
          <a:ln/>
        </p:spPr>
        <p:txBody>
          <a:bodyPr wrap="square" lIns="0" tIns="0" rIns="0" bIns="0" rtlCol="0" anchor="ctr"/>
          <a:lstStyle/>
          <a:p>
            <a:pPr algn="ctr" indent="0" marL="0">
              <a:buNone/>
            </a:pPr>
            <a:r>
              <a:rPr lang="en-US" sz="1900" b="1" dirty="0">
                <a:solidFill>
                  <a:srgbClr val="FFFFFF"/>
                </a:solidFill>
                <a:latin typeface="Malgun Gothic" pitchFamily="34" charset="0"/>
                <a:ea typeface="Malgun Gothic" pitchFamily="34" charset="-122"/>
                <a:cs typeface="Malgun Gothic" pitchFamily="34" charset="-120"/>
              </a:rPr>
              <a:t>壬</a:t>
            </a:r>
            <a:endParaRPr lang="en-US" sz="1900" dirty="0"/>
          </a:p>
        </p:txBody>
      </p:sp>
      <p:sp>
        <p:nvSpPr>
          <p:cNvPr id="17" name="Shape 15"/>
          <p:cNvSpPr/>
          <p:nvPr/>
        </p:nvSpPr>
        <p:spPr>
          <a:xfrm>
            <a:off x="2212848" y="3502152"/>
            <a:ext cx="566928" cy="566928"/>
          </a:xfrm>
          <a:prstGeom prst="ellipse">
            <a:avLst/>
          </a:prstGeom>
          <a:solidFill>
            <a:srgbClr val="C0392B"/>
          </a:solidFill>
          <a:ln w="12700">
            <a:solidFill>
              <a:srgbClr val="C0392B"/>
            </a:solidFill>
            <a:prstDash val="solid"/>
          </a:ln>
        </p:spPr>
      </p:sp>
      <p:sp>
        <p:nvSpPr>
          <p:cNvPr id="18" name="Text 16"/>
          <p:cNvSpPr txBox="1"/>
          <p:nvPr/>
        </p:nvSpPr>
        <p:spPr>
          <a:xfrm>
            <a:off x="2212848" y="3502152"/>
            <a:ext cx="566928" cy="566928"/>
          </a:xfrm>
          <a:prstGeom prst="rect">
            <a:avLst/>
          </a:prstGeom>
          <a:noFill/>
          <a:ln/>
        </p:spPr>
        <p:txBody>
          <a:bodyPr wrap="square" lIns="0" tIns="0" rIns="0" bIns="0" rtlCol="0" anchor="ctr"/>
          <a:lstStyle/>
          <a:p>
            <a:pPr algn="ctr" indent="0" marL="0">
              <a:buNone/>
            </a:pPr>
            <a:r>
              <a:rPr lang="en-US" sz="1900" b="1" dirty="0">
                <a:solidFill>
                  <a:srgbClr val="FFFFFF"/>
                </a:solidFill>
                <a:latin typeface="Malgun Gothic" pitchFamily="34" charset="0"/>
                <a:ea typeface="Malgun Gothic" pitchFamily="34" charset="-122"/>
                <a:cs typeface="Malgun Gothic" pitchFamily="34" charset="-120"/>
              </a:rPr>
              <a:t>午</a:t>
            </a:r>
            <a:endParaRPr lang="en-US" sz="1900" dirty="0"/>
          </a:p>
        </p:txBody>
      </p:sp>
      <p:sp>
        <p:nvSpPr>
          <p:cNvPr id="19" name="Shape 17"/>
          <p:cNvSpPr/>
          <p:nvPr/>
        </p:nvSpPr>
        <p:spPr>
          <a:xfrm>
            <a:off x="1499616" y="3447288"/>
            <a:ext cx="676656" cy="676656"/>
          </a:xfrm>
          <a:prstGeom prst="roundRect">
            <a:avLst>
              <a:gd name="adj" fmla="val 13514"/>
            </a:avLst>
          </a:prstGeom>
          <a:solidFill>
            <a:srgbClr val="FFFFFF">
              <a:alpha val="0"/>
            </a:srgbClr>
          </a:solidFill>
          <a:ln w="31750">
            <a:solidFill>
              <a:srgbClr val="B23A2E"/>
            </a:solidFill>
            <a:prstDash val="solid"/>
          </a:ln>
        </p:spPr>
      </p:sp>
      <p:sp>
        <p:nvSpPr>
          <p:cNvPr id="20" name="Text 18"/>
          <p:cNvSpPr txBox="1"/>
          <p:nvPr/>
        </p:nvSpPr>
        <p:spPr>
          <a:xfrm>
            <a:off x="640080" y="4270248"/>
            <a:ext cx="822960" cy="566928"/>
          </a:xfrm>
          <a:prstGeom prst="rect">
            <a:avLst/>
          </a:prstGeom>
          <a:noFill/>
          <a:ln/>
        </p:spPr>
        <p:txBody>
          <a:bodyPr wrap="square" lIns="0" tIns="0" rIns="0" bIns="0" rtlCol="0" anchor="ctr"/>
          <a:lstStyle/>
          <a:p>
            <a:pPr indent="0" marL="0">
              <a:buNone/>
            </a:pPr>
            <a:r>
              <a:rPr lang="en-US" sz="1400" b="1" dirty="0">
                <a:solidFill>
                  <a:srgbClr val="6B6778"/>
                </a:solidFill>
                <a:latin typeface="Malgun Gothic" pitchFamily="34" charset="0"/>
                <a:ea typeface="Malgun Gothic" pitchFamily="34" charset="-122"/>
                <a:cs typeface="Malgun Gothic" pitchFamily="34" charset="-120"/>
              </a:rPr>
              <a:t>생시</a:t>
            </a:r>
            <a:endParaRPr lang="en-US" sz="1400" dirty="0"/>
          </a:p>
        </p:txBody>
      </p:sp>
      <p:sp>
        <p:nvSpPr>
          <p:cNvPr id="21" name="Shape 19"/>
          <p:cNvSpPr/>
          <p:nvPr/>
        </p:nvSpPr>
        <p:spPr>
          <a:xfrm>
            <a:off x="1554480" y="4270248"/>
            <a:ext cx="566928" cy="566928"/>
          </a:xfrm>
          <a:prstGeom prst="ellipse">
            <a:avLst/>
          </a:prstGeom>
          <a:solidFill>
            <a:srgbClr val="6E737B"/>
          </a:solidFill>
          <a:ln w="12700">
            <a:solidFill>
              <a:srgbClr val="6E737B"/>
            </a:solidFill>
            <a:prstDash val="solid"/>
          </a:ln>
        </p:spPr>
      </p:sp>
      <p:sp>
        <p:nvSpPr>
          <p:cNvPr id="22" name="Text 20"/>
          <p:cNvSpPr txBox="1"/>
          <p:nvPr/>
        </p:nvSpPr>
        <p:spPr>
          <a:xfrm>
            <a:off x="1554480" y="4270248"/>
            <a:ext cx="566928" cy="566928"/>
          </a:xfrm>
          <a:prstGeom prst="rect">
            <a:avLst/>
          </a:prstGeom>
          <a:noFill/>
          <a:ln/>
        </p:spPr>
        <p:txBody>
          <a:bodyPr wrap="square" lIns="0" tIns="0" rIns="0" bIns="0" rtlCol="0" anchor="ctr"/>
          <a:lstStyle/>
          <a:p>
            <a:pPr algn="ctr" indent="0" marL="0">
              <a:buNone/>
            </a:pPr>
            <a:r>
              <a:rPr lang="en-US" sz="1900" b="1" dirty="0">
                <a:solidFill>
                  <a:srgbClr val="FFFFFF"/>
                </a:solidFill>
                <a:latin typeface="Malgun Gothic" pitchFamily="34" charset="0"/>
                <a:ea typeface="Malgun Gothic" pitchFamily="34" charset="-122"/>
                <a:cs typeface="Malgun Gothic" pitchFamily="34" charset="-120"/>
              </a:rPr>
              <a:t>辛</a:t>
            </a:r>
            <a:endParaRPr lang="en-US" sz="1900" dirty="0"/>
          </a:p>
        </p:txBody>
      </p:sp>
      <p:sp>
        <p:nvSpPr>
          <p:cNvPr id="23" name="Shape 21"/>
          <p:cNvSpPr/>
          <p:nvPr/>
        </p:nvSpPr>
        <p:spPr>
          <a:xfrm>
            <a:off x="2212848" y="4270248"/>
            <a:ext cx="566928" cy="566928"/>
          </a:xfrm>
          <a:prstGeom prst="ellipse">
            <a:avLst/>
          </a:prstGeom>
          <a:solidFill>
            <a:srgbClr val="22406E"/>
          </a:solidFill>
          <a:ln w="12700">
            <a:solidFill>
              <a:srgbClr val="22406E"/>
            </a:solidFill>
            <a:prstDash val="solid"/>
          </a:ln>
        </p:spPr>
      </p:sp>
      <p:sp>
        <p:nvSpPr>
          <p:cNvPr id="24" name="Text 22"/>
          <p:cNvSpPr txBox="1"/>
          <p:nvPr/>
        </p:nvSpPr>
        <p:spPr>
          <a:xfrm>
            <a:off x="2212848" y="4270248"/>
            <a:ext cx="566928" cy="566928"/>
          </a:xfrm>
          <a:prstGeom prst="rect">
            <a:avLst/>
          </a:prstGeom>
          <a:noFill/>
          <a:ln/>
        </p:spPr>
        <p:txBody>
          <a:bodyPr wrap="square" lIns="0" tIns="0" rIns="0" bIns="0" rtlCol="0" anchor="ctr"/>
          <a:lstStyle/>
          <a:p>
            <a:pPr algn="ctr" indent="0" marL="0">
              <a:buNone/>
            </a:pPr>
            <a:r>
              <a:rPr lang="en-US" sz="1900" b="1" dirty="0">
                <a:solidFill>
                  <a:srgbClr val="FFFFFF"/>
                </a:solidFill>
                <a:latin typeface="Malgun Gothic" pitchFamily="34" charset="0"/>
                <a:ea typeface="Malgun Gothic" pitchFamily="34" charset="-122"/>
                <a:cs typeface="Malgun Gothic" pitchFamily="34" charset="-120"/>
              </a:rPr>
              <a:t>亥</a:t>
            </a:r>
            <a:endParaRPr lang="en-US" sz="1900" dirty="0"/>
          </a:p>
        </p:txBody>
      </p:sp>
      <p:sp>
        <p:nvSpPr>
          <p:cNvPr id="25" name="Text 23"/>
          <p:cNvSpPr txBox="1"/>
          <p:nvPr/>
        </p:nvSpPr>
        <p:spPr>
          <a:xfrm>
            <a:off x="1554480" y="1618488"/>
            <a:ext cx="566928" cy="274320"/>
          </a:xfrm>
          <a:prstGeom prst="rect">
            <a:avLst/>
          </a:prstGeom>
          <a:noFill/>
          <a:ln/>
        </p:spPr>
        <p:txBody>
          <a:bodyPr wrap="square" lIns="0" tIns="0" rIns="0" bIns="0" rtlCol="0" anchor="ctr"/>
          <a:lstStyle/>
          <a:p>
            <a:pPr algn="ctr" indent="0" marL="0">
              <a:buNone/>
            </a:pPr>
            <a:r>
              <a:rPr lang="en-US" sz="1100" dirty="0">
                <a:solidFill>
                  <a:srgbClr val="6B6778"/>
                </a:solidFill>
                <a:latin typeface="Malgun Gothic" pitchFamily="34" charset="0"/>
                <a:ea typeface="Malgun Gothic" pitchFamily="34" charset="-122"/>
                <a:cs typeface="Malgun Gothic" pitchFamily="34" charset="-120"/>
              </a:rPr>
              <a:t>천간</a:t>
            </a:r>
            <a:endParaRPr lang="en-US" sz="1100" dirty="0"/>
          </a:p>
        </p:txBody>
      </p:sp>
      <p:sp>
        <p:nvSpPr>
          <p:cNvPr id="26" name="Text 24"/>
          <p:cNvSpPr txBox="1"/>
          <p:nvPr/>
        </p:nvSpPr>
        <p:spPr>
          <a:xfrm>
            <a:off x="2212848" y="1618488"/>
            <a:ext cx="566928" cy="274320"/>
          </a:xfrm>
          <a:prstGeom prst="rect">
            <a:avLst/>
          </a:prstGeom>
          <a:noFill/>
          <a:ln/>
        </p:spPr>
        <p:txBody>
          <a:bodyPr wrap="square" lIns="0" tIns="0" rIns="0" bIns="0" rtlCol="0" anchor="ctr"/>
          <a:lstStyle/>
          <a:p>
            <a:pPr algn="ctr" indent="0" marL="0">
              <a:buNone/>
            </a:pPr>
            <a:r>
              <a:rPr lang="en-US" sz="1100" dirty="0">
                <a:solidFill>
                  <a:srgbClr val="6B6778"/>
                </a:solidFill>
                <a:latin typeface="Malgun Gothic" pitchFamily="34" charset="0"/>
                <a:ea typeface="Malgun Gothic" pitchFamily="34" charset="-122"/>
                <a:cs typeface="Malgun Gothic" pitchFamily="34" charset="-120"/>
              </a:rPr>
              <a:t>지지</a:t>
            </a:r>
            <a:endParaRPr lang="en-US" sz="1100" dirty="0"/>
          </a:p>
        </p:txBody>
      </p:sp>
      <p:sp>
        <p:nvSpPr>
          <p:cNvPr id="27" name="Text 25"/>
          <p:cNvSpPr txBox="1"/>
          <p:nvPr/>
        </p:nvSpPr>
        <p:spPr>
          <a:xfrm>
            <a:off x="3657600" y="1600200"/>
            <a:ext cx="7985455" cy="1188720"/>
          </a:xfrm>
          <a:prstGeom prst="rect">
            <a:avLst/>
          </a:prstGeom>
          <a:noFill/>
          <a:ln/>
        </p:spPr>
        <p:txBody>
          <a:bodyPr wrap="square" lIns="0" tIns="0" rIns="0" bIns="0" rtlCol="0" anchor="ctr"/>
          <a:lstStyle/>
          <a:p>
            <a:pPr indent="0" marL="0">
              <a:spcAft>
                <a:spcPts val="600"/>
              </a:spcAft>
              <a:buNone/>
            </a:pPr>
            <a:r>
              <a:rPr lang="en-US" sz="1500" b="1" dirty="0">
                <a:solidFill>
                  <a:srgbClr val="B23A2E"/>
                </a:solidFill>
                <a:latin typeface="Malgun Gothic" pitchFamily="34" charset="0"/>
                <a:ea typeface="Malgun Gothic" pitchFamily="34" charset="-122"/>
                <a:cs typeface="Malgun Gothic" pitchFamily="34" charset="-120"/>
              </a:rPr>
              <a:t>분석  </a:t>
            </a:r>
            <a:pPr indent="0" marL="0">
              <a:spcAft>
                <a:spcPts val="600"/>
              </a:spcAft>
              <a:buNone/>
            </a:pPr>
            <a:r>
              <a:rPr lang="en-US" sz="1500" dirty="0">
                <a:solidFill>
                  <a:srgbClr val="22212A"/>
                </a:solidFill>
                <a:latin typeface="Malgun Gothic" pitchFamily="34" charset="0"/>
                <a:ea typeface="Malgun Gothic" pitchFamily="34" charset="-122"/>
                <a:cs typeface="Malgun Gothic" pitchFamily="34" charset="-120"/>
              </a:rPr>
              <a:t>丑월 壬水 — 한랭하고 亥水가 午火를 어둡게 함. 壬水가 丑에 뿌리를 두고 辛亥의 도움으로 강함</a:t>
            </a:r>
            <a:endParaRPr lang="en-US" sz="1500" dirty="0"/>
          </a:p>
          <a:p>
            <a:pPr indent="0" marL="0">
              <a:spcAft>
                <a:spcPts val="600"/>
              </a:spcAft>
              <a:buNone/>
            </a:pPr>
            <a:r>
              <a:rPr lang="en-US" sz="1500" b="1" dirty="0">
                <a:solidFill>
                  <a:srgbClr val="B23A2E"/>
                </a:solidFill>
                <a:latin typeface="Malgun Gothic" pitchFamily="34" charset="0"/>
                <a:ea typeface="Malgun Gothic" pitchFamily="34" charset="-122"/>
                <a:cs typeface="Malgun Gothic" pitchFamily="34" charset="-120"/>
              </a:rPr>
              <a:t>필요  </a:t>
            </a:r>
            <a:pPr indent="0" marL="0">
              <a:spcAft>
                <a:spcPts val="600"/>
              </a:spcAft>
              <a:buNone/>
            </a:pPr>
            <a:r>
              <a:rPr lang="en-US" sz="1500" dirty="0">
                <a:solidFill>
                  <a:srgbClr val="22212A"/>
                </a:solidFill>
                <a:latin typeface="Malgun Gothic" pitchFamily="34" charset="0"/>
                <a:ea typeface="Malgun Gothic" pitchFamily="34" charset="-122"/>
                <a:cs typeface="Malgun Gothic" pitchFamily="34" charset="-120"/>
              </a:rPr>
              <a:t>추위를 이길 木·火 + 습기를 걷을 未·戌 土 (金·水는 대단히 흉)</a:t>
            </a:r>
            <a:endParaRPr lang="en-US" sz="1500" dirty="0"/>
          </a:p>
        </p:txBody>
      </p:sp>
      <p:sp>
        <p:nvSpPr>
          <p:cNvPr id="28" name="Shape 26"/>
          <p:cNvSpPr/>
          <p:nvPr/>
        </p:nvSpPr>
        <p:spPr>
          <a:xfrm>
            <a:off x="3712464" y="3108960"/>
            <a:ext cx="1031051" cy="2514600"/>
          </a:xfrm>
          <a:prstGeom prst="roundRect">
            <a:avLst>
              <a:gd name="adj" fmla="val 7095"/>
            </a:avLst>
          </a:prstGeom>
          <a:solidFill>
            <a:srgbClr val="F3F1F6"/>
          </a:solidFill>
          <a:ln w="12700">
            <a:solidFill>
              <a:srgbClr val="F3F1F6"/>
            </a:solidFill>
            <a:prstDash val="solid"/>
          </a:ln>
        </p:spPr>
      </p:sp>
      <p:sp>
        <p:nvSpPr>
          <p:cNvPr id="29" name="Text 27"/>
          <p:cNvSpPr txBox="1"/>
          <p:nvPr/>
        </p:nvSpPr>
        <p:spPr>
          <a:xfrm>
            <a:off x="3657600" y="3218688"/>
            <a:ext cx="1140779" cy="457200"/>
          </a:xfrm>
          <a:prstGeom prst="rect">
            <a:avLst/>
          </a:prstGeom>
          <a:noFill/>
          <a:ln/>
        </p:spPr>
        <p:txBody>
          <a:bodyPr wrap="square" lIns="0" tIns="0" rIns="0" bIns="0" rtlCol="0" anchor="ctr"/>
          <a:lstStyle/>
          <a:p>
            <a:pPr algn="ctr" indent="0" marL="0">
              <a:buNone/>
            </a:pPr>
            <a:r>
              <a:rPr lang="en-US" sz="2000" b="1" dirty="0">
                <a:solidFill>
                  <a:srgbClr val="22212A"/>
                </a:solidFill>
                <a:latin typeface="Malgun Gothic" pitchFamily="34" charset="0"/>
                <a:ea typeface="Malgun Gothic" pitchFamily="34" charset="-122"/>
                <a:cs typeface="Malgun Gothic" pitchFamily="34" charset="-120"/>
              </a:rPr>
              <a:t>庚寅</a:t>
            </a:r>
            <a:endParaRPr lang="en-US" sz="2000" dirty="0"/>
          </a:p>
        </p:txBody>
      </p:sp>
      <p:sp>
        <p:nvSpPr>
          <p:cNvPr id="30" name="Text 28"/>
          <p:cNvSpPr txBox="1"/>
          <p:nvPr/>
        </p:nvSpPr>
        <p:spPr>
          <a:xfrm>
            <a:off x="3816510" y="3749040"/>
            <a:ext cx="822960" cy="310896"/>
          </a:xfrm>
          <a:prstGeom prst="rect">
            <a:avLst/>
          </a:prstGeom>
          <a:solidFill>
            <a:srgbClr val="8E8A99"/>
          </a:solid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보통</a:t>
            </a:r>
            <a:endParaRPr lang="en-US" sz="1200" dirty="0"/>
          </a:p>
        </p:txBody>
      </p:sp>
      <p:sp>
        <p:nvSpPr>
          <p:cNvPr id="31" name="Text 29"/>
          <p:cNvSpPr txBox="1"/>
          <p:nvPr/>
        </p:nvSpPr>
        <p:spPr>
          <a:xfrm>
            <a:off x="3767328" y="4160520"/>
            <a:ext cx="921323" cy="1371600"/>
          </a:xfrm>
          <a:prstGeom prst="rect">
            <a:avLst/>
          </a:prstGeom>
          <a:noFill/>
          <a:ln/>
        </p:spPr>
        <p:txBody>
          <a:bodyPr wrap="square" lIns="0" tIns="0" rIns="0" bIns="0" rtlCol="0" anchor="t"/>
          <a:lstStyle/>
          <a:p>
            <a:pPr algn="ctr" indent="0" marL="0">
              <a:buNone/>
            </a:pPr>
            <a:r>
              <a:rPr lang="en-US" sz="1300" dirty="0">
                <a:solidFill>
                  <a:srgbClr val="22212A"/>
                </a:solidFill>
                <a:latin typeface="Malgun Gothic" pitchFamily="34" charset="0"/>
                <a:ea typeface="Malgun Gothic" pitchFamily="34" charset="-122"/>
                <a:cs typeface="Malgun Gothic" pitchFamily="34" charset="-120"/>
              </a:rPr>
              <a:t>寅午 合火로</a:t>
            </a:r>
            <a:endParaRPr lang="en-US" sz="1300" dirty="0"/>
          </a:p>
          <a:p>
            <a:pPr algn="ctr" indent="0" marL="0">
              <a:buNone/>
            </a:pPr>
            <a:r>
              <a:rPr lang="en-US" sz="1300" dirty="0">
                <a:solidFill>
                  <a:srgbClr val="22212A"/>
                </a:solidFill>
                <a:latin typeface="Malgun Gothic" pitchFamily="34" charset="0"/>
                <a:ea typeface="Malgun Gothic" pitchFamily="34" charset="-122"/>
                <a:cs typeface="Malgun Gothic" pitchFamily="34" charset="-120"/>
              </a:rPr>
              <a:t>조후</a:t>
            </a:r>
            <a:endParaRPr lang="en-US" sz="1300" dirty="0"/>
          </a:p>
          <a:p>
            <a:pPr algn="ctr" indent="0" marL="0">
              <a:buNone/>
            </a:pPr>
            <a:r>
              <a:rPr lang="en-US" sz="1300" dirty="0">
                <a:solidFill>
                  <a:srgbClr val="22212A"/>
                </a:solidFill>
                <a:latin typeface="Malgun Gothic" pitchFamily="34" charset="0"/>
                <a:ea typeface="Malgun Gothic" pitchFamily="34" charset="-122"/>
                <a:cs typeface="Malgun Gothic" pitchFamily="34" charset="-120"/>
              </a:rPr>
              <a:t>평범한 생활</a:t>
            </a:r>
            <a:endParaRPr lang="en-US" sz="1300" dirty="0"/>
          </a:p>
        </p:txBody>
      </p:sp>
      <p:sp>
        <p:nvSpPr>
          <p:cNvPr id="32" name="Shape 30"/>
          <p:cNvSpPr/>
          <p:nvPr/>
        </p:nvSpPr>
        <p:spPr>
          <a:xfrm>
            <a:off x="4853243" y="3108960"/>
            <a:ext cx="1031051" cy="2514600"/>
          </a:xfrm>
          <a:prstGeom prst="roundRect">
            <a:avLst>
              <a:gd name="adj" fmla="val 7095"/>
            </a:avLst>
          </a:prstGeom>
          <a:solidFill>
            <a:srgbClr val="F3F1F6"/>
          </a:solidFill>
          <a:ln w="12700">
            <a:solidFill>
              <a:srgbClr val="F3F1F6"/>
            </a:solidFill>
            <a:prstDash val="solid"/>
          </a:ln>
        </p:spPr>
      </p:sp>
      <p:sp>
        <p:nvSpPr>
          <p:cNvPr id="33" name="Text 31"/>
          <p:cNvSpPr txBox="1"/>
          <p:nvPr/>
        </p:nvSpPr>
        <p:spPr>
          <a:xfrm>
            <a:off x="4798379" y="3218688"/>
            <a:ext cx="1140779" cy="457200"/>
          </a:xfrm>
          <a:prstGeom prst="rect">
            <a:avLst/>
          </a:prstGeom>
          <a:noFill/>
          <a:ln/>
        </p:spPr>
        <p:txBody>
          <a:bodyPr wrap="square" lIns="0" tIns="0" rIns="0" bIns="0" rtlCol="0" anchor="ctr"/>
          <a:lstStyle/>
          <a:p>
            <a:pPr algn="ctr" indent="0" marL="0">
              <a:buNone/>
            </a:pPr>
            <a:r>
              <a:rPr lang="en-US" sz="2000" b="1" dirty="0">
                <a:solidFill>
                  <a:srgbClr val="22212A"/>
                </a:solidFill>
                <a:latin typeface="Malgun Gothic" pitchFamily="34" charset="0"/>
                <a:ea typeface="Malgun Gothic" pitchFamily="34" charset="-122"/>
                <a:cs typeface="Malgun Gothic" pitchFamily="34" charset="-120"/>
              </a:rPr>
              <a:t>辛卯</a:t>
            </a:r>
            <a:endParaRPr lang="en-US" sz="2000" dirty="0"/>
          </a:p>
        </p:txBody>
      </p:sp>
      <p:sp>
        <p:nvSpPr>
          <p:cNvPr id="34" name="Text 32"/>
          <p:cNvSpPr txBox="1"/>
          <p:nvPr/>
        </p:nvSpPr>
        <p:spPr>
          <a:xfrm>
            <a:off x="4957289" y="3749040"/>
            <a:ext cx="822960" cy="310896"/>
          </a:xfrm>
          <a:prstGeom prst="rect">
            <a:avLst/>
          </a:prstGeom>
          <a:solidFill>
            <a:srgbClr val="8E8A99"/>
          </a:solid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보통</a:t>
            </a:r>
            <a:endParaRPr lang="en-US" sz="1200" dirty="0"/>
          </a:p>
        </p:txBody>
      </p:sp>
      <p:sp>
        <p:nvSpPr>
          <p:cNvPr id="35" name="Text 33"/>
          <p:cNvSpPr txBox="1"/>
          <p:nvPr/>
        </p:nvSpPr>
        <p:spPr>
          <a:xfrm>
            <a:off x="4908107" y="4160520"/>
            <a:ext cx="921323" cy="1371600"/>
          </a:xfrm>
          <a:prstGeom prst="rect">
            <a:avLst/>
          </a:prstGeom>
          <a:noFill/>
          <a:ln/>
        </p:spPr>
        <p:txBody>
          <a:bodyPr wrap="square" lIns="0" tIns="0" rIns="0" bIns="0" rtlCol="0" anchor="t"/>
          <a:lstStyle/>
          <a:p>
            <a:pPr algn="ctr" indent="0" marL="0">
              <a:buNone/>
            </a:pPr>
            <a:r>
              <a:rPr lang="en-US" sz="1300" dirty="0">
                <a:solidFill>
                  <a:srgbClr val="22212A"/>
                </a:solidFill>
                <a:latin typeface="Malgun Gothic" pitchFamily="34" charset="0"/>
                <a:ea typeface="Malgun Gothic" pitchFamily="34" charset="-122"/>
                <a:cs typeface="Malgun Gothic" pitchFamily="34" charset="-120"/>
              </a:rPr>
              <a:t>午火가 통관</a:t>
            </a:r>
            <a:endParaRPr lang="en-US" sz="1300" dirty="0"/>
          </a:p>
          <a:p>
            <a:pPr algn="ctr" indent="0" marL="0">
              <a:buNone/>
            </a:pPr>
            <a:r>
              <a:rPr lang="en-US" sz="1300" dirty="0">
                <a:solidFill>
                  <a:srgbClr val="22212A"/>
                </a:solidFill>
                <a:latin typeface="Malgun Gothic" pitchFamily="34" charset="0"/>
                <a:ea typeface="Malgun Gothic" pitchFamily="34" charset="-122"/>
                <a:cs typeface="Malgun Gothic" pitchFamily="34" charset="-120"/>
              </a:rPr>
              <a:t>큰 문제 없음</a:t>
            </a:r>
            <a:endParaRPr lang="en-US" sz="1300" dirty="0"/>
          </a:p>
        </p:txBody>
      </p:sp>
      <p:sp>
        <p:nvSpPr>
          <p:cNvPr id="36" name="Shape 34"/>
          <p:cNvSpPr/>
          <p:nvPr/>
        </p:nvSpPr>
        <p:spPr>
          <a:xfrm>
            <a:off x="5994023" y="3108960"/>
            <a:ext cx="1031051" cy="2514600"/>
          </a:xfrm>
          <a:prstGeom prst="roundRect">
            <a:avLst>
              <a:gd name="adj" fmla="val 7095"/>
            </a:avLst>
          </a:prstGeom>
          <a:solidFill>
            <a:srgbClr val="F3F1F6"/>
          </a:solidFill>
          <a:ln w="12700">
            <a:solidFill>
              <a:srgbClr val="F3F1F6"/>
            </a:solidFill>
            <a:prstDash val="solid"/>
          </a:ln>
        </p:spPr>
      </p:sp>
      <p:sp>
        <p:nvSpPr>
          <p:cNvPr id="37" name="Text 35"/>
          <p:cNvSpPr txBox="1"/>
          <p:nvPr/>
        </p:nvSpPr>
        <p:spPr>
          <a:xfrm>
            <a:off x="5939159" y="3218688"/>
            <a:ext cx="1140779" cy="457200"/>
          </a:xfrm>
          <a:prstGeom prst="rect">
            <a:avLst/>
          </a:prstGeom>
          <a:noFill/>
          <a:ln/>
        </p:spPr>
        <p:txBody>
          <a:bodyPr wrap="square" lIns="0" tIns="0" rIns="0" bIns="0" rtlCol="0" anchor="ctr"/>
          <a:lstStyle/>
          <a:p>
            <a:pPr algn="ctr" indent="0" marL="0">
              <a:buNone/>
            </a:pPr>
            <a:r>
              <a:rPr lang="en-US" sz="2000" b="1" dirty="0">
                <a:solidFill>
                  <a:srgbClr val="22212A"/>
                </a:solidFill>
                <a:latin typeface="Malgun Gothic" pitchFamily="34" charset="0"/>
                <a:ea typeface="Malgun Gothic" pitchFamily="34" charset="-122"/>
                <a:cs typeface="Malgun Gothic" pitchFamily="34" charset="-120"/>
              </a:rPr>
              <a:t>壬辰</a:t>
            </a:r>
            <a:endParaRPr lang="en-US" sz="2000" dirty="0"/>
          </a:p>
        </p:txBody>
      </p:sp>
      <p:sp>
        <p:nvSpPr>
          <p:cNvPr id="38" name="Text 36"/>
          <p:cNvSpPr txBox="1"/>
          <p:nvPr/>
        </p:nvSpPr>
        <p:spPr>
          <a:xfrm>
            <a:off x="6098068" y="3749040"/>
            <a:ext cx="822960" cy="310896"/>
          </a:xfrm>
          <a:prstGeom prst="rect">
            <a:avLst/>
          </a:prstGeom>
          <a:solidFill>
            <a:srgbClr val="B23A2E"/>
          </a:solid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나쁨</a:t>
            </a:r>
            <a:endParaRPr lang="en-US" sz="1200" dirty="0"/>
          </a:p>
        </p:txBody>
      </p:sp>
      <p:sp>
        <p:nvSpPr>
          <p:cNvPr id="39" name="Text 37"/>
          <p:cNvSpPr txBox="1"/>
          <p:nvPr/>
        </p:nvSpPr>
        <p:spPr>
          <a:xfrm>
            <a:off x="6048887" y="4160520"/>
            <a:ext cx="921323" cy="1371600"/>
          </a:xfrm>
          <a:prstGeom prst="rect">
            <a:avLst/>
          </a:prstGeom>
          <a:noFill/>
          <a:ln/>
        </p:spPr>
        <p:txBody>
          <a:bodyPr wrap="square" lIns="0" tIns="0" rIns="0" bIns="0" rtlCol="0" anchor="t"/>
          <a:lstStyle/>
          <a:p>
            <a:pPr algn="ctr" indent="0" marL="0">
              <a:buNone/>
            </a:pPr>
            <a:r>
              <a:rPr lang="en-US" sz="1300" dirty="0">
                <a:solidFill>
                  <a:srgbClr val="22212A"/>
                </a:solidFill>
                <a:latin typeface="Malgun Gothic" pitchFamily="34" charset="0"/>
                <a:ea typeface="Malgun Gothic" pitchFamily="34" charset="-122"/>
                <a:cs typeface="Malgun Gothic" pitchFamily="34" charset="-120"/>
              </a:rPr>
              <a:t>水 범람</a:t>
            </a:r>
            <a:endParaRPr lang="en-US" sz="1300" dirty="0"/>
          </a:p>
          <a:p>
            <a:pPr algn="ctr" indent="0" marL="0">
              <a:buNone/>
            </a:pPr>
            <a:r>
              <a:rPr lang="en-US" sz="1300" dirty="0">
                <a:solidFill>
                  <a:srgbClr val="22212A"/>
                </a:solidFill>
                <a:latin typeface="Malgun Gothic" pitchFamily="34" charset="0"/>
                <a:ea typeface="Malgun Gothic" pitchFamily="34" charset="-122"/>
                <a:cs typeface="Malgun Gothic" pitchFamily="34" charset="-120"/>
              </a:rPr>
              <a:t>가난</a:t>
            </a:r>
            <a:endParaRPr lang="en-US" sz="1300" dirty="0"/>
          </a:p>
          <a:p>
            <a:pPr algn="ctr" indent="0" marL="0">
              <a:buNone/>
            </a:pPr>
            <a:r>
              <a:rPr lang="en-US" sz="1300" dirty="0">
                <a:solidFill>
                  <a:srgbClr val="22212A"/>
                </a:solidFill>
                <a:latin typeface="Malgun Gothic" pitchFamily="34" charset="0"/>
                <a:ea typeface="Malgun Gothic" pitchFamily="34" charset="-122"/>
                <a:cs typeface="Malgun Gothic" pitchFamily="34" charset="-120"/>
              </a:rPr>
              <a:t>심장 허약 질병</a:t>
            </a:r>
            <a:endParaRPr lang="en-US" sz="1300" dirty="0"/>
          </a:p>
        </p:txBody>
      </p:sp>
      <p:sp>
        <p:nvSpPr>
          <p:cNvPr id="40" name="Shape 38"/>
          <p:cNvSpPr/>
          <p:nvPr/>
        </p:nvSpPr>
        <p:spPr>
          <a:xfrm>
            <a:off x="7134802" y="3108960"/>
            <a:ext cx="1031051" cy="2514600"/>
          </a:xfrm>
          <a:prstGeom prst="roundRect">
            <a:avLst>
              <a:gd name="adj" fmla="val 7095"/>
            </a:avLst>
          </a:prstGeom>
          <a:solidFill>
            <a:srgbClr val="F3F1F6"/>
          </a:solidFill>
          <a:ln w="12700">
            <a:solidFill>
              <a:srgbClr val="F3F1F6"/>
            </a:solidFill>
            <a:prstDash val="solid"/>
          </a:ln>
        </p:spPr>
      </p:sp>
      <p:sp>
        <p:nvSpPr>
          <p:cNvPr id="41" name="Text 39"/>
          <p:cNvSpPr txBox="1"/>
          <p:nvPr/>
        </p:nvSpPr>
        <p:spPr>
          <a:xfrm>
            <a:off x="7079938" y="3218688"/>
            <a:ext cx="1140779" cy="457200"/>
          </a:xfrm>
          <a:prstGeom prst="rect">
            <a:avLst/>
          </a:prstGeom>
          <a:noFill/>
          <a:ln/>
        </p:spPr>
        <p:txBody>
          <a:bodyPr wrap="square" lIns="0" tIns="0" rIns="0" bIns="0" rtlCol="0" anchor="ctr"/>
          <a:lstStyle/>
          <a:p>
            <a:pPr algn="ctr" indent="0" marL="0">
              <a:buNone/>
            </a:pPr>
            <a:r>
              <a:rPr lang="en-US" sz="2000" b="1" dirty="0">
                <a:solidFill>
                  <a:srgbClr val="22212A"/>
                </a:solidFill>
                <a:latin typeface="Malgun Gothic" pitchFamily="34" charset="0"/>
                <a:ea typeface="Malgun Gothic" pitchFamily="34" charset="-122"/>
                <a:cs typeface="Malgun Gothic" pitchFamily="34" charset="-120"/>
              </a:rPr>
              <a:t>癸巳</a:t>
            </a:r>
            <a:endParaRPr lang="en-US" sz="2000" dirty="0"/>
          </a:p>
        </p:txBody>
      </p:sp>
      <p:sp>
        <p:nvSpPr>
          <p:cNvPr id="42" name="Text 40"/>
          <p:cNvSpPr txBox="1"/>
          <p:nvPr/>
        </p:nvSpPr>
        <p:spPr>
          <a:xfrm>
            <a:off x="7238848" y="3749040"/>
            <a:ext cx="822960" cy="310896"/>
          </a:xfrm>
          <a:prstGeom prst="rect">
            <a:avLst/>
          </a:prstGeom>
          <a:solidFill>
            <a:srgbClr val="3F7D4E"/>
          </a:solid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좋음</a:t>
            </a:r>
            <a:endParaRPr lang="en-US" sz="1200" dirty="0"/>
          </a:p>
        </p:txBody>
      </p:sp>
      <p:sp>
        <p:nvSpPr>
          <p:cNvPr id="43" name="Text 41"/>
          <p:cNvSpPr txBox="1"/>
          <p:nvPr/>
        </p:nvSpPr>
        <p:spPr>
          <a:xfrm>
            <a:off x="7189666" y="4160520"/>
            <a:ext cx="921323" cy="1371600"/>
          </a:xfrm>
          <a:prstGeom prst="rect">
            <a:avLst/>
          </a:prstGeom>
          <a:noFill/>
          <a:ln/>
        </p:spPr>
        <p:txBody>
          <a:bodyPr wrap="square" lIns="0" tIns="0" rIns="0" bIns="0" rtlCol="0" anchor="t"/>
          <a:lstStyle/>
          <a:p>
            <a:pPr algn="ctr" indent="0" marL="0">
              <a:buNone/>
            </a:pPr>
            <a:r>
              <a:rPr lang="en-US" sz="1300" dirty="0">
                <a:solidFill>
                  <a:srgbClr val="22212A"/>
                </a:solidFill>
                <a:latin typeface="Malgun Gothic" pitchFamily="34" charset="0"/>
                <a:ea typeface="Malgun Gothic" pitchFamily="34" charset="-122"/>
                <a:cs typeface="Malgun Gothic" pitchFamily="34" charset="-120"/>
              </a:rPr>
              <a:t>넉넉하고</a:t>
            </a:r>
            <a:endParaRPr lang="en-US" sz="1300" dirty="0"/>
          </a:p>
          <a:p>
            <a:pPr algn="ctr" indent="0" marL="0">
              <a:buNone/>
            </a:pPr>
            <a:r>
              <a:rPr lang="en-US" sz="1300" dirty="0">
                <a:solidFill>
                  <a:srgbClr val="22212A"/>
                </a:solidFill>
                <a:latin typeface="Malgun Gothic" pitchFamily="34" charset="0"/>
                <a:ea typeface="Malgun Gothic" pitchFamily="34" charset="-122"/>
                <a:cs typeface="Malgun Gothic" pitchFamily="34" charset="-120"/>
              </a:rPr>
              <a:t>건강</a:t>
            </a:r>
            <a:endParaRPr lang="en-US" sz="1300" dirty="0"/>
          </a:p>
        </p:txBody>
      </p:sp>
      <p:sp>
        <p:nvSpPr>
          <p:cNvPr id="44" name="Shape 42"/>
          <p:cNvSpPr/>
          <p:nvPr/>
        </p:nvSpPr>
        <p:spPr>
          <a:xfrm>
            <a:off x="8275581" y="3108960"/>
            <a:ext cx="1031051" cy="2514600"/>
          </a:xfrm>
          <a:prstGeom prst="roundRect">
            <a:avLst>
              <a:gd name="adj" fmla="val 7095"/>
            </a:avLst>
          </a:prstGeom>
          <a:solidFill>
            <a:srgbClr val="F3F1F6"/>
          </a:solidFill>
          <a:ln w="12700">
            <a:solidFill>
              <a:srgbClr val="F3F1F6"/>
            </a:solidFill>
            <a:prstDash val="solid"/>
          </a:ln>
        </p:spPr>
      </p:sp>
      <p:sp>
        <p:nvSpPr>
          <p:cNvPr id="45" name="Text 43"/>
          <p:cNvSpPr txBox="1"/>
          <p:nvPr/>
        </p:nvSpPr>
        <p:spPr>
          <a:xfrm>
            <a:off x="8220717" y="3218688"/>
            <a:ext cx="1140779" cy="457200"/>
          </a:xfrm>
          <a:prstGeom prst="rect">
            <a:avLst/>
          </a:prstGeom>
          <a:noFill/>
          <a:ln/>
        </p:spPr>
        <p:txBody>
          <a:bodyPr wrap="square" lIns="0" tIns="0" rIns="0" bIns="0" rtlCol="0" anchor="ctr"/>
          <a:lstStyle/>
          <a:p>
            <a:pPr algn="ctr" indent="0" marL="0">
              <a:buNone/>
            </a:pPr>
            <a:r>
              <a:rPr lang="en-US" sz="2000" b="1" dirty="0">
                <a:solidFill>
                  <a:srgbClr val="22212A"/>
                </a:solidFill>
                <a:latin typeface="Malgun Gothic" pitchFamily="34" charset="0"/>
                <a:ea typeface="Malgun Gothic" pitchFamily="34" charset="-122"/>
                <a:cs typeface="Malgun Gothic" pitchFamily="34" charset="-120"/>
              </a:rPr>
              <a:t>甲午</a:t>
            </a:r>
            <a:endParaRPr lang="en-US" sz="2000" dirty="0"/>
          </a:p>
        </p:txBody>
      </p:sp>
      <p:sp>
        <p:nvSpPr>
          <p:cNvPr id="46" name="Text 44"/>
          <p:cNvSpPr txBox="1"/>
          <p:nvPr/>
        </p:nvSpPr>
        <p:spPr>
          <a:xfrm>
            <a:off x="8379627" y="3749040"/>
            <a:ext cx="822960" cy="310896"/>
          </a:xfrm>
          <a:prstGeom prst="rect">
            <a:avLst/>
          </a:prstGeom>
          <a:solidFill>
            <a:srgbClr val="3F7D4E"/>
          </a:solid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좋음</a:t>
            </a:r>
            <a:endParaRPr lang="en-US" sz="1200" dirty="0"/>
          </a:p>
        </p:txBody>
      </p:sp>
      <p:sp>
        <p:nvSpPr>
          <p:cNvPr id="47" name="Text 45"/>
          <p:cNvSpPr txBox="1"/>
          <p:nvPr/>
        </p:nvSpPr>
        <p:spPr>
          <a:xfrm>
            <a:off x="8330445" y="4160520"/>
            <a:ext cx="921323" cy="1371600"/>
          </a:xfrm>
          <a:prstGeom prst="rect">
            <a:avLst/>
          </a:prstGeom>
          <a:noFill/>
          <a:ln/>
        </p:spPr>
        <p:txBody>
          <a:bodyPr wrap="square" lIns="0" tIns="0" rIns="0" bIns="0" rtlCol="0" anchor="t"/>
          <a:lstStyle/>
          <a:p>
            <a:pPr algn="ctr" indent="0" marL="0">
              <a:buNone/>
            </a:pPr>
            <a:r>
              <a:rPr lang="en-US" sz="1300" dirty="0">
                <a:solidFill>
                  <a:srgbClr val="22212A"/>
                </a:solidFill>
                <a:latin typeface="Malgun Gothic" pitchFamily="34" charset="0"/>
                <a:ea typeface="Malgun Gothic" pitchFamily="34" charset="-122"/>
                <a:cs typeface="Malgun Gothic" pitchFamily="34" charset="-120"/>
              </a:rPr>
              <a:t>넉넉하고</a:t>
            </a:r>
            <a:endParaRPr lang="en-US" sz="1300" dirty="0"/>
          </a:p>
          <a:p>
            <a:pPr algn="ctr" indent="0" marL="0">
              <a:buNone/>
            </a:pPr>
            <a:r>
              <a:rPr lang="en-US" sz="1300" dirty="0">
                <a:solidFill>
                  <a:srgbClr val="22212A"/>
                </a:solidFill>
                <a:latin typeface="Malgun Gothic" pitchFamily="34" charset="0"/>
                <a:ea typeface="Malgun Gothic" pitchFamily="34" charset="-122"/>
                <a:cs typeface="Malgun Gothic" pitchFamily="34" charset="-120"/>
              </a:rPr>
              <a:t>건강</a:t>
            </a:r>
            <a:endParaRPr lang="en-US" sz="1300" dirty="0"/>
          </a:p>
        </p:txBody>
      </p:sp>
      <p:sp>
        <p:nvSpPr>
          <p:cNvPr id="48" name="Shape 46"/>
          <p:cNvSpPr/>
          <p:nvPr/>
        </p:nvSpPr>
        <p:spPr>
          <a:xfrm>
            <a:off x="9416361" y="3108960"/>
            <a:ext cx="1031051" cy="2514600"/>
          </a:xfrm>
          <a:prstGeom prst="roundRect">
            <a:avLst>
              <a:gd name="adj" fmla="val 7095"/>
            </a:avLst>
          </a:prstGeom>
          <a:solidFill>
            <a:srgbClr val="F3F1F6"/>
          </a:solidFill>
          <a:ln w="12700">
            <a:solidFill>
              <a:srgbClr val="F3F1F6"/>
            </a:solidFill>
            <a:prstDash val="solid"/>
          </a:ln>
        </p:spPr>
      </p:sp>
      <p:sp>
        <p:nvSpPr>
          <p:cNvPr id="49" name="Text 47"/>
          <p:cNvSpPr txBox="1"/>
          <p:nvPr/>
        </p:nvSpPr>
        <p:spPr>
          <a:xfrm>
            <a:off x="9361497" y="3218688"/>
            <a:ext cx="1140779" cy="457200"/>
          </a:xfrm>
          <a:prstGeom prst="rect">
            <a:avLst/>
          </a:prstGeom>
          <a:noFill/>
          <a:ln/>
        </p:spPr>
        <p:txBody>
          <a:bodyPr wrap="square" lIns="0" tIns="0" rIns="0" bIns="0" rtlCol="0" anchor="ctr"/>
          <a:lstStyle/>
          <a:p>
            <a:pPr algn="ctr" indent="0" marL="0">
              <a:buNone/>
            </a:pPr>
            <a:r>
              <a:rPr lang="en-US" sz="2000" b="1" dirty="0">
                <a:solidFill>
                  <a:srgbClr val="22212A"/>
                </a:solidFill>
                <a:latin typeface="Malgun Gothic" pitchFamily="34" charset="0"/>
                <a:ea typeface="Malgun Gothic" pitchFamily="34" charset="-122"/>
                <a:cs typeface="Malgun Gothic" pitchFamily="34" charset="-120"/>
              </a:rPr>
              <a:t>乙未</a:t>
            </a:r>
            <a:endParaRPr lang="en-US" sz="2000" dirty="0"/>
          </a:p>
        </p:txBody>
      </p:sp>
      <p:sp>
        <p:nvSpPr>
          <p:cNvPr id="50" name="Text 48"/>
          <p:cNvSpPr txBox="1"/>
          <p:nvPr/>
        </p:nvSpPr>
        <p:spPr>
          <a:xfrm>
            <a:off x="9520406" y="3749040"/>
            <a:ext cx="822960" cy="310896"/>
          </a:xfrm>
          <a:prstGeom prst="rect">
            <a:avLst/>
          </a:prstGeom>
          <a:solidFill>
            <a:srgbClr val="3F7D4E"/>
          </a:solid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좋음</a:t>
            </a:r>
            <a:endParaRPr lang="en-US" sz="1200" dirty="0"/>
          </a:p>
        </p:txBody>
      </p:sp>
      <p:sp>
        <p:nvSpPr>
          <p:cNvPr id="51" name="Text 49"/>
          <p:cNvSpPr txBox="1"/>
          <p:nvPr/>
        </p:nvSpPr>
        <p:spPr>
          <a:xfrm>
            <a:off x="9471225" y="4160520"/>
            <a:ext cx="921323" cy="1371600"/>
          </a:xfrm>
          <a:prstGeom prst="rect">
            <a:avLst/>
          </a:prstGeom>
          <a:noFill/>
          <a:ln/>
        </p:spPr>
        <p:txBody>
          <a:bodyPr wrap="square" lIns="0" tIns="0" rIns="0" bIns="0" rtlCol="0" anchor="t"/>
          <a:lstStyle/>
          <a:p>
            <a:pPr algn="ctr" indent="0" marL="0">
              <a:buNone/>
            </a:pPr>
            <a:r>
              <a:rPr lang="en-US" sz="1300" dirty="0">
                <a:solidFill>
                  <a:srgbClr val="22212A"/>
                </a:solidFill>
                <a:latin typeface="Malgun Gothic" pitchFamily="34" charset="0"/>
                <a:ea typeface="Malgun Gothic" pitchFamily="34" charset="-122"/>
                <a:cs typeface="Malgun Gothic" pitchFamily="34" charset="-120"/>
              </a:rPr>
              <a:t>넉넉하고</a:t>
            </a:r>
            <a:endParaRPr lang="en-US" sz="1300" dirty="0"/>
          </a:p>
          <a:p>
            <a:pPr algn="ctr" indent="0" marL="0">
              <a:buNone/>
            </a:pPr>
            <a:r>
              <a:rPr lang="en-US" sz="1300" dirty="0">
                <a:solidFill>
                  <a:srgbClr val="22212A"/>
                </a:solidFill>
                <a:latin typeface="Malgun Gothic" pitchFamily="34" charset="0"/>
                <a:ea typeface="Malgun Gothic" pitchFamily="34" charset="-122"/>
                <a:cs typeface="Malgun Gothic" pitchFamily="34" charset="-120"/>
              </a:rPr>
              <a:t>건강</a:t>
            </a:r>
            <a:endParaRPr lang="en-US" sz="1300" dirty="0"/>
          </a:p>
        </p:txBody>
      </p:sp>
      <p:sp>
        <p:nvSpPr>
          <p:cNvPr id="52" name="Shape 50"/>
          <p:cNvSpPr/>
          <p:nvPr/>
        </p:nvSpPr>
        <p:spPr>
          <a:xfrm>
            <a:off x="10557140" y="3108960"/>
            <a:ext cx="1031051" cy="2514600"/>
          </a:xfrm>
          <a:prstGeom prst="roundRect">
            <a:avLst>
              <a:gd name="adj" fmla="val 7095"/>
            </a:avLst>
          </a:prstGeom>
          <a:solidFill>
            <a:srgbClr val="F3F1F6"/>
          </a:solidFill>
          <a:ln w="12700">
            <a:solidFill>
              <a:srgbClr val="F3F1F6"/>
            </a:solidFill>
            <a:prstDash val="solid"/>
          </a:ln>
        </p:spPr>
      </p:sp>
      <p:sp>
        <p:nvSpPr>
          <p:cNvPr id="53" name="Text 51"/>
          <p:cNvSpPr txBox="1"/>
          <p:nvPr/>
        </p:nvSpPr>
        <p:spPr>
          <a:xfrm>
            <a:off x="10502276" y="3218688"/>
            <a:ext cx="1140779" cy="457200"/>
          </a:xfrm>
          <a:prstGeom prst="rect">
            <a:avLst/>
          </a:prstGeom>
          <a:noFill/>
          <a:ln/>
        </p:spPr>
        <p:txBody>
          <a:bodyPr wrap="square" lIns="0" tIns="0" rIns="0" bIns="0" rtlCol="0" anchor="ctr"/>
          <a:lstStyle/>
          <a:p>
            <a:pPr algn="ctr" indent="0" marL="0">
              <a:buNone/>
            </a:pPr>
            <a:r>
              <a:rPr lang="en-US" sz="2000" b="1" dirty="0">
                <a:solidFill>
                  <a:srgbClr val="22212A"/>
                </a:solidFill>
                <a:latin typeface="Malgun Gothic" pitchFamily="34" charset="0"/>
                <a:ea typeface="Malgun Gothic" pitchFamily="34" charset="-122"/>
                <a:cs typeface="Malgun Gothic" pitchFamily="34" charset="-120"/>
              </a:rPr>
              <a:t>丙申</a:t>
            </a:r>
            <a:endParaRPr lang="en-US" sz="2000" dirty="0"/>
          </a:p>
        </p:txBody>
      </p:sp>
      <p:sp>
        <p:nvSpPr>
          <p:cNvPr id="54" name="Text 52"/>
          <p:cNvSpPr txBox="1"/>
          <p:nvPr/>
        </p:nvSpPr>
        <p:spPr>
          <a:xfrm>
            <a:off x="10661186" y="3749040"/>
            <a:ext cx="822960" cy="310896"/>
          </a:xfrm>
          <a:prstGeom prst="rect">
            <a:avLst/>
          </a:prstGeom>
          <a:solidFill>
            <a:srgbClr val="8E8A99"/>
          </a:solid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보통</a:t>
            </a:r>
            <a:endParaRPr lang="en-US" sz="1200" dirty="0"/>
          </a:p>
        </p:txBody>
      </p:sp>
      <p:sp>
        <p:nvSpPr>
          <p:cNvPr id="55" name="Text 53"/>
          <p:cNvSpPr txBox="1"/>
          <p:nvPr/>
        </p:nvSpPr>
        <p:spPr>
          <a:xfrm>
            <a:off x="10612004" y="4160520"/>
            <a:ext cx="921323" cy="1371600"/>
          </a:xfrm>
          <a:prstGeom prst="rect">
            <a:avLst/>
          </a:prstGeom>
          <a:noFill/>
          <a:ln/>
        </p:spPr>
        <p:txBody>
          <a:bodyPr wrap="square" lIns="0" tIns="0" rIns="0" bIns="0" rtlCol="0" anchor="t"/>
          <a:lstStyle/>
          <a:p>
            <a:pPr algn="ctr" indent="0" marL="0">
              <a:buNone/>
            </a:pPr>
            <a:r>
              <a:rPr lang="en-US" sz="1300" dirty="0">
                <a:solidFill>
                  <a:srgbClr val="22212A"/>
                </a:solidFill>
                <a:latin typeface="Malgun Gothic" pitchFamily="34" charset="0"/>
                <a:ea typeface="Malgun Gothic" pitchFamily="34" charset="-122"/>
                <a:cs typeface="Malgun Gothic" pitchFamily="34" charset="-120"/>
              </a:rPr>
              <a:t>고생이</a:t>
            </a:r>
            <a:endParaRPr lang="en-US" sz="1300" dirty="0"/>
          </a:p>
          <a:p>
            <a:pPr algn="ctr" indent="0" marL="0">
              <a:buNone/>
            </a:pPr>
            <a:r>
              <a:rPr lang="en-US" sz="1300" dirty="0">
                <a:solidFill>
                  <a:srgbClr val="22212A"/>
                </a:solidFill>
                <a:latin typeface="Malgun Gothic" pitchFamily="34" charset="0"/>
                <a:ea typeface="Malgun Gothic" pitchFamily="34" charset="-122"/>
                <a:cs typeface="Malgun Gothic" pitchFamily="34" charset="-120"/>
              </a:rPr>
              <a:t>시작됨</a:t>
            </a:r>
            <a:endParaRPr lang="en-US" sz="1300" dirty="0"/>
          </a:p>
        </p:txBody>
      </p:sp>
      <p:sp>
        <p:nvSpPr>
          <p:cNvPr id="56" name="Text 54"/>
          <p:cNvSpPr txBox="1"/>
          <p:nvPr/>
        </p:nvSpPr>
        <p:spPr>
          <a:xfrm>
            <a:off x="3657600" y="2788920"/>
            <a:ext cx="2743200" cy="274320"/>
          </a:xfrm>
          <a:prstGeom prst="rect">
            <a:avLst/>
          </a:prstGeom>
          <a:noFill/>
          <a:ln/>
        </p:spPr>
        <p:txBody>
          <a:bodyPr wrap="square" lIns="0" tIns="0" rIns="0" bIns="0" rtlCol="0" anchor="ctr"/>
          <a:lstStyle/>
          <a:p>
            <a:pPr indent="0" marL="0">
              <a:buNone/>
            </a:pPr>
            <a:r>
              <a:rPr lang="en-US" sz="1200" dirty="0">
                <a:solidFill>
                  <a:srgbClr val="6B6778"/>
                </a:solidFill>
                <a:latin typeface="Malgun Gothic" pitchFamily="34" charset="0"/>
                <a:ea typeface="Malgun Gothic" pitchFamily="34" charset="-122"/>
                <a:cs typeface="Malgun Gothic" pitchFamily="34" charset="-120"/>
              </a:rPr>
              <a:t>대운 →</a:t>
            </a:r>
            <a:endParaRPr lang="en-US" sz="1200" dirty="0"/>
          </a:p>
        </p:txBody>
      </p:sp>
      <p:sp>
        <p:nvSpPr>
          <p:cNvPr id="57" name="Text 55"/>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B6778"/>
                </a:solidFill>
                <a:latin typeface="Malgun Gothic" pitchFamily="34" charset="0"/>
                <a:ea typeface="Malgun Gothic" pitchFamily="34" charset="-122"/>
                <a:cs typeface="Malgun Gothic" pitchFamily="34" charset="-120"/>
              </a:rPr>
              <a:t>의명보감 1 기초편 · 제5장 의명학 공식</a:t>
            </a:r>
            <a:endParaRPr lang="en-US" sz="1000" dirty="0"/>
          </a:p>
        </p:txBody>
      </p:sp>
      <p:sp>
        <p:nvSpPr>
          <p:cNvPr id="58" name="Text 56"/>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778"/>
                </a:solidFill>
                <a:latin typeface="Malgun Gothic" pitchFamily="34" charset="0"/>
                <a:ea typeface="Malgun Gothic" pitchFamily="34" charset="-122"/>
                <a:cs typeface="Malgun Gothic"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1094415" cy="320040"/>
          </a:xfrm>
          <a:prstGeom prst="rect">
            <a:avLst/>
          </a:prstGeom>
          <a:noFill/>
          <a:ln/>
        </p:spPr>
        <p:txBody>
          <a:bodyPr wrap="square" lIns="0" tIns="0" rIns="0" bIns="0" rtlCol="0" anchor="ctr"/>
          <a:lstStyle/>
          <a:p>
            <a:pPr indent="0" marL="0">
              <a:buNone/>
            </a:pPr>
            <a:r>
              <a:rPr lang="en-US" sz="1300" b="1" dirty="0">
                <a:solidFill>
                  <a:srgbClr val="B23A2E"/>
                </a:solidFill>
                <a:latin typeface="Malgun Gothic" pitchFamily="34" charset="0"/>
                <a:ea typeface="Malgun Gothic" pitchFamily="34" charset="-122"/>
                <a:cs typeface="Malgun Gothic" pitchFamily="34" charset="-120"/>
              </a:rPr>
              <a:t>정리</a:t>
            </a:r>
            <a:endParaRPr lang="en-US" sz="1300" dirty="0"/>
          </a:p>
        </p:txBody>
      </p:sp>
      <p:sp>
        <p:nvSpPr>
          <p:cNvPr id="3" name="Text 1"/>
          <p:cNvSpPr txBox="1"/>
          <p:nvPr/>
        </p:nvSpPr>
        <p:spPr>
          <a:xfrm>
            <a:off x="548640" y="658368"/>
            <a:ext cx="11094415" cy="685800"/>
          </a:xfrm>
          <a:prstGeom prst="rect">
            <a:avLst/>
          </a:prstGeom>
          <a:noFill/>
          <a:ln/>
        </p:spPr>
        <p:txBody>
          <a:bodyPr wrap="square" lIns="0" tIns="0" rIns="0" bIns="0" rtlCol="0" anchor="ctr"/>
          <a:lstStyle/>
          <a:p>
            <a:pPr indent="0" marL="0">
              <a:buNone/>
            </a:pPr>
            <a:r>
              <a:rPr lang="en-US" sz="3000" b="1" dirty="0">
                <a:solidFill>
                  <a:srgbClr val="22212A"/>
                </a:solidFill>
                <a:latin typeface="Malgun Gothic" pitchFamily="34" charset="0"/>
                <a:ea typeface="Malgun Gothic" pitchFamily="34" charset="-122"/>
                <a:cs typeface="Malgun Gothic" pitchFamily="34" charset="-120"/>
              </a:rPr>
              <a:t>핵심 정리</a:t>
            </a:r>
            <a:endParaRPr lang="en-US" sz="3000" dirty="0"/>
          </a:p>
        </p:txBody>
      </p:sp>
      <p:sp>
        <p:nvSpPr>
          <p:cNvPr id="4" name="Shape 2"/>
          <p:cNvSpPr/>
          <p:nvPr/>
        </p:nvSpPr>
        <p:spPr>
          <a:xfrm>
            <a:off x="548640" y="1746504"/>
            <a:ext cx="457200" cy="457200"/>
          </a:xfrm>
          <a:prstGeom prst="ellipse">
            <a:avLst/>
          </a:prstGeom>
          <a:solidFill>
            <a:srgbClr val="B23A2E"/>
          </a:solidFill>
          <a:ln w="12700">
            <a:solidFill>
              <a:srgbClr val="B23A2E"/>
            </a:solidFill>
            <a:prstDash val="solid"/>
          </a:ln>
        </p:spPr>
      </p:sp>
      <p:sp>
        <p:nvSpPr>
          <p:cNvPr id="5" name="Text 3"/>
          <p:cNvSpPr txBox="1"/>
          <p:nvPr/>
        </p:nvSpPr>
        <p:spPr>
          <a:xfrm>
            <a:off x="548640" y="174650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1</a:t>
            </a:r>
            <a:endParaRPr lang="en-US" sz="1400" dirty="0"/>
          </a:p>
        </p:txBody>
      </p:sp>
      <p:sp>
        <p:nvSpPr>
          <p:cNvPr id="6" name="Text 4"/>
          <p:cNvSpPr txBox="1"/>
          <p:nvPr/>
        </p:nvSpPr>
        <p:spPr>
          <a:xfrm>
            <a:off x="1234440" y="1600200"/>
            <a:ext cx="10408615" cy="704088"/>
          </a:xfrm>
          <a:prstGeom prst="rect">
            <a:avLst/>
          </a:prstGeom>
          <a:noFill/>
          <a:ln/>
        </p:spPr>
        <p:txBody>
          <a:bodyPr wrap="square" lIns="0" tIns="0" rIns="0" bIns="0" rtlCol="0" anchor="ctr"/>
          <a:lstStyle/>
          <a:p>
            <a:pPr indent="0" marL="0">
              <a:buNone/>
            </a:pPr>
            <a:r>
              <a:rPr lang="en-US" sz="1600" dirty="0">
                <a:solidFill>
                  <a:srgbClr val="22212A"/>
                </a:solidFill>
                <a:latin typeface="Malgun Gothic" pitchFamily="34" charset="0"/>
                <a:ea typeface="Malgun Gothic" pitchFamily="34" charset="-122"/>
                <a:cs typeface="Malgun Gothic" pitchFamily="34" charset="-120"/>
              </a:rPr>
              <a:t>의명학 공식 = 연·월·일·시의 천간 넷 + 지지 넷 (사주팔자와 동일). 일간이 "나"</a:t>
            </a:r>
            <a:endParaRPr lang="en-US" sz="1600" dirty="0"/>
          </a:p>
        </p:txBody>
      </p:sp>
      <p:sp>
        <p:nvSpPr>
          <p:cNvPr id="7" name="Shape 5"/>
          <p:cNvSpPr/>
          <p:nvPr/>
        </p:nvSpPr>
        <p:spPr>
          <a:xfrm>
            <a:off x="548640" y="2496312"/>
            <a:ext cx="457200" cy="457200"/>
          </a:xfrm>
          <a:prstGeom prst="ellipse">
            <a:avLst/>
          </a:prstGeom>
          <a:solidFill>
            <a:srgbClr val="B23A2E"/>
          </a:solidFill>
          <a:ln w="12700">
            <a:solidFill>
              <a:srgbClr val="B23A2E"/>
            </a:solidFill>
            <a:prstDash val="solid"/>
          </a:ln>
        </p:spPr>
      </p:sp>
      <p:sp>
        <p:nvSpPr>
          <p:cNvPr id="8" name="Text 6"/>
          <p:cNvSpPr txBox="1"/>
          <p:nvPr/>
        </p:nvSpPr>
        <p:spPr>
          <a:xfrm>
            <a:off x="548640" y="249631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2</a:t>
            </a:r>
            <a:endParaRPr lang="en-US" sz="1400" dirty="0"/>
          </a:p>
        </p:txBody>
      </p:sp>
      <p:sp>
        <p:nvSpPr>
          <p:cNvPr id="9" name="Text 7"/>
          <p:cNvSpPr txBox="1"/>
          <p:nvPr/>
        </p:nvSpPr>
        <p:spPr>
          <a:xfrm>
            <a:off x="1234440" y="2350008"/>
            <a:ext cx="10408615" cy="704088"/>
          </a:xfrm>
          <a:prstGeom prst="rect">
            <a:avLst/>
          </a:prstGeom>
          <a:noFill/>
          <a:ln/>
        </p:spPr>
        <p:txBody>
          <a:bodyPr wrap="square" lIns="0" tIns="0" rIns="0" bIns="0" rtlCol="0" anchor="ctr"/>
          <a:lstStyle/>
          <a:p>
            <a:pPr indent="0" marL="0">
              <a:buNone/>
            </a:pPr>
            <a:r>
              <a:rPr lang="en-US" sz="1600" dirty="0">
                <a:solidFill>
                  <a:srgbClr val="22212A"/>
                </a:solidFill>
                <a:latin typeface="Malgun Gothic" pitchFamily="34" charset="0"/>
                <a:ea typeface="Malgun Gothic" pitchFamily="34" charset="-122"/>
                <a:cs typeface="Malgun Gothic" pitchFamily="34" charset="-120"/>
              </a:rPr>
              <a:t>年과 月은 절기로 정한다 (해는 입춘에 바뀜), 日은 만세력 그대로, 時는 시두법으로 계산</a:t>
            </a:r>
            <a:endParaRPr lang="en-US" sz="1600" dirty="0"/>
          </a:p>
        </p:txBody>
      </p:sp>
      <p:sp>
        <p:nvSpPr>
          <p:cNvPr id="10" name="Shape 8"/>
          <p:cNvSpPr/>
          <p:nvPr/>
        </p:nvSpPr>
        <p:spPr>
          <a:xfrm>
            <a:off x="548640" y="3246120"/>
            <a:ext cx="457200" cy="457200"/>
          </a:xfrm>
          <a:prstGeom prst="ellipse">
            <a:avLst/>
          </a:prstGeom>
          <a:solidFill>
            <a:srgbClr val="B23A2E"/>
          </a:solidFill>
          <a:ln w="12700">
            <a:solidFill>
              <a:srgbClr val="B23A2E"/>
            </a:solidFill>
            <a:prstDash val="solid"/>
          </a:ln>
        </p:spPr>
      </p:sp>
      <p:sp>
        <p:nvSpPr>
          <p:cNvPr id="11" name="Text 9"/>
          <p:cNvSpPr txBox="1"/>
          <p:nvPr/>
        </p:nvSpPr>
        <p:spPr>
          <a:xfrm>
            <a:off x="548640" y="32461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3</a:t>
            </a:r>
            <a:endParaRPr lang="en-US" sz="1400" dirty="0"/>
          </a:p>
        </p:txBody>
      </p:sp>
      <p:sp>
        <p:nvSpPr>
          <p:cNvPr id="12" name="Text 10"/>
          <p:cNvSpPr txBox="1"/>
          <p:nvPr/>
        </p:nvSpPr>
        <p:spPr>
          <a:xfrm>
            <a:off x="1234440" y="3099816"/>
            <a:ext cx="10408615" cy="704088"/>
          </a:xfrm>
          <a:prstGeom prst="rect">
            <a:avLst/>
          </a:prstGeom>
          <a:noFill/>
          <a:ln/>
        </p:spPr>
        <p:txBody>
          <a:bodyPr wrap="square" lIns="0" tIns="0" rIns="0" bIns="0" rtlCol="0" anchor="ctr"/>
          <a:lstStyle/>
          <a:p>
            <a:pPr indent="0" marL="0">
              <a:buNone/>
            </a:pPr>
            <a:r>
              <a:rPr lang="en-US" sz="1600" dirty="0">
                <a:solidFill>
                  <a:srgbClr val="22212A"/>
                </a:solidFill>
                <a:latin typeface="Malgun Gothic" pitchFamily="34" charset="0"/>
                <a:ea typeface="Malgun Gothic" pitchFamily="34" charset="-122"/>
                <a:cs typeface="Malgun Gothic" pitchFamily="34" charset="-120"/>
              </a:rPr>
              <a:t>월두법: 연간 합 오행을 생하는 양간이 寅월 / 시두법: 일간 합 오행을 극하는 양간이 子시</a:t>
            </a:r>
            <a:endParaRPr lang="en-US" sz="1600" dirty="0"/>
          </a:p>
        </p:txBody>
      </p:sp>
      <p:sp>
        <p:nvSpPr>
          <p:cNvPr id="13" name="Shape 11"/>
          <p:cNvSpPr/>
          <p:nvPr/>
        </p:nvSpPr>
        <p:spPr>
          <a:xfrm>
            <a:off x="548640" y="3995928"/>
            <a:ext cx="457200" cy="457200"/>
          </a:xfrm>
          <a:prstGeom prst="ellipse">
            <a:avLst/>
          </a:prstGeom>
          <a:solidFill>
            <a:srgbClr val="B23A2E"/>
          </a:solidFill>
          <a:ln w="12700">
            <a:solidFill>
              <a:srgbClr val="B23A2E"/>
            </a:solidFill>
            <a:prstDash val="solid"/>
          </a:ln>
        </p:spPr>
      </p:sp>
      <p:sp>
        <p:nvSpPr>
          <p:cNvPr id="14" name="Text 12"/>
          <p:cNvSpPr txBox="1"/>
          <p:nvPr/>
        </p:nvSpPr>
        <p:spPr>
          <a:xfrm>
            <a:off x="548640" y="399592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4</a:t>
            </a:r>
            <a:endParaRPr lang="en-US" sz="1400" dirty="0"/>
          </a:p>
        </p:txBody>
      </p:sp>
      <p:sp>
        <p:nvSpPr>
          <p:cNvPr id="15" name="Text 13"/>
          <p:cNvSpPr txBox="1"/>
          <p:nvPr/>
        </p:nvSpPr>
        <p:spPr>
          <a:xfrm>
            <a:off x="1234440" y="3849624"/>
            <a:ext cx="10408615" cy="704088"/>
          </a:xfrm>
          <a:prstGeom prst="rect">
            <a:avLst/>
          </a:prstGeom>
          <a:noFill/>
          <a:ln/>
        </p:spPr>
        <p:txBody>
          <a:bodyPr wrap="square" lIns="0" tIns="0" rIns="0" bIns="0" rtlCol="0" anchor="ctr"/>
          <a:lstStyle/>
          <a:p>
            <a:pPr indent="0" marL="0">
              <a:buNone/>
            </a:pPr>
            <a:r>
              <a:rPr lang="en-US" sz="1600" dirty="0">
                <a:solidFill>
                  <a:srgbClr val="22212A"/>
                </a:solidFill>
                <a:latin typeface="Malgun Gothic" pitchFamily="34" charset="0"/>
                <a:ea typeface="Malgun Gothic" pitchFamily="34" charset="-122"/>
                <a:cs typeface="Malgun Gothic" pitchFamily="34" charset="-120"/>
              </a:rPr>
              <a:t>대운: 양년 남·음년 여는 순행, 반대는 역행. 대운수 = 절기까지 날수 ÷ 3</a:t>
            </a:r>
            <a:endParaRPr lang="en-US" sz="1600" dirty="0"/>
          </a:p>
        </p:txBody>
      </p:sp>
      <p:sp>
        <p:nvSpPr>
          <p:cNvPr id="16" name="Shape 14"/>
          <p:cNvSpPr/>
          <p:nvPr/>
        </p:nvSpPr>
        <p:spPr>
          <a:xfrm>
            <a:off x="548640" y="4745736"/>
            <a:ext cx="457200" cy="457200"/>
          </a:xfrm>
          <a:prstGeom prst="ellipse">
            <a:avLst/>
          </a:prstGeom>
          <a:solidFill>
            <a:srgbClr val="B23A2E"/>
          </a:solidFill>
          <a:ln w="12700">
            <a:solidFill>
              <a:srgbClr val="B23A2E"/>
            </a:solidFill>
            <a:prstDash val="solid"/>
          </a:ln>
        </p:spPr>
      </p:sp>
      <p:sp>
        <p:nvSpPr>
          <p:cNvPr id="17" name="Text 15"/>
          <p:cNvSpPr txBox="1"/>
          <p:nvPr/>
        </p:nvSpPr>
        <p:spPr>
          <a:xfrm>
            <a:off x="548640" y="474573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5</a:t>
            </a:r>
            <a:endParaRPr lang="en-US" sz="1400" dirty="0"/>
          </a:p>
        </p:txBody>
      </p:sp>
      <p:sp>
        <p:nvSpPr>
          <p:cNvPr id="18" name="Text 16"/>
          <p:cNvSpPr txBox="1"/>
          <p:nvPr/>
        </p:nvSpPr>
        <p:spPr>
          <a:xfrm>
            <a:off x="1234440" y="4599432"/>
            <a:ext cx="10408615" cy="704088"/>
          </a:xfrm>
          <a:prstGeom prst="rect">
            <a:avLst/>
          </a:prstGeom>
          <a:noFill/>
          <a:ln/>
        </p:spPr>
        <p:txBody>
          <a:bodyPr wrap="square" lIns="0" tIns="0" rIns="0" bIns="0" rtlCol="0" anchor="ctr"/>
          <a:lstStyle/>
          <a:p>
            <a:pPr indent="0" marL="0">
              <a:buNone/>
            </a:pPr>
            <a:r>
              <a:rPr lang="en-US" sz="1600" dirty="0">
                <a:solidFill>
                  <a:srgbClr val="22212A"/>
                </a:solidFill>
                <a:latin typeface="Malgun Gothic" pitchFamily="34" charset="0"/>
                <a:ea typeface="Malgun Gothic" pitchFamily="34" charset="-122"/>
                <a:cs typeface="Malgun Gothic" pitchFamily="34" charset="-120"/>
              </a:rPr>
              <a:t>풀이 3원리 — 중용론(강약 조절) · 조후론(기후 조절) · 통관론(상생으로 중재)</a:t>
            </a:r>
            <a:endParaRPr lang="en-US" sz="1600" dirty="0"/>
          </a:p>
        </p:txBody>
      </p:sp>
      <p:sp>
        <p:nvSpPr>
          <p:cNvPr id="19" name="Text 17"/>
          <p:cNvSpPr txBox="1"/>
          <p:nvPr/>
        </p:nvSpPr>
        <p:spPr>
          <a:xfrm>
            <a:off x="548640" y="5532120"/>
            <a:ext cx="11094415" cy="640080"/>
          </a:xfrm>
          <a:prstGeom prst="rect">
            <a:avLst/>
          </a:prstGeom>
          <a:solidFill>
            <a:srgbClr val="F3F1F6"/>
          </a:solidFill>
          <a:ln/>
        </p:spPr>
        <p:txBody>
          <a:bodyPr wrap="square" lIns="0" tIns="2540" rIns="2540" bIns="0" rtlCol="0" anchor="ctr"/>
          <a:lstStyle/>
          <a:p>
            <a:pPr indent="0" marL="0">
              <a:buNone/>
            </a:pPr>
            <a:r>
              <a:rPr lang="en-US" sz="1500" b="1" dirty="0">
                <a:solidFill>
                  <a:srgbClr val="B23A2E"/>
                </a:solidFill>
                <a:latin typeface="Malgun Gothic" pitchFamily="34" charset="0"/>
                <a:ea typeface="Malgun Gothic" pitchFamily="34" charset="-122"/>
                <a:cs typeface="Malgun Gothic" pitchFamily="34" charset="-120"/>
              </a:rPr>
              <a:t>다음 시간  </a:t>
            </a:r>
            <a:pPr indent="0" marL="0">
              <a:buNone/>
            </a:pPr>
            <a:r>
              <a:rPr lang="en-US" sz="1500" dirty="0">
                <a:solidFill>
                  <a:srgbClr val="22212A"/>
                </a:solidFill>
                <a:latin typeface="Malgun Gothic" pitchFamily="34" charset="0"/>
                <a:ea typeface="Malgun Gothic" pitchFamily="34" charset="-122"/>
                <a:cs typeface="Malgun Gothic" pitchFamily="34" charset="-120"/>
              </a:rPr>
              <a:t>의명보감 2권 명편 — 운명의 전개를 예문으로 풀이</a:t>
            </a:r>
            <a:endParaRPr lang="en-US" sz="1500" dirty="0"/>
          </a:p>
        </p:txBody>
      </p:sp>
      <p:sp>
        <p:nvSpPr>
          <p:cNvPr id="20" name="Text 18"/>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6B6778"/>
                </a:solidFill>
                <a:latin typeface="Malgun Gothic" pitchFamily="34" charset="0"/>
                <a:ea typeface="Malgun Gothic" pitchFamily="34" charset="-122"/>
                <a:cs typeface="Malgun Gothic" pitchFamily="34" charset="-120"/>
              </a:rPr>
              <a:t>의명보감 1 기초편 · 제5장 의명학 공식</a:t>
            </a:r>
            <a:endParaRPr lang="en-US" sz="1000" dirty="0"/>
          </a:p>
        </p:txBody>
      </p:sp>
      <p:sp>
        <p:nvSpPr>
          <p:cNvPr id="21" name="Text 19"/>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6B6778"/>
                </a:solidFill>
                <a:latin typeface="Malgun Gothic" pitchFamily="34" charset="0"/>
                <a:ea typeface="Malgun Gothic" pitchFamily="34" charset="-122"/>
                <a:cs typeface="Malgun Gothic" pitchFamily="34" charset="-120"/>
              </a:rPr>
              <a:t>25</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D1C24"/>
        </a:solidFill>
      </p:bgPr>
    </p:bg>
    <p:spTree>
      <p:nvGrpSpPr>
        <p:cNvPr id="1" name=""/>
        <p:cNvGrpSpPr/>
        <p:nvPr/>
      </p:nvGrpSpPr>
      <p:grpSpPr>
        <a:xfrm>
          <a:off x="0" y="0"/>
          <a:ext cx="0" cy="0"/>
          <a:chOff x="0" y="0"/>
          <a:chExt cx="0" cy="0"/>
        </a:xfrm>
      </p:grpSpPr>
      <p:sp>
        <p:nvSpPr>
          <p:cNvPr id="2" name="Text 0"/>
          <p:cNvSpPr txBox="1"/>
          <p:nvPr/>
        </p:nvSpPr>
        <p:spPr>
          <a:xfrm>
            <a:off x="548640" y="548640"/>
            <a:ext cx="11094415" cy="731520"/>
          </a:xfrm>
          <a:prstGeom prst="rect">
            <a:avLst/>
          </a:prstGeom>
          <a:noFill/>
          <a:ln/>
        </p:spPr>
        <p:txBody>
          <a:bodyPr wrap="square" lIns="0" tIns="0" rIns="0" bIns="0" rtlCol="0" anchor="ctr"/>
          <a:lstStyle/>
          <a:p>
            <a:pPr indent="0" marL="0">
              <a:buNone/>
            </a:pPr>
            <a:r>
              <a:rPr lang="en-US" sz="3200" b="1" dirty="0">
                <a:solidFill>
                  <a:srgbClr val="F4F1EA"/>
                </a:solidFill>
                <a:latin typeface="Malgun Gothic" pitchFamily="34" charset="0"/>
                <a:ea typeface="Malgun Gothic" pitchFamily="34" charset="-122"/>
                <a:cs typeface="Malgun Gothic" pitchFamily="34" charset="-120"/>
              </a:rPr>
              <a:t>함께 생각해 볼 질문</a:t>
            </a:r>
            <a:endParaRPr lang="en-US" sz="3200" dirty="0"/>
          </a:p>
        </p:txBody>
      </p:sp>
      <p:sp>
        <p:nvSpPr>
          <p:cNvPr id="3" name="Shape 1"/>
          <p:cNvSpPr/>
          <p:nvPr/>
        </p:nvSpPr>
        <p:spPr>
          <a:xfrm>
            <a:off x="548640" y="1874520"/>
            <a:ext cx="594360" cy="594360"/>
          </a:xfrm>
          <a:prstGeom prst="ellipse">
            <a:avLst/>
          </a:prstGeom>
          <a:solidFill>
            <a:srgbClr val="B23A2E"/>
          </a:solidFill>
          <a:ln w="12700">
            <a:solidFill>
              <a:srgbClr val="B23A2E"/>
            </a:solidFill>
            <a:prstDash val="solid"/>
          </a:ln>
        </p:spPr>
      </p:sp>
      <p:sp>
        <p:nvSpPr>
          <p:cNvPr id="4" name="Text 2"/>
          <p:cNvSpPr txBox="1"/>
          <p:nvPr/>
        </p:nvSpPr>
        <p:spPr>
          <a:xfrm>
            <a:off x="548640" y="1874520"/>
            <a:ext cx="594360" cy="5943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Q1</a:t>
            </a:r>
            <a:endParaRPr lang="en-US" sz="1500" dirty="0"/>
          </a:p>
        </p:txBody>
      </p:sp>
      <p:sp>
        <p:nvSpPr>
          <p:cNvPr id="5" name="Text 3"/>
          <p:cNvSpPr txBox="1"/>
          <p:nvPr/>
        </p:nvSpPr>
        <p:spPr>
          <a:xfrm>
            <a:off x="1371600" y="1645920"/>
            <a:ext cx="10271455" cy="960120"/>
          </a:xfrm>
          <a:prstGeom prst="rect">
            <a:avLst/>
          </a:prstGeom>
          <a:noFill/>
          <a:ln/>
        </p:spPr>
        <p:txBody>
          <a:bodyPr wrap="square" lIns="0" tIns="0" rIns="0" bIns="0" rtlCol="0" anchor="ctr"/>
          <a:lstStyle/>
          <a:p>
            <a:pPr indent="0" marL="0">
              <a:buNone/>
            </a:pPr>
            <a:r>
              <a:rPr lang="en-US" sz="1700" dirty="0">
                <a:solidFill>
                  <a:srgbClr val="F4F1EA"/>
                </a:solidFill>
                <a:latin typeface="Malgun Gothic" pitchFamily="34" charset="0"/>
                <a:ea typeface="Malgun Gothic" pitchFamily="34" charset="-122"/>
                <a:cs typeface="Malgun Gothic" pitchFamily="34" charset="-120"/>
              </a:rPr>
              <a:t>해가 1월 1일이나 설날이 아니라 입춘에 바뀐다는 규칙은 어떤 생각에서 나왔을까요?</a:t>
            </a:r>
            <a:endParaRPr lang="en-US" sz="1700" dirty="0"/>
          </a:p>
        </p:txBody>
      </p:sp>
      <p:sp>
        <p:nvSpPr>
          <p:cNvPr id="6" name="Shape 4"/>
          <p:cNvSpPr/>
          <p:nvPr/>
        </p:nvSpPr>
        <p:spPr>
          <a:xfrm>
            <a:off x="548640" y="2926080"/>
            <a:ext cx="594360" cy="594360"/>
          </a:xfrm>
          <a:prstGeom prst="ellipse">
            <a:avLst/>
          </a:prstGeom>
          <a:solidFill>
            <a:srgbClr val="B23A2E"/>
          </a:solidFill>
          <a:ln w="12700">
            <a:solidFill>
              <a:srgbClr val="B23A2E"/>
            </a:solidFill>
            <a:prstDash val="solid"/>
          </a:ln>
        </p:spPr>
      </p:sp>
      <p:sp>
        <p:nvSpPr>
          <p:cNvPr id="7" name="Text 5"/>
          <p:cNvSpPr txBox="1"/>
          <p:nvPr/>
        </p:nvSpPr>
        <p:spPr>
          <a:xfrm>
            <a:off x="548640" y="2926080"/>
            <a:ext cx="594360" cy="5943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Q2</a:t>
            </a:r>
            <a:endParaRPr lang="en-US" sz="1500" dirty="0"/>
          </a:p>
        </p:txBody>
      </p:sp>
      <p:sp>
        <p:nvSpPr>
          <p:cNvPr id="8" name="Text 6"/>
          <p:cNvSpPr txBox="1"/>
          <p:nvPr/>
        </p:nvSpPr>
        <p:spPr>
          <a:xfrm>
            <a:off x="1371600" y="2697480"/>
            <a:ext cx="10271455" cy="960120"/>
          </a:xfrm>
          <a:prstGeom prst="rect">
            <a:avLst/>
          </a:prstGeom>
          <a:noFill/>
          <a:ln/>
        </p:spPr>
        <p:txBody>
          <a:bodyPr wrap="square" lIns="0" tIns="0" rIns="0" bIns="0" rtlCol="0" anchor="ctr"/>
          <a:lstStyle/>
          <a:p>
            <a:pPr indent="0" marL="0">
              <a:buNone/>
            </a:pPr>
            <a:r>
              <a:rPr lang="en-US" sz="1700" dirty="0">
                <a:solidFill>
                  <a:srgbClr val="F4F1EA"/>
                </a:solidFill>
                <a:latin typeface="Malgun Gothic" pitchFamily="34" charset="0"/>
                <a:ea typeface="Malgun Gothic" pitchFamily="34" charset="-122"/>
                <a:cs typeface="Malgun Gothic" pitchFamily="34" charset="-120"/>
              </a:rPr>
              <a:t>내 생년월일시로 여덟 글자를 직접 세워 봅시다. 어느 단계가 가장 헷갈렸나요?</a:t>
            </a:r>
            <a:endParaRPr lang="en-US" sz="1700" dirty="0"/>
          </a:p>
        </p:txBody>
      </p:sp>
      <p:sp>
        <p:nvSpPr>
          <p:cNvPr id="9" name="Shape 7"/>
          <p:cNvSpPr/>
          <p:nvPr/>
        </p:nvSpPr>
        <p:spPr>
          <a:xfrm>
            <a:off x="548640" y="3977640"/>
            <a:ext cx="594360" cy="594360"/>
          </a:xfrm>
          <a:prstGeom prst="ellipse">
            <a:avLst/>
          </a:prstGeom>
          <a:solidFill>
            <a:srgbClr val="B23A2E"/>
          </a:solidFill>
          <a:ln w="12700">
            <a:solidFill>
              <a:srgbClr val="B23A2E"/>
            </a:solidFill>
            <a:prstDash val="solid"/>
          </a:ln>
        </p:spPr>
      </p:sp>
      <p:sp>
        <p:nvSpPr>
          <p:cNvPr id="10" name="Text 8"/>
          <p:cNvSpPr txBox="1"/>
          <p:nvPr/>
        </p:nvSpPr>
        <p:spPr>
          <a:xfrm>
            <a:off x="548640" y="3977640"/>
            <a:ext cx="594360" cy="5943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Q3</a:t>
            </a:r>
            <a:endParaRPr lang="en-US" sz="1500" dirty="0"/>
          </a:p>
        </p:txBody>
      </p:sp>
      <p:sp>
        <p:nvSpPr>
          <p:cNvPr id="11" name="Text 9"/>
          <p:cNvSpPr txBox="1"/>
          <p:nvPr/>
        </p:nvSpPr>
        <p:spPr>
          <a:xfrm>
            <a:off x="1371600" y="3749040"/>
            <a:ext cx="10271455" cy="960120"/>
          </a:xfrm>
          <a:prstGeom prst="rect">
            <a:avLst/>
          </a:prstGeom>
          <a:noFill/>
          <a:ln/>
        </p:spPr>
        <p:txBody>
          <a:bodyPr wrap="square" lIns="0" tIns="0" rIns="0" bIns="0" rtlCol="0" anchor="ctr"/>
          <a:lstStyle/>
          <a:p>
            <a:pPr indent="0" marL="0">
              <a:buNone/>
            </a:pPr>
            <a:r>
              <a:rPr lang="en-US" sz="1700" dirty="0">
                <a:solidFill>
                  <a:srgbClr val="F4F1EA"/>
                </a:solidFill>
                <a:latin typeface="Malgun Gothic" pitchFamily="34" charset="0"/>
                <a:ea typeface="Malgun Gothic" pitchFamily="34" charset="-122"/>
                <a:cs typeface="Malgun Gothic" pitchFamily="34" charset="-120"/>
              </a:rPr>
              <a:t>"대운은 바꿀 수 없지만 체질은 음식과 약으로, 운명은 마음의 힘으로 극복한다"는 말을 어떻게 생각하나요?</a:t>
            </a:r>
            <a:endParaRPr lang="en-US" sz="1700" dirty="0"/>
          </a:p>
        </p:txBody>
      </p:sp>
      <p:sp>
        <p:nvSpPr>
          <p:cNvPr id="12" name="Shape 10"/>
          <p:cNvSpPr/>
          <p:nvPr/>
        </p:nvSpPr>
        <p:spPr>
          <a:xfrm>
            <a:off x="548640" y="5029200"/>
            <a:ext cx="594360" cy="594360"/>
          </a:xfrm>
          <a:prstGeom prst="ellipse">
            <a:avLst/>
          </a:prstGeom>
          <a:solidFill>
            <a:srgbClr val="B23A2E"/>
          </a:solidFill>
          <a:ln w="12700">
            <a:solidFill>
              <a:srgbClr val="B23A2E"/>
            </a:solidFill>
            <a:prstDash val="solid"/>
          </a:ln>
        </p:spPr>
      </p:sp>
      <p:sp>
        <p:nvSpPr>
          <p:cNvPr id="13" name="Text 11"/>
          <p:cNvSpPr txBox="1"/>
          <p:nvPr/>
        </p:nvSpPr>
        <p:spPr>
          <a:xfrm>
            <a:off x="548640" y="5029200"/>
            <a:ext cx="594360" cy="5943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Q4</a:t>
            </a:r>
            <a:endParaRPr lang="en-US" sz="1500" dirty="0"/>
          </a:p>
        </p:txBody>
      </p:sp>
      <p:sp>
        <p:nvSpPr>
          <p:cNvPr id="14" name="Text 12"/>
          <p:cNvSpPr txBox="1"/>
          <p:nvPr/>
        </p:nvSpPr>
        <p:spPr>
          <a:xfrm>
            <a:off x="1371600" y="4800600"/>
            <a:ext cx="10271455" cy="960120"/>
          </a:xfrm>
          <a:prstGeom prst="rect">
            <a:avLst/>
          </a:prstGeom>
          <a:noFill/>
          <a:ln/>
        </p:spPr>
        <p:txBody>
          <a:bodyPr wrap="square" lIns="0" tIns="0" rIns="0" bIns="0" rtlCol="0" anchor="ctr"/>
          <a:lstStyle/>
          <a:p>
            <a:pPr indent="0" marL="0">
              <a:buNone/>
            </a:pPr>
            <a:r>
              <a:rPr lang="en-US" sz="1700" dirty="0">
                <a:solidFill>
                  <a:srgbClr val="F4F1EA"/>
                </a:solidFill>
                <a:latin typeface="Malgun Gothic" pitchFamily="34" charset="0"/>
                <a:ea typeface="Malgun Gothic" pitchFamily="34" charset="-122"/>
                <a:cs typeface="Malgun Gothic" pitchFamily="34" charset="-120"/>
              </a:rPr>
              <a:t>예제 A와 B에서 중용론·조후론·통관론이 각각 어디에 쓰였는지 찾아봅시다.</a:t>
            </a:r>
            <a:endParaRPr lang="en-US" sz="1700" dirty="0"/>
          </a:p>
        </p:txBody>
      </p:sp>
      <p:sp>
        <p:nvSpPr>
          <p:cNvPr id="15" name="Text 13"/>
          <p:cNvSpPr txBox="1"/>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A9A4B5"/>
                </a:solidFill>
                <a:latin typeface="Malgun Gothic" pitchFamily="34" charset="0"/>
                <a:ea typeface="Malgun Gothic" pitchFamily="34" charset="-122"/>
                <a:cs typeface="Malgun Gothic" pitchFamily="34" charset="-120"/>
              </a:rPr>
              <a:t>의명보감 1 기초편 · 제5장 의명학 공식</a:t>
            </a:r>
            <a:endParaRPr lang="en-US" sz="1000" dirty="0"/>
          </a:p>
        </p:txBody>
      </p:sp>
      <p:sp>
        <p:nvSpPr>
          <p:cNvPr id="16" name="Text 14"/>
          <p:cNvSpPr txBox="1"/>
          <p:nvPr/>
        </p:nvSpPr>
        <p:spPr>
          <a:xfrm>
            <a:off x="10728655" y="6446520"/>
            <a:ext cx="914400" cy="274320"/>
          </a:xfrm>
          <a:prstGeom prst="rect">
            <a:avLst/>
          </a:prstGeom>
          <a:noFill/>
          <a:ln/>
        </p:spPr>
        <p:txBody>
          <a:bodyPr wrap="square" lIns="0" tIns="0" rIns="0" bIns="0" rtlCol="0" anchor="ctr"/>
          <a:lstStyle/>
          <a:p>
            <a:pPr algn="r" indent="0" marL="0">
              <a:buNone/>
            </a:pPr>
            <a:r>
              <a:rPr lang="en-US" sz="1000" dirty="0">
                <a:solidFill>
                  <a:srgbClr val="A9A4B5"/>
                </a:solidFill>
                <a:latin typeface="Malgun Gothic" pitchFamily="34" charset="0"/>
                <a:ea typeface="Malgun Gothic" pitchFamily="34" charset="-122"/>
                <a:cs typeface="Malgun Gothic" pitchFamily="34" charset="-120"/>
              </a:rPr>
              <a:t>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의명보감 1 기초편 제5장 의명학 공식</dc:title>
  <dc:subject>PptxGenJS Presentation</dc:subject>
  <dc:creator>의명보감 스터디</dc:creator>
  <cp:lastModifiedBy>의명보감 스터디</cp:lastModifiedBy>
  <cp:revision>1</cp:revision>
  <dcterms:created xsi:type="dcterms:W3CDTF">2026-09-30T09:07:15Z</dcterms:created>
  <dcterms:modified xsi:type="dcterms:W3CDTF">2026-09-30T09:07:15Z</dcterms:modified>
</cp:coreProperties>
</file>